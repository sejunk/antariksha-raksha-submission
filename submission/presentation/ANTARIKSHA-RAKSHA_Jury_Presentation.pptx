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9" r:id="rId5"/>
    <p:sldId id="259" r:id="rId6"/>
    <p:sldId id="260" r:id="rId7"/>
    <p:sldId id="261" r:id="rId8"/>
    <p:sldId id="262" r:id="rId9"/>
    <p:sldId id="263" r:id="rId10"/>
    <p:sldId id="264" r:id="rId11"/>
    <p:sldId id="265" r:id="rId12"/>
    <p:sldId id="266" r:id="rId13"/>
    <p:sldId id="270" r:id="rId14"/>
    <p:sldId id="267" r:id="rId15"/>
    <p:sldId id="268"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89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Title: ANTARIKSHA-RAKSHA, a Space Domain Awareness and conjunction-assessment decision-support prototype; Physics first / AI second / Human decision last.</a:t>
            </a:r>
          </a:p>
          <a:p>
            <a:endParaRPr/>
          </a:p>
          <a:p>
            <a:r>
              <a:t>B. WHAT TO SAY (narration)</a:t>
            </a:r>
          </a:p>
          <a:p>
            <a:r>
              <a:t>Imagine two objects crossing the same orbital highway. It looks dangerous — but crossing paths alone does not mean a collision. The real question is whether they arrive at the same place at the same time. ANTARIKSHA-RAKSHA is built around answering that question — with physics first, AI second, and a human making the final decision.</a:t>
            </a:r>
          </a:p>
          <a:p>
            <a:endParaRPr/>
          </a:p>
          <a:p>
            <a:r>
              <a:t>C. JURY TAKEAWAY</a:t>
            </a:r>
          </a:p>
          <a:p>
            <a:r>
              <a:t>A defence-relevant Space Domain Awareness (SDA) and conjunction-assessment decision-support prototype, built on one principle: physics first, AI second, human decision last.</a:t>
            </a:r>
          </a:p>
          <a:p>
            <a:endParaRPr/>
          </a:p>
          <a:p>
            <a:r>
              <a:t>D. CAVEAT</a:t>
            </a:r>
          </a:p>
          <a:p>
            <a:r>
              <a:t>Research/demo decision-support prototype; the hosted deployment is a jury validation environment, not an operational service.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Thought experiment: two crossing orbits; different time means a safe pass, same place and same time means a conjunction.</a:t>
            </a:r>
          </a:p>
          <a:p>
            <a:endParaRPr/>
          </a:p>
          <a:p>
            <a:r>
              <a:t>B. WHAT TO SAY (narration)</a:t>
            </a:r>
          </a:p>
          <a:p>
            <a:r>
              <a:t>Orbit is a three-dimensional highway with no visible lanes. Satellites and debris move at several kilometres per second, and their paths cross all the time. Crossing paths alone is not a collision. If the two objects reach the crossing at different times, they pass safely. Only when they arrive at the same place at about the same time do we have a conjunction — and that is what must be predicted, measured and explained.</a:t>
            </a:r>
          </a:p>
          <a:p>
            <a:endParaRPr/>
          </a:p>
          <a:p>
            <a:r>
              <a:t>C. JURY TAKEAWAY</a:t>
            </a:r>
          </a:p>
          <a:p>
            <a:r>
              <a:t>The core problem is timing in three dimensions, not just intersecting paths.</a:t>
            </a:r>
          </a:p>
          <a:p>
            <a:endParaRPr/>
          </a:p>
          <a:p>
            <a:r>
              <a:t>D. CAVEAT</a:t>
            </a:r>
          </a:p>
          <a:p>
            <a:r>
              <a:t>The orbit illustration is schematic and not to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The problem: more objects, changing information, analysts need focus.</a:t>
            </a:r>
          </a:p>
          <a:p>
            <a:endParaRPr/>
          </a:p>
          <a:p>
            <a:r>
              <a:t>B. WHAT TO SAY (narration)</a:t>
            </a:r>
          </a:p>
          <a:p>
            <a:r>
              <a:t>Space is becoming increasingly active. More objects share busy orbital regimes, and every new orbital update can shift a prediction. Tracking objects is necessary, but it is not enough. Analysts need to know which close approaches matter and why, and they need a record of what was decided. The challenge is turning changing orbital information into a prioritised, explainable and auditable workflow.</a:t>
            </a:r>
          </a:p>
          <a:p>
            <a:endParaRPr/>
          </a:p>
          <a:p>
            <a:r>
              <a:t>C. JURY TAKEAWAY</a:t>
            </a:r>
          </a:p>
          <a:p>
            <a:r>
              <a:t>The gap addressed is decision support: prioritisation, explanation and auditability on top of tracking.</a:t>
            </a:r>
          </a:p>
          <a:p>
            <a:endParaRPr/>
          </a:p>
          <a:p>
            <a:r>
              <a:t>D. CAVEAT</a:t>
            </a:r>
          </a:p>
          <a:p>
            <a:r>
              <a:t>No claim is made that existing systems lack these functions; this is a prototype exploring the workflow.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WHAT IS SHOWN</a:t>
            </a:r>
          </a:p>
          <a:p>
            <a:r>
              <a:t>NEW. Why India, why now: four drivers (expanding ecosystem, congestion, importance of space assets, need for capable decision support) and the positioning statement.</a:t>
            </a:r>
          </a:p>
          <a:p>
            <a:endParaRPr/>
          </a:p>
          <a:p>
            <a:r>
              <a:t>B. WHAT TO SAY (narration)</a:t>
            </a:r>
          </a:p>
          <a:p>
            <a:r>
              <a:t>Why India, and why now? India's space ecosystem is expanding, with more missions and more operators. Orbital congestion and space-traffic complexity are increasing, and space assets increasingly matter to both development and national security. India already has the foundations of space situational awareness. ANTARIKSHA-RAKSHA explores how an explainable, human-gated decision-support layer could help scale the analyst experience as India's space ecosystem and orbital complexity grow.</a:t>
            </a:r>
          </a:p>
          <a:p>
            <a:endParaRPr/>
          </a:p>
          <a:p>
            <a:r>
              <a:t>C. JURY TAKEAWAY</a:t>
            </a:r>
          </a:p>
          <a:p>
            <a:r>
              <a:t>India already has national SSA capabilities. This prototype explores a complementary decision-support layer.</a:t>
            </a:r>
          </a:p>
          <a:p>
            <a:endParaRPr/>
          </a:p>
          <a:p>
            <a:r>
              <a:t>D. CAVEAT</a:t>
            </a:r>
          </a:p>
          <a:p>
            <a:r>
              <a:t>Not a replacement for, and not integrated with, ISRO, IS4OM, NETRA or DRDO systems. Official context for the speaker: ISRO Indian Space Situational Assessment Reports (https://www.isro.gov.in/Indian_Space_Situational_Awareness_Report_2025.html ; https://www.isro.gov.in/ISSAR_2024.html ; https://www.isro.gov.in/Indian_Space_Situational_Assessment_Report_ISSAR2023.html), Indian Space Policy 2023 (https://new1.isro.gov.in/media_isro/pdf/IndianSpacePolicy2023.pdf) and Debris-Free Space Missions (https://new1.isro.gov.in/ISRO_EN/Debris_Free_Space_Missions.html).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Seven-step workflow: SEE, PREDICT, DETECT, UNDERSTAND, PRIORITISE, EXPLAIN, DECIDE.</a:t>
            </a:r>
          </a:p>
          <a:p>
            <a:endParaRPr/>
          </a:p>
          <a:p>
            <a:r>
              <a:t>B. WHAT TO SAY (narration)</a:t>
            </a:r>
          </a:p>
          <a:p>
            <a:r>
              <a:t>The system is organised around seven questions. See: which objects matter? Predict: when will they come closest? Detect: how close will they be? Understand: what is the estimated risk? Prioritise: which event comes first? Explain: how is the evidence explained? And decide: who makes the final call? The early steps are deterministic physics, the next are risk and AI explanation, and the last always belongs to a human.</a:t>
            </a:r>
          </a:p>
          <a:p>
            <a:endParaRPr/>
          </a:p>
          <a:p>
            <a:r>
              <a:t>C. JURY TAKEAWAY</a:t>
            </a:r>
          </a:p>
          <a:p>
            <a:r>
              <a:t>SEE → PREDICT → DETECT → UNDERSTAND → PRIORITISE → EXPLAIN → DECIDE; the decision is always human.</a:t>
            </a:r>
          </a:p>
          <a:p>
            <a:endParaRPr/>
          </a:p>
          <a:p>
            <a:r>
              <a:t>D. CAVEAT</a:t>
            </a:r>
          </a:p>
          <a:p>
            <a:r>
              <a:t>Each step is implemented at prototype level on public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End-to-end flow: data, deterministic physics, risk plus AI, human decision and audit; no spacecraft commands.</a:t>
            </a:r>
          </a:p>
          <a:p>
            <a:endParaRPr/>
          </a:p>
          <a:p>
            <a:r>
              <a:t>B. WHAT TO SAY (narration)</a:t>
            </a:r>
          </a:p>
          <a:p>
            <a:r>
              <a:t>Here is the end-to-end flow. Public orbital data from CelesTrak is validated and recorded with its provenance. The physics layer propagates every object with SGP4, screens candidate pairs, refines the time of closest approach, and computes miss distance, relative velocity and a simplified collision-probability indicator. Only then are events prioritised and explained, by a local AI when enabled, with a deterministic fallback. Finally, a human decides, and every decision is audited. No command is ever sent to a spacecraft.</a:t>
            </a:r>
          </a:p>
          <a:p>
            <a:endParaRPr/>
          </a:p>
          <a:p>
            <a:r>
              <a:t>C. JURY TAKEAWAY</a:t>
            </a:r>
          </a:p>
          <a:p>
            <a:r>
              <a:t>Numbers come first from physics; explanation comes after; the human decides last.</a:t>
            </a:r>
          </a:p>
          <a:p>
            <a:endParaRPr/>
          </a:p>
          <a:p>
            <a:r>
              <a:t>D. CAVEAT</a:t>
            </a:r>
          </a:p>
          <a:p>
            <a:r>
              <a:t>Telegram, where enabled, is only a notification channel after events are stored; it is not part of this computation.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Physics first: SGP4, screening, refined TCA, miss distance, relative velocity, analytic collision indicator; encounter-plane schematic.</a:t>
            </a:r>
          </a:p>
          <a:p>
            <a:endParaRPr/>
          </a:p>
          <a:p>
            <a:r>
              <a:t>B. WHAT TO SAY (narration)</a:t>
            </a:r>
          </a:p>
          <a:p>
            <a:r>
              <a:t>Every number comes from deterministic physics. SGP4 propagates public orbital elements across a seventy-two hour horizon at sixty-second steps. Candidate pairs within ten kilometres are screened, and the time of closest approach is refined by bounded minimisation on re-evaluated SGP4 states. Miss distance and relative velocity are taken at that refined instant. The collision figure is a deterministic analytic encounter-plane indicator with simplified, isotropic uncertainty. It is not an operational covariance-based collision probability.</a:t>
            </a:r>
          </a:p>
          <a:p>
            <a:endParaRPr/>
          </a:p>
          <a:p>
            <a:r>
              <a:t>C. JURY TAKEAWAY</a:t>
            </a:r>
          </a:p>
          <a:p>
            <a:r>
              <a:t>Deterministic, reproducible physics: same inputs, same numbers.</a:t>
            </a:r>
          </a:p>
          <a:p>
            <a:endParaRPr/>
          </a:p>
          <a:p>
            <a:r>
              <a:t>D. CAVEAT</a:t>
            </a:r>
          </a:p>
          <a:p>
            <a:r>
              <a:t>Pc is a simplified analytic indicator, not an operational covariance-based collision probability. Per-object sigma is 0.1 km + 0.05 km per day to TCA (relative in-plane sigma = sqrt(2) x sigma); a 3D non-central chi-square fallback is used at very low relative velocity. Monte Carlo is only a test reference, not production scoring.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Risk and explainability: deterministic evidence, ranked event queue, human-readable assessment, deterministic fallback.</a:t>
            </a:r>
          </a:p>
          <a:p>
            <a:endParaRPr/>
          </a:p>
          <a:p>
            <a:r>
              <a:t>B. WHAT TO SAY (narration)</a:t>
            </a:r>
          </a:p>
          <a:p>
            <a:r>
              <a:t>Which event deserves attention first, and why? Deterministic evidence — time of closest approach, miss distance, relative velocity, the collision indicator and data provenance — places each event in a Low, Medium, High or Critical tier and a ranked queue. Asset criticality affects ordering, not the risk tier. The explanation then states the evidence and the reason for the priority. When AI is enabled, a second-pass consistency check reviews it; if AI is unavailable, a deterministic explanation is shown.</a:t>
            </a:r>
          </a:p>
          <a:p>
            <a:endParaRPr/>
          </a:p>
          <a:p>
            <a:r>
              <a:t>C. JURY TAKEAWAY</a:t>
            </a:r>
          </a:p>
          <a:p>
            <a:r>
              <a:t>Prioritisation is evidence-based and every priority comes with a reason.</a:t>
            </a:r>
          </a:p>
          <a:p>
            <a:endParaRPr/>
          </a:p>
          <a:p>
            <a:r>
              <a:t>D. CAVEAT</a:t>
            </a:r>
          </a:p>
          <a:p>
            <a:r>
              <a:t>Pc is a simplified analytic indicator, not an operational covariance-based collision probability. The second-pass check uses the same local model and is not independent validation.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AI boundary: what AI does (explain) and does not do (compute, command).</a:t>
            </a:r>
          </a:p>
          <a:p>
            <a:endParaRPr/>
          </a:p>
          <a:p>
            <a:r>
              <a:t>B. WHAT TO SAY (narration)</a:t>
            </a:r>
          </a:p>
          <a:p>
            <a:r>
              <a:t>Where does AI stop? AI is not used to perform orbital mechanics. The deterministic physics pipeline produces the evidence; AI converts that evidence into a concise analyst-oriented explanation, with fact checking, guardrails and human approval. It reduces cognitive load and keeps briefings consistent. It does not calculate positions, closest approach, miss distance or collision probability, it cannot override backend risk, and it never commands a spacecraft. On the hosted jury environment, AI is disabled and deterministic explanations are used.</a:t>
            </a:r>
          </a:p>
          <a:p>
            <a:endParaRPr/>
          </a:p>
          <a:p>
            <a:r>
              <a:t>C. JURY TAKEAWAY</a:t>
            </a:r>
          </a:p>
          <a:p>
            <a:r>
              <a:t>AI is intentionally downstream of deterministic physics.</a:t>
            </a:r>
          </a:p>
          <a:p>
            <a:endParaRPr/>
          </a:p>
          <a:p>
            <a:r>
              <a:t>D. CAVEAT</a:t>
            </a:r>
          </a:p>
          <a:p>
            <a:r>
              <a:t>Local AI is optional (Ollama, llama3.2:3b). A deterministic fact check flags wrong numbers; a tone guard replaces sensational drafts with the deterministic template. Hosted AI is disabled.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Human governance and audit: analyst or operator decides (approve, dismiss, acknowledge), persistent audit trail, four RBAC roles, Telegram = notification only.</a:t>
            </a:r>
          </a:p>
          <a:p>
            <a:endParaRPr/>
          </a:p>
          <a:p>
            <a:r>
              <a:t>B. WHAT TO SAY (narration)</a:t>
            </a:r>
          </a:p>
          <a:p>
            <a:r>
              <a:t>Who makes the final decision? The analyst or operator reviews the evidence and the explanation, then approves, acknowledges or dismisses the assessment. Every decision is recorded with the acting account and role in a persistent audit trail, and access is controlled by four roles. Once a significant event is assessed, the system can notify the operator through Telegram. But the notification channel has no decision authority: the operator returns to the console to review the evidence and record the human decision, which is then audited. No command is sent to any spacecraft.</a:t>
            </a:r>
          </a:p>
          <a:p>
            <a:endParaRPr/>
          </a:p>
          <a:p>
            <a:r>
              <a:t>C. JURY TAKEAWAY</a:t>
            </a:r>
          </a:p>
          <a:p>
            <a:r>
              <a:t>Telegram extends the system's reach to the operator, but it does not extend the system's authority.</a:t>
            </a:r>
          </a:p>
          <a:p>
            <a:endParaRPr/>
          </a:p>
          <a:p>
            <a:r>
              <a:t>D. CAVEAT</a:t>
            </a:r>
          </a:p>
          <a:p>
            <a:r>
              <a:t>Telegram is an external notification channel only. It does not participate in orbital mechanics or risk calculation and cannot approve assessments or command spacecraft. Flow: deterministic assessment → stored event → notification decision → Telegram alert → operator opens the console → human decision → audit. Critical and High notify by default, Low never; alerts are de-duplicated per event track and repeated only on escalation, at most 5 per run; every attempt is audited without credentials; DEMO alerts are off by default and otherwise headed DEMO — CONTROLLED SIMULATION. Enabled in the current hosted jury environment; delivery depends on the external Telegram service. The audit log is local SQLite with no tamper protection.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Working prototype: real screenshots (3D orbital view, live data and event feed, conjunction risk, evidence-based brief, human decision and audit) and the deployment stack.</a:t>
            </a:r>
          </a:p>
          <a:p>
            <a:endParaRPr/>
          </a:p>
          <a:p>
            <a:r>
              <a:t>B. WHAT TO SAY (narration)</a:t>
            </a:r>
          </a:p>
          <a:p>
            <a:r>
              <a:t>This is not a mock-up. The prototype is deployed: a Vercel frontend, a Railway backend with a persistent database, a two-hour public-data refresh, and authenticated, role-based access. You can see the 3D orbital view, the live data and event feed, the conjunction risk assessment, the evidence-based brief and the recorded human decision. Significant events can also notify the operator through Telegram. The collision shown is a controlled demonstration scenario derived from ingested orbital data — CARTOSAT-3 and a Fengyun-1C debris fragment. It is not an operational warning.</a:t>
            </a:r>
          </a:p>
          <a:p>
            <a:endParaRPr/>
          </a:p>
          <a:p>
            <a:r>
              <a:t>C. JURY TAKEAWAY</a:t>
            </a:r>
          </a:p>
          <a:p>
            <a:r>
              <a:t>An end-to-end working prototype on real public orbital data, validated by 815 automated tests (652 backend, 1 skipped; 163 frontend).</a:t>
            </a:r>
          </a:p>
          <a:p>
            <a:endParaRPr/>
          </a:p>
          <a:p>
            <a:r>
              <a:t>D. CAVEAT</a:t>
            </a:r>
          </a:p>
          <a:p>
            <a:r>
              <a:t>This is a controlled demonstration scenario derived from ingested orbital data; it is not an operational collision warning. Real catalogue rows are not modified. The recorded video shows a Pc of about 7.71e-3; later deterministic reruns can show about 7.67e-3. Telegram notification was enabled after the recorded jury video.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Sovereign and strategic value: complementary software layer; modular, optional local AI, governed, extensible.</a:t>
            </a:r>
          </a:p>
          <a:p>
            <a:endParaRPr/>
          </a:p>
          <a:p>
            <a:r>
              <a:t>B. WHAT TO SAY (narration)</a:t>
            </a:r>
          </a:p>
          <a:p>
            <a:r>
              <a:t>Where does this fit? India already has significant space surveillance and tracking capabilities, and international agencies and commercial providers run sophisticated conjunction assessment. ANTARIKSHA-RAKSHA is a complementary software-layer prototype. It is modular, it can use a local AI model without any cloud dependency, it is governed by human decisions with an audit trail, and it is built so that authoritative data sources could be added later. Our contribution is the integrated workflow from evidence to audit.</a:t>
            </a:r>
          </a:p>
          <a:p>
            <a:endParaRPr/>
          </a:p>
          <a:p>
            <a:r>
              <a:t>C. JURY TAKEAWAY</a:t>
            </a:r>
          </a:p>
          <a:p>
            <a:r>
              <a:t>A complementary, potentially sovereign software layer: the value is the integrated, governed workflow.</a:t>
            </a:r>
          </a:p>
          <a:p>
            <a:endParaRPr/>
          </a:p>
          <a:p>
            <a:r>
              <a:t>D. CAVEAT</a:t>
            </a:r>
          </a:p>
          <a:p>
            <a:r>
              <a:t>No ISRO, IS4OM, NETRA or DRDO integration, endorsement or partnership exists or is implied.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WHAT IS SHOWN</a:t>
            </a:r>
          </a:p>
          <a:p>
            <a:r>
              <a:t>NEW. What could this enable: prioritise, explain, scale, govern; future foundation (authoritative ephemerides, covariance/CDM, institutional workflows).</a:t>
            </a:r>
          </a:p>
          <a:p>
            <a:endParaRPr/>
          </a:p>
          <a:p>
            <a:r>
              <a:t>B. WHAT TO SAY (narration)</a:t>
            </a:r>
          </a:p>
          <a:p>
            <a:r>
              <a:t>What could this enable in the future? It could help prioritise analyst attention on the conjunctions that matter most, explain complex orbital evidence as concise and traceable assessments, support analysts as object populations and event volumes grow, and keep AI assistance bounded by deterministic evidence and human approval. These are potential outcomes, not current capabilities. They would need a stronger foundation: authoritative ephemerides, covariance and CDM integration, and institutional analyst workflows.</a:t>
            </a:r>
          </a:p>
          <a:p>
            <a:endParaRPr/>
          </a:p>
          <a:p>
            <a:r>
              <a:t>C. JURY TAKEAWAY</a:t>
            </a:r>
          </a:p>
          <a:p>
            <a:r>
              <a:t>The prototype shows a pattern that could scale analyst capacity if built on authoritative data.</a:t>
            </a:r>
          </a:p>
          <a:p>
            <a:endParaRPr/>
          </a:p>
          <a:p>
            <a:r>
              <a:t>D. CAVEAT</a:t>
            </a:r>
          </a:p>
          <a:p>
            <a:r>
              <a:t>Everything on this slide is potential future value, not implemented capability.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Limitations and pathway: now (prototype), next (validation), later (integration); prototype limitations.</a:t>
            </a:r>
          </a:p>
          <a:p>
            <a:endParaRPr/>
          </a:p>
          <a:p>
            <a:r>
              <a:t>B. WHAT TO SAY (narration)</a:t>
            </a:r>
          </a:p>
          <a:p>
            <a:r>
              <a:t>We are candid about scope. Today this is a deployed prototype on public CelesTrak data, so accuracy is bounded by that source. The collision figure is a simplified indicator, not an operational covariance-based probability, and the demo uses controlled geometry. It is not a replacement for ISRO, IS4OM, NETRA or DRDO systems, and it is not a command, autonomous-avoidance or weapon system. The next steps would be independent validation, covariance-based probability where validated data exists, and integration with authoritative sources. This pathway is potential, not committed.</a:t>
            </a:r>
          </a:p>
          <a:p>
            <a:endParaRPr/>
          </a:p>
          <a:p>
            <a:r>
              <a:t>C. JURY TAKEAWAY</a:t>
            </a:r>
          </a:p>
          <a:p>
            <a:r>
              <a:t>Honest limits and a credible pathway: validation first, then authoritative data and integration.</a:t>
            </a:r>
          </a:p>
          <a:p>
            <a:endParaRPr/>
          </a:p>
          <a:p>
            <a:r>
              <a:t>D. CAVEAT</a:t>
            </a:r>
          </a:p>
          <a:p>
            <a:r>
              <a:t>No operational validation has been performed; the pathway is potential, not committed.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WHAT IS SHOWN</a:t>
            </a:r>
          </a:p>
          <a:p>
            <a:r>
              <a:t>Closing: Physics first. AI second. Human decision last. Data → physics → risk → AI explanation → human decision → audit.</a:t>
            </a:r>
          </a:p>
          <a:p>
            <a:endParaRPr/>
          </a:p>
          <a:p>
            <a:r>
              <a:t>B. WHAT TO SAY (narration)</a:t>
            </a:r>
          </a:p>
          <a:p>
            <a:r>
              <a:t>Physics first. AI second. Human decision last. ANTARIKSHA-RAKSHA turns orbital data into physics, physics into risk, risk into a clear explanation, and explanation into a recorded human decision — from orbital data to explainable decision support. Thank you.</a:t>
            </a:r>
          </a:p>
          <a:p>
            <a:endParaRPr/>
          </a:p>
          <a:p>
            <a:r>
              <a:t>C. JURY TAKEAWAY</a:t>
            </a:r>
          </a:p>
          <a:p>
            <a:r>
              <a:t>Physics first. AI second. Human decision last.</a:t>
            </a:r>
          </a:p>
          <a:p>
            <a:endParaRPr/>
          </a:p>
          <a:p>
            <a:r>
              <a:t>D. CAVEAT</a:t>
            </a:r>
          </a:p>
          <a:p>
            <a:r>
              <a:t>Research/demo decision-support prototype; not an operational service.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3.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1.xml"/><Relationship Id="rId7" Type="http://schemas.openxmlformats.org/officeDocument/2006/relationships/image" Target="../media/image7.jpe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6.jpeg"/><Relationship Id="rId11" Type="http://schemas.openxmlformats.org/officeDocument/2006/relationships/image" Target="../media/image2.png"/><Relationship Id="rId5" Type="http://schemas.openxmlformats.org/officeDocument/2006/relationships/image" Target="../media/image3.jpeg"/><Relationship Id="rId10" Type="http://schemas.openxmlformats.org/officeDocument/2006/relationships/image" Target="../media/image10.jpeg"/><Relationship Id="rId4" Type="http://schemas.openxmlformats.org/officeDocument/2006/relationships/notesSlide" Target="../notesSlides/notesSlide11.xml"/><Relationship Id="rId9"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Shape 0"/>
          <p:cNvSpPr/>
          <p:nvPr/>
        </p:nvSpPr>
        <p:spPr>
          <a:xfrm>
            <a:off x="1066712" y="967273"/>
            <a:ext cx="342856" cy="38034"/>
          </a:xfrm>
          <a:prstGeom prst="rect">
            <a:avLst/>
          </a:prstGeom>
          <a:solidFill>
            <a:srgbClr val="FF9933"/>
          </a:solidFill>
          <a:ln/>
        </p:spPr>
        <p:txBody>
          <a:bodyPr/>
          <a:lstStyle/>
          <a:p>
            <a:endParaRPr/>
          </a:p>
        </p:txBody>
      </p:sp>
      <p:sp>
        <p:nvSpPr>
          <p:cNvPr id="4" name="Shape 1"/>
          <p:cNvSpPr/>
          <p:nvPr/>
        </p:nvSpPr>
        <p:spPr>
          <a:xfrm>
            <a:off x="1409568" y="967273"/>
            <a:ext cx="342856" cy="38034"/>
          </a:xfrm>
          <a:prstGeom prst="rect">
            <a:avLst/>
          </a:prstGeom>
          <a:solidFill>
            <a:srgbClr val="F2F2F2"/>
          </a:solidFill>
          <a:ln/>
        </p:spPr>
        <p:txBody>
          <a:bodyPr/>
          <a:lstStyle/>
          <a:p>
            <a:endParaRPr/>
          </a:p>
        </p:txBody>
      </p:sp>
      <p:sp>
        <p:nvSpPr>
          <p:cNvPr id="5" name="Shape 2"/>
          <p:cNvSpPr/>
          <p:nvPr/>
        </p:nvSpPr>
        <p:spPr>
          <a:xfrm>
            <a:off x="1752424" y="967273"/>
            <a:ext cx="342856" cy="38034"/>
          </a:xfrm>
          <a:prstGeom prst="rect">
            <a:avLst/>
          </a:prstGeom>
          <a:solidFill>
            <a:srgbClr val="1FA84A"/>
          </a:solidFill>
          <a:ln/>
        </p:spPr>
        <p:txBody>
          <a:bodyPr/>
          <a:lstStyle/>
          <a:p>
            <a:endParaRPr/>
          </a:p>
        </p:txBody>
      </p:sp>
      <p:sp>
        <p:nvSpPr>
          <p:cNvPr id="6" name="Text 3"/>
          <p:cNvSpPr/>
          <p:nvPr/>
        </p:nvSpPr>
        <p:spPr>
          <a:xfrm>
            <a:off x="2285669" y="838178"/>
            <a:ext cx="5731945" cy="334433"/>
          </a:xfrm>
          <a:prstGeom prst="rect">
            <a:avLst/>
          </a:prstGeom>
          <a:noFill/>
          <a:ln/>
        </p:spPr>
        <p:txBody>
          <a:bodyPr wrap="none" lIns="25400" tIns="25400" rIns="25400" bIns="25400" rtlCol="0" anchor="t">
            <a:normAutofit/>
          </a:bodyPr>
          <a:lstStyle/>
          <a:p>
            <a:pPr marL="0" indent="0" algn="l">
              <a:buNone/>
            </a:pPr>
            <a:r>
              <a:rPr lang="en-US" sz="1800" kern="0" spc="288" dirty="0">
                <a:solidFill>
                  <a:srgbClr val="C9D4E2"/>
                </a:solidFill>
                <a:latin typeface="Courier New" pitchFamily="34" charset="0"/>
                <a:ea typeface="Courier New" pitchFamily="34" charset="-122"/>
                <a:cs typeface="Courier New" pitchFamily="34" charset="-120"/>
              </a:rPr>
              <a:t>SOVEREIGN TECHNOLOGY FOR INDIA</a:t>
            </a:r>
            <a:endParaRPr lang="en-US" sz="1800" dirty="0"/>
          </a:p>
        </p:txBody>
      </p:sp>
      <p:sp>
        <p:nvSpPr>
          <p:cNvPr id="7" name="Text 4"/>
          <p:cNvSpPr/>
          <p:nvPr/>
        </p:nvSpPr>
        <p:spPr>
          <a:xfrm>
            <a:off x="11315569" y="838178"/>
            <a:ext cx="6496172" cy="334433"/>
          </a:xfrm>
          <a:prstGeom prst="rect">
            <a:avLst/>
          </a:prstGeom>
          <a:noFill/>
          <a:ln/>
        </p:spPr>
        <p:txBody>
          <a:bodyPr wrap="none" lIns="25400" tIns="25400" rIns="25400" bIns="25400" rtlCol="0" anchor="t">
            <a:normAutofit/>
          </a:bodyPr>
          <a:lstStyle/>
          <a:p>
            <a:pPr marL="0" indent="0" algn="l">
              <a:buNone/>
            </a:pPr>
            <a:r>
              <a:rPr lang="en-US" sz="1800" kern="0" spc="288" dirty="0">
                <a:solidFill>
                  <a:srgbClr val="9AAABF"/>
                </a:solidFill>
                <a:latin typeface="Courier New" pitchFamily="34" charset="0"/>
                <a:ea typeface="Courier New" pitchFamily="34" charset="-122"/>
                <a:cs typeface="Courier New" pitchFamily="34" charset="-120"/>
              </a:rPr>
              <a:t>IDEAS FOR INDIA 2026 · FINAL ROUND</a:t>
            </a:r>
            <a:endParaRPr lang="en-US" sz="1800" dirty="0"/>
          </a:p>
        </p:txBody>
      </p:sp>
      <p:sp>
        <p:nvSpPr>
          <p:cNvPr id="8" name="Text 5"/>
          <p:cNvSpPr/>
          <p:nvPr/>
        </p:nvSpPr>
        <p:spPr>
          <a:xfrm>
            <a:off x="1066712" y="2508471"/>
            <a:ext cx="11525130" cy="632420"/>
          </a:xfrm>
          <a:prstGeom prst="rect">
            <a:avLst/>
          </a:prstGeom>
          <a:noFill/>
          <a:ln/>
        </p:spPr>
        <p:txBody>
          <a:bodyPr wrap="square" lIns="25400" tIns="25400" rIns="25400" bIns="25400" rtlCol="0" anchor="t">
            <a:normAutofit/>
          </a:bodyPr>
          <a:lstStyle/>
          <a:p>
            <a:pPr marL="0" indent="0" algn="l">
              <a:lnSpc>
                <a:spcPct val="104000"/>
              </a:lnSpc>
              <a:buNone/>
            </a:pPr>
            <a:r>
              <a:rPr lang="en-US" sz="3900" b="1" dirty="0">
                <a:solidFill>
                  <a:srgbClr val="5CC8F0"/>
                </a:solidFill>
                <a:latin typeface="Arial" pitchFamily="34" charset="0"/>
                <a:ea typeface="Arial" pitchFamily="34" charset="-122"/>
                <a:cs typeface="Arial" pitchFamily="34" charset="-120"/>
              </a:rPr>
              <a:t>अंतरिक्ष रक्षा</a:t>
            </a:r>
            <a:endParaRPr lang="en-US" sz="3900" dirty="0"/>
          </a:p>
        </p:txBody>
      </p:sp>
      <p:sp>
        <p:nvSpPr>
          <p:cNvPr id="9" name="Text 6"/>
          <p:cNvSpPr/>
          <p:nvPr/>
        </p:nvSpPr>
        <p:spPr>
          <a:xfrm>
            <a:off x="1066712" y="3388431"/>
            <a:ext cx="10791712" cy="2666956"/>
          </a:xfrm>
          <a:prstGeom prst="rect">
            <a:avLst/>
          </a:prstGeom>
          <a:noFill/>
          <a:ln/>
        </p:spPr>
        <p:txBody>
          <a:bodyPr wrap="square" lIns="25400" tIns="25400" rIns="25400" bIns="25400" rtlCol="0" anchor="t">
            <a:normAutofit/>
          </a:bodyPr>
          <a:lstStyle/>
          <a:p>
            <a:pPr marL="0" indent="0" algn="l">
              <a:lnSpc>
                <a:spcPct val="79957"/>
              </a:lnSpc>
              <a:buNone/>
            </a:pPr>
            <a:r>
              <a:rPr lang="en-US" sz="11250" b="1" kern="0" spc="-337" dirty="0">
                <a:solidFill>
                  <a:srgbClr val="E6EDF5"/>
                </a:solidFill>
                <a:latin typeface="Arial" pitchFamily="34" charset="0"/>
                <a:ea typeface="Arial" pitchFamily="34" charset="-122"/>
                <a:cs typeface="Arial" pitchFamily="34" charset="-120"/>
              </a:rPr>
              <a:t>ANTARIKSHA- RAKSHA</a:t>
            </a:r>
            <a:endParaRPr lang="en-US" sz="11250" dirty="0"/>
          </a:p>
        </p:txBody>
      </p:sp>
      <p:sp>
        <p:nvSpPr>
          <p:cNvPr id="10" name="Shape 7"/>
          <p:cNvSpPr/>
          <p:nvPr/>
        </p:nvSpPr>
        <p:spPr>
          <a:xfrm>
            <a:off x="1066712" y="6921942"/>
            <a:ext cx="609534" cy="18962"/>
          </a:xfrm>
          <a:prstGeom prst="rect">
            <a:avLst/>
          </a:prstGeom>
          <a:solidFill>
            <a:srgbClr val="5CC8F0"/>
          </a:solidFill>
          <a:ln/>
        </p:spPr>
        <p:txBody>
          <a:bodyPr/>
          <a:lstStyle/>
          <a:p>
            <a:endParaRPr/>
          </a:p>
        </p:txBody>
      </p:sp>
      <p:sp>
        <p:nvSpPr>
          <p:cNvPr id="11" name="Text 8"/>
          <p:cNvSpPr/>
          <p:nvPr/>
        </p:nvSpPr>
        <p:spPr>
          <a:xfrm>
            <a:off x="1904780" y="6436211"/>
            <a:ext cx="8829562" cy="1028524"/>
          </a:xfrm>
          <a:prstGeom prst="rect">
            <a:avLst/>
          </a:prstGeom>
          <a:noFill/>
          <a:ln/>
        </p:spPr>
        <p:txBody>
          <a:bodyPr wrap="square" lIns="25400" tIns="25400" rIns="25400" bIns="25400" rtlCol="0" anchor="t">
            <a:normAutofit/>
          </a:bodyPr>
          <a:lstStyle/>
          <a:p>
            <a:pPr marL="0" indent="0" algn="l">
              <a:lnSpc>
                <a:spcPct val="113226"/>
              </a:lnSpc>
              <a:buNone/>
            </a:pPr>
            <a:r>
              <a:rPr lang="en-US" sz="3000" dirty="0">
                <a:solidFill>
                  <a:srgbClr val="DCE4EE"/>
                </a:solidFill>
                <a:latin typeface="Arial" pitchFamily="34" charset="0"/>
                <a:ea typeface="Arial" pitchFamily="34" charset="-122"/>
                <a:cs typeface="Arial" pitchFamily="34" charset="-120"/>
              </a:rPr>
              <a:t>Space Domain Awareness &amp; Conjunction Assessment Decision Support</a:t>
            </a:r>
            <a:endParaRPr lang="en-US" sz="3000" dirty="0"/>
          </a:p>
        </p:txBody>
      </p:sp>
      <p:sp>
        <p:nvSpPr>
          <p:cNvPr id="12" name="Shape 9"/>
          <p:cNvSpPr/>
          <p:nvPr/>
        </p:nvSpPr>
        <p:spPr>
          <a:xfrm>
            <a:off x="1066712" y="8800484"/>
            <a:ext cx="2698089" cy="648229"/>
          </a:xfrm>
          <a:prstGeom prst="rect">
            <a:avLst/>
          </a:prstGeom>
          <a:solidFill>
            <a:srgbClr val="050A14">
              <a:alpha val="70000"/>
            </a:srgbClr>
          </a:solidFill>
          <a:ln w="7056">
            <a:solidFill>
              <a:srgbClr val="2A5C78"/>
            </a:solidFill>
            <a:prstDash val="solid"/>
          </a:ln>
        </p:spPr>
        <p:txBody>
          <a:bodyPr/>
          <a:lstStyle/>
          <a:p>
            <a:endParaRPr/>
          </a:p>
        </p:txBody>
      </p:sp>
      <p:sp>
        <p:nvSpPr>
          <p:cNvPr id="13" name="Text 10"/>
          <p:cNvSpPr/>
          <p:nvPr/>
        </p:nvSpPr>
        <p:spPr>
          <a:xfrm>
            <a:off x="1321417" y="8959939"/>
            <a:ext cx="2269620" cy="367418"/>
          </a:xfrm>
          <a:prstGeom prst="rect">
            <a:avLst/>
          </a:prstGeom>
          <a:noFill/>
          <a:ln/>
        </p:spPr>
        <p:txBody>
          <a:bodyPr wrap="none" lIns="25400" tIns="25400" rIns="25400" bIns="25400" rtlCol="0" anchor="t">
            <a:normAutofit/>
          </a:bodyPr>
          <a:lstStyle/>
          <a:p>
            <a:pPr marL="0" indent="0" algn="l">
              <a:buNone/>
            </a:pPr>
            <a:r>
              <a:rPr lang="en-US" sz="1950" kern="0" spc="156" dirty="0">
                <a:solidFill>
                  <a:srgbClr val="E6EDF5"/>
                </a:solidFill>
                <a:latin typeface="Courier New" pitchFamily="34" charset="0"/>
                <a:ea typeface="Courier New" pitchFamily="34" charset="-122"/>
                <a:cs typeface="Courier New" pitchFamily="34" charset="-120"/>
              </a:rPr>
              <a:t>PHYSICS FIRST</a:t>
            </a:r>
            <a:endParaRPr lang="en-US" sz="1950" dirty="0"/>
          </a:p>
        </p:txBody>
      </p:sp>
      <p:sp>
        <p:nvSpPr>
          <p:cNvPr id="14" name="Shape 11"/>
          <p:cNvSpPr/>
          <p:nvPr/>
        </p:nvSpPr>
        <p:spPr>
          <a:xfrm>
            <a:off x="3764801" y="8800484"/>
            <a:ext cx="2017558" cy="648229"/>
          </a:xfrm>
          <a:prstGeom prst="rect">
            <a:avLst/>
          </a:prstGeom>
          <a:solidFill>
            <a:srgbClr val="050A14">
              <a:alpha val="70000"/>
            </a:srgbClr>
          </a:solidFill>
          <a:ln/>
        </p:spPr>
        <p:txBody>
          <a:bodyPr/>
          <a:lstStyle/>
          <a:p>
            <a:endParaRPr/>
          </a:p>
        </p:txBody>
      </p:sp>
      <p:sp>
        <p:nvSpPr>
          <p:cNvPr id="15" name="Shape 12"/>
          <p:cNvSpPr/>
          <p:nvPr/>
        </p:nvSpPr>
        <p:spPr>
          <a:xfrm>
            <a:off x="3764801" y="9441657"/>
            <a:ext cx="2017558" cy="9525"/>
          </a:xfrm>
          <a:prstGeom prst="rect">
            <a:avLst/>
          </a:prstGeom>
          <a:solidFill>
            <a:srgbClr val="2A5C78"/>
          </a:solidFill>
          <a:ln/>
        </p:spPr>
        <p:txBody>
          <a:bodyPr/>
          <a:lstStyle/>
          <a:p>
            <a:endParaRPr/>
          </a:p>
        </p:txBody>
      </p:sp>
      <p:sp>
        <p:nvSpPr>
          <p:cNvPr id="16" name="Shape 13"/>
          <p:cNvSpPr/>
          <p:nvPr/>
        </p:nvSpPr>
        <p:spPr>
          <a:xfrm>
            <a:off x="3764801" y="8800484"/>
            <a:ext cx="2017558" cy="9525"/>
          </a:xfrm>
          <a:prstGeom prst="rect">
            <a:avLst/>
          </a:prstGeom>
          <a:solidFill>
            <a:srgbClr val="2A5C78"/>
          </a:solidFill>
          <a:ln/>
        </p:spPr>
        <p:txBody>
          <a:bodyPr/>
          <a:lstStyle/>
          <a:p>
            <a:endParaRPr/>
          </a:p>
        </p:txBody>
      </p:sp>
      <p:sp>
        <p:nvSpPr>
          <p:cNvPr id="17" name="Shape 14"/>
          <p:cNvSpPr/>
          <p:nvPr/>
        </p:nvSpPr>
        <p:spPr>
          <a:xfrm>
            <a:off x="5775304" y="8800484"/>
            <a:ext cx="9525" cy="648229"/>
          </a:xfrm>
          <a:prstGeom prst="rect">
            <a:avLst/>
          </a:prstGeom>
          <a:solidFill>
            <a:srgbClr val="2A5C78"/>
          </a:solidFill>
          <a:ln/>
        </p:spPr>
        <p:txBody>
          <a:bodyPr/>
          <a:lstStyle/>
          <a:p>
            <a:endParaRPr/>
          </a:p>
        </p:txBody>
      </p:sp>
      <p:sp>
        <p:nvSpPr>
          <p:cNvPr id="18" name="Text 15"/>
          <p:cNvSpPr/>
          <p:nvPr/>
        </p:nvSpPr>
        <p:spPr>
          <a:xfrm>
            <a:off x="4012451" y="8959939"/>
            <a:ext cx="1591403" cy="367418"/>
          </a:xfrm>
          <a:prstGeom prst="rect">
            <a:avLst/>
          </a:prstGeom>
          <a:noFill/>
          <a:ln/>
        </p:spPr>
        <p:txBody>
          <a:bodyPr wrap="none" lIns="25400" tIns="25400" rIns="25400" bIns="25400" rtlCol="0" anchor="t">
            <a:normAutofit/>
          </a:bodyPr>
          <a:lstStyle/>
          <a:p>
            <a:pPr marL="0" indent="0" algn="l">
              <a:buNone/>
            </a:pPr>
            <a:r>
              <a:rPr lang="en-US" sz="1950" kern="0" spc="156" dirty="0">
                <a:solidFill>
                  <a:srgbClr val="9AAABF"/>
                </a:solidFill>
                <a:latin typeface="Courier New" pitchFamily="34" charset="0"/>
                <a:ea typeface="Courier New" pitchFamily="34" charset="-122"/>
                <a:cs typeface="Courier New" pitchFamily="34" charset="-120"/>
              </a:rPr>
              <a:t>AI SECOND</a:t>
            </a:r>
            <a:endParaRPr lang="en-US" sz="1950" dirty="0"/>
          </a:p>
        </p:txBody>
      </p:sp>
      <p:sp>
        <p:nvSpPr>
          <p:cNvPr id="19" name="Shape 16"/>
          <p:cNvSpPr/>
          <p:nvPr/>
        </p:nvSpPr>
        <p:spPr>
          <a:xfrm>
            <a:off x="5782359" y="8800484"/>
            <a:ext cx="3694135" cy="648229"/>
          </a:xfrm>
          <a:prstGeom prst="rect">
            <a:avLst/>
          </a:prstGeom>
          <a:solidFill>
            <a:srgbClr val="5CC8F0"/>
          </a:solidFill>
          <a:ln/>
        </p:spPr>
        <p:txBody>
          <a:bodyPr/>
          <a:lstStyle/>
          <a:p>
            <a:endParaRPr/>
          </a:p>
        </p:txBody>
      </p:sp>
      <p:sp>
        <p:nvSpPr>
          <p:cNvPr id="20" name="Text 17"/>
          <p:cNvSpPr/>
          <p:nvPr/>
        </p:nvSpPr>
        <p:spPr>
          <a:xfrm>
            <a:off x="6030009" y="8962409"/>
            <a:ext cx="3309659" cy="362479"/>
          </a:xfrm>
          <a:prstGeom prst="rect">
            <a:avLst/>
          </a:prstGeom>
          <a:noFill/>
          <a:ln/>
        </p:spPr>
        <p:txBody>
          <a:bodyPr wrap="none" lIns="25400" tIns="25400" rIns="25400" bIns="25400" rtlCol="0" anchor="t">
            <a:normAutofit/>
          </a:bodyPr>
          <a:lstStyle/>
          <a:p>
            <a:pPr marL="0" indent="0" algn="l">
              <a:buNone/>
            </a:pPr>
            <a:r>
              <a:rPr lang="en-US" sz="1950" kern="0" spc="156" dirty="0">
                <a:solidFill>
                  <a:srgbClr val="050A14"/>
                </a:solidFill>
                <a:latin typeface="Courier New" pitchFamily="34" charset="0"/>
                <a:ea typeface="Courier New" pitchFamily="34" charset="-122"/>
                <a:cs typeface="Courier New" pitchFamily="34" charset="-120"/>
              </a:rPr>
              <a:t>HUMAN DECISION LAST</a:t>
            </a:r>
            <a:endParaRPr lang="en-US" sz="1950" dirty="0"/>
          </a:p>
        </p:txBody>
      </p:sp>
      <p:sp>
        <p:nvSpPr>
          <p:cNvPr id="21" name="Text 18"/>
          <p:cNvSpPr/>
          <p:nvPr/>
        </p:nvSpPr>
        <p:spPr>
          <a:xfrm>
            <a:off x="13930094" y="9152380"/>
            <a:ext cx="3620195" cy="334433"/>
          </a:xfrm>
          <a:prstGeom prst="rect">
            <a:avLst/>
          </a:prstGeom>
          <a:noFill/>
          <a:ln/>
        </p:spPr>
        <p:txBody>
          <a:bodyPr wrap="none" lIns="25400" tIns="25400" rIns="25400" bIns="25400" rtlCol="0" anchor="t">
            <a:normAutofit/>
          </a:bodyPr>
          <a:lstStyle/>
          <a:p>
            <a:pPr marL="0" indent="0" algn="l">
              <a:buNone/>
            </a:pPr>
            <a:r>
              <a:rPr lang="en-US" sz="1800" kern="0" spc="216" dirty="0">
                <a:solidFill>
                  <a:srgbClr val="9AAABF"/>
                </a:solidFill>
                <a:latin typeface="Courier New" pitchFamily="34" charset="0"/>
                <a:ea typeface="Courier New" pitchFamily="34" charset="-122"/>
                <a:cs typeface="Courier New" pitchFamily="34" charset="-120"/>
              </a:rPr>
              <a:t>FUNCTIONAL PROTOTYPE</a:t>
            </a:r>
            <a:endParaRPr lang="en-US" sz="1800" dirty="0"/>
          </a:p>
        </p:txBody>
      </p:sp>
      <p:pic>
        <p:nvPicPr>
          <p:cNvPr id="22" name="Narration slide 1">
            <a:hlinkClick r:id="" action="ppaction://media"/>
            <a:extLst>
              <a:ext uri="{FF2B5EF4-FFF2-40B4-BE49-F238E27FC236}">
                <a16:creationId xmlns:a16="http://schemas.microsoft.com/office/drawing/2014/main" id="{6CC3AF49-5F5C-46F2-C242-642DBD11FFF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98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02</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4092774"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THE THOUGHT EXPERIMENT</a:t>
            </a:r>
            <a:endParaRPr lang="en-US" sz="1800" dirty="0"/>
          </a:p>
        </p:txBody>
      </p:sp>
      <p:sp>
        <p:nvSpPr>
          <p:cNvPr id="6" name="Shape 3"/>
          <p:cNvSpPr/>
          <p:nvPr/>
        </p:nvSpPr>
        <p:spPr>
          <a:xfrm>
            <a:off x="9944586" y="685712"/>
            <a:ext cx="1676356" cy="28553"/>
          </a:xfrm>
          <a:prstGeom prst="rect">
            <a:avLst/>
          </a:prstGeom>
          <a:solidFill>
            <a:srgbClr val="5CC8F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If two orbital paths cross, do the objects collide?</a:t>
            </a:r>
            <a:endParaRPr lang="en-US" sz="5100" dirty="0"/>
          </a:p>
        </p:txBody>
      </p:sp>
      <p:pic>
        <p:nvPicPr>
          <p:cNvPr id="15" name="Image 1" descr="preencoded.png"/>
          <p:cNvPicPr>
            <a:picLocks noChangeAspect="1"/>
          </p:cNvPicPr>
          <p:nvPr/>
        </p:nvPicPr>
        <p:blipFill>
          <a:blip r:embed="rId6"/>
          <a:stretch>
            <a:fillRect/>
          </a:stretch>
        </p:blipFill>
        <p:spPr>
          <a:xfrm>
            <a:off x="1066712" y="2636132"/>
            <a:ext cx="8000891" cy="6095891"/>
          </a:xfrm>
          <a:prstGeom prst="rect">
            <a:avLst/>
          </a:prstGeom>
        </p:spPr>
      </p:pic>
      <p:sp>
        <p:nvSpPr>
          <p:cNvPr id="16" name="Text 12"/>
          <p:cNvSpPr/>
          <p:nvPr/>
        </p:nvSpPr>
        <p:spPr>
          <a:xfrm>
            <a:off x="9677137" y="3437710"/>
            <a:ext cx="7770365" cy="1043958"/>
          </a:xfrm>
          <a:prstGeom prst="rect">
            <a:avLst/>
          </a:prstGeom>
          <a:noFill/>
          <a:ln/>
        </p:spPr>
        <p:txBody>
          <a:bodyPr wrap="square" lIns="25400" tIns="25400" rIns="25400" bIns="25400" rtlCol="0" anchor="t">
            <a:normAutofit/>
          </a:bodyPr>
          <a:lstStyle/>
          <a:p>
            <a:pPr marL="0" indent="0" algn="l">
              <a:lnSpc>
                <a:spcPct val="103304"/>
              </a:lnSpc>
              <a:buNone/>
            </a:pPr>
            <a:r>
              <a:rPr lang="en-US" sz="3300" dirty="0">
                <a:solidFill>
                  <a:srgbClr val="E6EDF5"/>
                </a:solidFill>
                <a:latin typeface="Arial" pitchFamily="34" charset="0"/>
                <a:ea typeface="Arial" pitchFamily="34" charset="-122"/>
                <a:cs typeface="Arial" pitchFamily="34" charset="-120"/>
              </a:rPr>
              <a:t>Orbit is a 3D highway with no visible lanes.</a:t>
            </a:r>
            <a:endParaRPr lang="en-US" sz="3300" dirty="0"/>
          </a:p>
        </p:txBody>
      </p:sp>
      <p:sp>
        <p:nvSpPr>
          <p:cNvPr id="17" name="Text 13"/>
          <p:cNvSpPr/>
          <p:nvPr/>
        </p:nvSpPr>
        <p:spPr>
          <a:xfrm>
            <a:off x="9677137" y="4748279"/>
            <a:ext cx="253361" cy="436629"/>
          </a:xfrm>
          <a:prstGeom prst="rect">
            <a:avLst/>
          </a:prstGeom>
          <a:noFill/>
          <a:ln/>
        </p:spPr>
        <p:txBody>
          <a:bodyPr wrap="square" lIns="25400" tIns="25400" rIns="25400" bIns="25400" rtlCol="0" anchor="t">
            <a:normAutofit/>
          </a:bodyPr>
          <a:lstStyle/>
          <a:p>
            <a:pPr marL="0" indent="0" algn="l">
              <a:lnSpc>
                <a:spcPct val="117703"/>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18" name="Text 14"/>
          <p:cNvSpPr/>
          <p:nvPr/>
        </p:nvSpPr>
        <p:spPr>
          <a:xfrm>
            <a:off x="10044687" y="4748279"/>
            <a:ext cx="7894143" cy="436629"/>
          </a:xfrm>
          <a:prstGeom prst="rect">
            <a:avLst/>
          </a:prstGeom>
          <a:noFill/>
          <a:ln/>
        </p:spPr>
        <p:txBody>
          <a:bodyPr wrap="square" lIns="25400" tIns="25400" rIns="25400" bIns="25400" rtlCol="0" anchor="t">
            <a:normAutofit/>
          </a:bodyPr>
          <a:lstStyle/>
          <a:p>
            <a:pPr marL="0" indent="0" algn="l">
              <a:lnSpc>
                <a:spcPct val="117703"/>
              </a:lnSpc>
              <a:buNone/>
            </a:pPr>
            <a:r>
              <a:rPr lang="en-US" sz="2325" dirty="0">
                <a:solidFill>
                  <a:srgbClr val="C9D4E2"/>
                </a:solidFill>
                <a:latin typeface="Arial" pitchFamily="34" charset="0"/>
                <a:ea typeface="Arial" pitchFamily="34" charset="-122"/>
                <a:cs typeface="Arial" pitchFamily="34" charset="-120"/>
              </a:rPr>
              <a:t>Satellites and debris move at several km/s.</a:t>
            </a:r>
            <a:endParaRPr lang="en-US" sz="2325" dirty="0"/>
          </a:p>
        </p:txBody>
      </p:sp>
      <p:sp>
        <p:nvSpPr>
          <p:cNvPr id="19" name="Text 15"/>
          <p:cNvSpPr/>
          <p:nvPr/>
        </p:nvSpPr>
        <p:spPr>
          <a:xfrm>
            <a:off x="9677137" y="5318236"/>
            <a:ext cx="253361" cy="436629"/>
          </a:xfrm>
          <a:prstGeom prst="rect">
            <a:avLst/>
          </a:prstGeom>
          <a:noFill/>
          <a:ln/>
        </p:spPr>
        <p:txBody>
          <a:bodyPr wrap="square" lIns="25400" tIns="25400" rIns="25400" bIns="25400" rtlCol="0" anchor="t">
            <a:normAutofit/>
          </a:bodyPr>
          <a:lstStyle/>
          <a:p>
            <a:pPr marL="0" indent="0" algn="l">
              <a:lnSpc>
                <a:spcPct val="117703"/>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20" name="Text 16"/>
          <p:cNvSpPr/>
          <p:nvPr/>
        </p:nvSpPr>
        <p:spPr>
          <a:xfrm>
            <a:off x="10044687" y="5318236"/>
            <a:ext cx="7894143" cy="436629"/>
          </a:xfrm>
          <a:prstGeom prst="rect">
            <a:avLst/>
          </a:prstGeom>
          <a:noFill/>
          <a:ln/>
        </p:spPr>
        <p:txBody>
          <a:bodyPr wrap="square" lIns="25400" tIns="25400" rIns="25400" bIns="25400" rtlCol="0" anchor="t">
            <a:normAutofit/>
          </a:bodyPr>
          <a:lstStyle/>
          <a:p>
            <a:pPr marL="0" indent="0" algn="l">
              <a:lnSpc>
                <a:spcPct val="117703"/>
              </a:lnSpc>
              <a:buNone/>
            </a:pPr>
            <a:r>
              <a:rPr lang="en-US" sz="2325" dirty="0">
                <a:solidFill>
                  <a:srgbClr val="C9D4E2"/>
                </a:solidFill>
                <a:latin typeface="Arial" pitchFamily="34" charset="0"/>
                <a:ea typeface="Arial" pitchFamily="34" charset="-122"/>
                <a:cs typeface="Arial" pitchFamily="34" charset="-120"/>
              </a:rPr>
              <a:t>Crossing paths alone do not mean collision.</a:t>
            </a:r>
            <a:endParaRPr lang="en-US" sz="2325" dirty="0"/>
          </a:p>
        </p:txBody>
      </p:sp>
      <p:sp>
        <p:nvSpPr>
          <p:cNvPr id="21" name="Shape 17"/>
          <p:cNvSpPr/>
          <p:nvPr/>
        </p:nvSpPr>
        <p:spPr>
          <a:xfrm>
            <a:off x="9677137" y="6021477"/>
            <a:ext cx="7544044" cy="1908969"/>
          </a:xfrm>
          <a:prstGeom prst="rect">
            <a:avLst/>
          </a:prstGeom>
          <a:solidFill>
            <a:srgbClr val="091221">
              <a:alpha val="85000"/>
            </a:srgbClr>
          </a:solidFill>
          <a:ln w="7056">
            <a:solidFill>
              <a:srgbClr val="22344F"/>
            </a:solidFill>
            <a:prstDash val="solid"/>
          </a:ln>
        </p:spPr>
        <p:txBody>
          <a:bodyPr/>
          <a:lstStyle/>
          <a:p>
            <a:endParaRPr/>
          </a:p>
        </p:txBody>
      </p:sp>
      <p:sp>
        <p:nvSpPr>
          <p:cNvPr id="22" name="Shape 18"/>
          <p:cNvSpPr/>
          <p:nvPr/>
        </p:nvSpPr>
        <p:spPr>
          <a:xfrm>
            <a:off x="9684192" y="6810155"/>
            <a:ext cx="7529932" cy="9525"/>
          </a:xfrm>
          <a:prstGeom prst="rect">
            <a:avLst/>
          </a:prstGeom>
          <a:solidFill>
            <a:srgbClr val="22344F"/>
          </a:solidFill>
          <a:ln/>
        </p:spPr>
        <p:txBody>
          <a:bodyPr/>
          <a:lstStyle/>
          <a:p>
            <a:endParaRPr/>
          </a:p>
        </p:txBody>
      </p:sp>
      <p:sp>
        <p:nvSpPr>
          <p:cNvPr id="23" name="Text 19"/>
          <p:cNvSpPr/>
          <p:nvPr/>
        </p:nvSpPr>
        <p:spPr>
          <a:xfrm>
            <a:off x="9950871" y="6257066"/>
            <a:ext cx="1885829" cy="362656"/>
          </a:xfrm>
          <a:prstGeom prst="rect">
            <a:avLst/>
          </a:prstGeom>
          <a:noFill/>
          <a:ln/>
        </p:spPr>
        <p:txBody>
          <a:bodyPr wrap="none" lIns="25400" tIns="25400" rIns="25400" bIns="25400" rtlCol="0" anchor="t">
            <a:normAutofit/>
          </a:bodyPr>
          <a:lstStyle/>
          <a:p>
            <a:pPr marL="0" indent="0" algn="l">
              <a:buNone/>
            </a:pPr>
            <a:r>
              <a:rPr lang="en-US" sz="1950" dirty="0">
                <a:solidFill>
                  <a:srgbClr val="9AAABF"/>
                </a:solidFill>
                <a:latin typeface="Courier New" pitchFamily="34" charset="0"/>
                <a:ea typeface="Courier New" pitchFamily="34" charset="-122"/>
                <a:cs typeface="Courier New" pitchFamily="34" charset="-120"/>
              </a:rPr>
              <a:t>t₁ ≠ t₂</a:t>
            </a:r>
            <a:endParaRPr lang="en-US" sz="1950" dirty="0"/>
          </a:p>
        </p:txBody>
      </p:sp>
      <p:sp>
        <p:nvSpPr>
          <p:cNvPr id="24" name="Text 20"/>
          <p:cNvSpPr/>
          <p:nvPr/>
        </p:nvSpPr>
        <p:spPr>
          <a:xfrm>
            <a:off x="11665260" y="6257066"/>
            <a:ext cx="5810405" cy="362656"/>
          </a:xfrm>
          <a:prstGeom prst="rect">
            <a:avLst/>
          </a:prstGeom>
          <a:noFill/>
          <a:ln/>
        </p:spPr>
        <p:txBody>
          <a:bodyPr wrap="square" lIns="25400" tIns="25400" rIns="25400" bIns="25400" rtlCol="0" anchor="t">
            <a:normAutofit/>
          </a:bodyPr>
          <a:lstStyle/>
          <a:p>
            <a:pPr marL="0" indent="0" algn="l">
              <a:buNone/>
            </a:pPr>
            <a:r>
              <a:rPr lang="en-US" sz="1950" dirty="0">
                <a:solidFill>
                  <a:srgbClr val="E6EDF5"/>
                </a:solidFill>
                <a:latin typeface="Courier New" pitchFamily="34" charset="0"/>
                <a:ea typeface="Courier New" pitchFamily="34" charset="-122"/>
                <a:cs typeface="Courier New" pitchFamily="34" charset="-120"/>
              </a:rPr>
              <a:t>Different time → safe pass</a:t>
            </a:r>
            <a:endParaRPr lang="en-US" sz="1950" dirty="0"/>
          </a:p>
        </p:txBody>
      </p:sp>
      <p:sp>
        <p:nvSpPr>
          <p:cNvPr id="25" name="Shape 21"/>
          <p:cNvSpPr/>
          <p:nvPr/>
        </p:nvSpPr>
        <p:spPr>
          <a:xfrm>
            <a:off x="9684192" y="6817211"/>
            <a:ext cx="7529932" cy="1106179"/>
          </a:xfrm>
          <a:prstGeom prst="rect">
            <a:avLst/>
          </a:prstGeom>
          <a:solidFill>
            <a:srgbClr val="F2B661">
              <a:alpha val="7000"/>
            </a:srgbClr>
          </a:solidFill>
          <a:ln/>
        </p:spPr>
        <p:txBody>
          <a:bodyPr/>
          <a:lstStyle/>
          <a:p>
            <a:endParaRPr/>
          </a:p>
        </p:txBody>
      </p:sp>
      <p:sp>
        <p:nvSpPr>
          <p:cNvPr id="26" name="Text 22"/>
          <p:cNvSpPr/>
          <p:nvPr/>
        </p:nvSpPr>
        <p:spPr>
          <a:xfrm>
            <a:off x="9950871" y="7208023"/>
            <a:ext cx="1885829" cy="362656"/>
          </a:xfrm>
          <a:prstGeom prst="rect">
            <a:avLst/>
          </a:prstGeom>
          <a:noFill/>
          <a:ln/>
        </p:spPr>
        <p:txBody>
          <a:bodyPr wrap="none" lIns="25400" tIns="25400" rIns="25400" bIns="25400" rtlCol="0" anchor="t">
            <a:normAutofit/>
          </a:bodyPr>
          <a:lstStyle/>
          <a:p>
            <a:pPr marL="0" indent="0" algn="l">
              <a:buNone/>
            </a:pPr>
            <a:r>
              <a:rPr lang="en-US" sz="1950" dirty="0">
                <a:solidFill>
                  <a:srgbClr val="F2B661"/>
                </a:solidFill>
                <a:latin typeface="Courier New" pitchFamily="34" charset="0"/>
                <a:ea typeface="Courier New" pitchFamily="34" charset="-122"/>
                <a:cs typeface="Courier New" pitchFamily="34" charset="-120"/>
              </a:rPr>
              <a:t>t₁ ≈ t₂</a:t>
            </a:r>
            <a:endParaRPr lang="en-US" sz="1950" dirty="0"/>
          </a:p>
        </p:txBody>
      </p:sp>
      <p:sp>
        <p:nvSpPr>
          <p:cNvPr id="27" name="Text 23"/>
          <p:cNvSpPr/>
          <p:nvPr/>
        </p:nvSpPr>
        <p:spPr>
          <a:xfrm>
            <a:off x="11665260" y="7045745"/>
            <a:ext cx="5440652" cy="687211"/>
          </a:xfrm>
          <a:prstGeom prst="rect">
            <a:avLst/>
          </a:prstGeom>
          <a:noFill/>
          <a:ln/>
        </p:spPr>
        <p:txBody>
          <a:bodyPr wrap="square" lIns="25400" tIns="25400" rIns="25400" bIns="25400" rtlCol="0" anchor="t">
            <a:normAutofit/>
          </a:bodyPr>
          <a:lstStyle/>
          <a:p>
            <a:pPr marL="0" indent="0" algn="l">
              <a:buNone/>
            </a:pPr>
            <a:r>
              <a:rPr lang="en-US" sz="1950" dirty="0">
                <a:solidFill>
                  <a:srgbClr val="F2B661"/>
                </a:solidFill>
                <a:latin typeface="Courier New" pitchFamily="34" charset="0"/>
                <a:ea typeface="Courier New" pitchFamily="34" charset="-122"/>
                <a:cs typeface="Courier New" pitchFamily="34" charset="-120"/>
              </a:rPr>
              <a:t>Same place + same time → conjunction</a:t>
            </a:r>
            <a:endParaRPr lang="en-US" sz="1950" dirty="0"/>
          </a:p>
        </p:txBody>
      </p:sp>
      <p:sp>
        <p:nvSpPr>
          <p:cNvPr id="28" name="Shape 24"/>
          <p:cNvSpPr/>
          <p:nvPr/>
        </p:nvSpPr>
        <p:spPr>
          <a:xfrm>
            <a:off x="1066712" y="9629181"/>
            <a:ext cx="190390" cy="28553"/>
          </a:xfrm>
          <a:prstGeom prst="rect">
            <a:avLst/>
          </a:prstGeom>
          <a:solidFill>
            <a:srgbClr val="FF9933"/>
          </a:solidFill>
          <a:ln/>
        </p:spPr>
        <p:txBody>
          <a:bodyPr/>
          <a:lstStyle/>
          <a:p>
            <a:endParaRPr/>
          </a:p>
        </p:txBody>
      </p:sp>
      <p:sp>
        <p:nvSpPr>
          <p:cNvPr id="29" name="Shape 25"/>
          <p:cNvSpPr/>
          <p:nvPr/>
        </p:nvSpPr>
        <p:spPr>
          <a:xfrm>
            <a:off x="1257102" y="9629181"/>
            <a:ext cx="190390" cy="28553"/>
          </a:xfrm>
          <a:prstGeom prst="rect">
            <a:avLst/>
          </a:prstGeom>
          <a:solidFill>
            <a:srgbClr val="F2F2F2"/>
          </a:solidFill>
          <a:ln/>
        </p:spPr>
        <p:txBody>
          <a:bodyPr/>
          <a:lstStyle/>
          <a:p>
            <a:endParaRPr/>
          </a:p>
        </p:txBody>
      </p:sp>
      <p:sp>
        <p:nvSpPr>
          <p:cNvPr id="30" name="Shape 26"/>
          <p:cNvSpPr/>
          <p:nvPr/>
        </p:nvSpPr>
        <p:spPr>
          <a:xfrm>
            <a:off x="1447491" y="9629181"/>
            <a:ext cx="190390" cy="28553"/>
          </a:xfrm>
          <a:prstGeom prst="rect">
            <a:avLst/>
          </a:prstGeom>
          <a:solidFill>
            <a:srgbClr val="1FA84A"/>
          </a:solidFill>
          <a:ln/>
        </p:spPr>
        <p:txBody>
          <a:bodyPr/>
          <a:lstStyle/>
          <a:p>
            <a:endParaRPr/>
          </a:p>
        </p:txBody>
      </p:sp>
      <p:sp>
        <p:nvSpPr>
          <p:cNvPr id="31" name="Text 27"/>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32" name="Text 28"/>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02 / 15</a:t>
            </a:r>
            <a:endParaRPr lang="en-US" sz="1800" dirty="0"/>
          </a:p>
        </p:txBody>
      </p:sp>
      <p:pic>
        <p:nvPicPr>
          <p:cNvPr id="33" name="Narration slide 2">
            <a:hlinkClick r:id="" action="ppaction://media"/>
            <a:extLst>
              <a:ext uri="{FF2B5EF4-FFF2-40B4-BE49-F238E27FC236}">
                <a16:creationId xmlns:a16="http://schemas.microsoft.com/office/drawing/2014/main" id="{07F26ABA-AB30-47FC-AF96-9D41B9F1EDA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28"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03</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2046387"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THE PROBLEM</a:t>
            </a:r>
            <a:endParaRPr lang="en-US" sz="1800" dirty="0"/>
          </a:p>
        </p:txBody>
      </p:sp>
      <p:sp>
        <p:nvSpPr>
          <p:cNvPr id="6" name="Shape 3"/>
          <p:cNvSpPr/>
          <p:nvPr/>
        </p:nvSpPr>
        <p:spPr>
          <a:xfrm>
            <a:off x="9944586" y="685712"/>
            <a:ext cx="1676356" cy="28553"/>
          </a:xfrm>
          <a:prstGeom prst="rect">
            <a:avLst/>
          </a:prstGeom>
          <a:solidFill>
            <a:srgbClr val="5CC8F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Why is tracking alone not enough?</a:t>
            </a:r>
            <a:endParaRPr lang="en-US" sz="5100" dirty="0"/>
          </a:p>
        </p:txBody>
      </p:sp>
      <p:sp>
        <p:nvSpPr>
          <p:cNvPr id="15" name="Text 12"/>
          <p:cNvSpPr/>
          <p:nvPr/>
        </p:nvSpPr>
        <p:spPr>
          <a:xfrm>
            <a:off x="1066712" y="3950230"/>
            <a:ext cx="8040047" cy="2638073"/>
          </a:xfrm>
          <a:prstGeom prst="rect">
            <a:avLst/>
          </a:prstGeom>
          <a:noFill/>
          <a:ln/>
        </p:spPr>
        <p:txBody>
          <a:bodyPr wrap="square" lIns="25400" tIns="25400" rIns="25400" bIns="25400" rtlCol="0" anchor="t">
            <a:normAutofit/>
          </a:bodyPr>
          <a:lstStyle/>
          <a:p>
            <a:pPr marL="0" indent="0" algn="l">
              <a:lnSpc>
                <a:spcPct val="109789"/>
              </a:lnSpc>
              <a:buNone/>
            </a:pPr>
            <a:r>
              <a:rPr lang="en-US" sz="4050" dirty="0">
                <a:solidFill>
                  <a:srgbClr val="E6EDF5"/>
                </a:solidFill>
                <a:latin typeface="Arial" pitchFamily="34" charset="0"/>
                <a:ea typeface="Arial" pitchFamily="34" charset="-122"/>
                <a:cs typeface="Arial" pitchFamily="34" charset="-120"/>
              </a:rPr>
              <a:t>The challenge is turning changing orbital information into a </a:t>
            </a:r>
            <a:r>
              <a:rPr lang="en-US" sz="4050" dirty="0">
                <a:solidFill>
                  <a:srgbClr val="5CC8F0"/>
                </a:solidFill>
                <a:latin typeface="Arial" pitchFamily="34" charset="0"/>
                <a:ea typeface="Arial" pitchFamily="34" charset="-122"/>
                <a:cs typeface="Arial" pitchFamily="34" charset="-120"/>
              </a:rPr>
              <a:t>prioritised, explainable and auditable </a:t>
            </a:r>
            <a:r>
              <a:rPr lang="en-US" sz="4050" dirty="0">
                <a:solidFill>
                  <a:srgbClr val="E6EDF5"/>
                </a:solidFill>
                <a:latin typeface="Arial" pitchFamily="34" charset="0"/>
                <a:ea typeface="Arial" pitchFamily="34" charset="-122"/>
                <a:cs typeface="Arial" pitchFamily="34" charset="-120"/>
              </a:rPr>
              <a:t>workflow.</a:t>
            </a:r>
            <a:endParaRPr lang="en-US" sz="4050" dirty="0"/>
          </a:p>
        </p:txBody>
      </p:sp>
      <p:sp>
        <p:nvSpPr>
          <p:cNvPr id="16" name="Text 13"/>
          <p:cNvSpPr/>
          <p:nvPr/>
        </p:nvSpPr>
        <p:spPr>
          <a:xfrm>
            <a:off x="1066712" y="6893058"/>
            <a:ext cx="8586458"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AABF"/>
                </a:solidFill>
                <a:latin typeface="Courier New" pitchFamily="34" charset="0"/>
                <a:ea typeface="Courier New" pitchFamily="34" charset="-122"/>
                <a:cs typeface="Courier New" pitchFamily="34" charset="-120"/>
              </a:rPr>
              <a:t>SPACE IS BECOMING INCREASINGLY ACTIVE</a:t>
            </a:r>
            <a:endParaRPr lang="en-US" sz="1800" dirty="0"/>
          </a:p>
        </p:txBody>
      </p:sp>
      <p:sp>
        <p:nvSpPr>
          <p:cNvPr id="17" name="Shape 14"/>
          <p:cNvSpPr/>
          <p:nvPr/>
        </p:nvSpPr>
        <p:spPr>
          <a:xfrm>
            <a:off x="9786939" y="3420291"/>
            <a:ext cx="7434131" cy="9525"/>
          </a:xfrm>
          <a:prstGeom prst="rect">
            <a:avLst/>
          </a:prstGeom>
          <a:solidFill>
            <a:srgbClr val="22344F"/>
          </a:solidFill>
          <a:ln/>
        </p:spPr>
        <p:txBody>
          <a:bodyPr/>
          <a:lstStyle/>
          <a:p>
            <a:endParaRPr/>
          </a:p>
        </p:txBody>
      </p:sp>
      <p:sp>
        <p:nvSpPr>
          <p:cNvPr id="18" name="Text 15"/>
          <p:cNvSpPr/>
          <p:nvPr/>
        </p:nvSpPr>
        <p:spPr>
          <a:xfrm>
            <a:off x="9786939" y="3712986"/>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01</a:t>
            </a:r>
            <a:endParaRPr lang="en-US" sz="3600" dirty="0"/>
          </a:p>
        </p:txBody>
      </p:sp>
      <p:sp>
        <p:nvSpPr>
          <p:cNvPr id="19" name="Text 16"/>
          <p:cNvSpPr/>
          <p:nvPr/>
        </p:nvSpPr>
        <p:spPr>
          <a:xfrm>
            <a:off x="10948791" y="3712986"/>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More objects, busier orbits</a:t>
            </a:r>
            <a:endParaRPr lang="en-US" sz="2700" dirty="0"/>
          </a:p>
        </p:txBody>
      </p:sp>
      <p:sp>
        <p:nvSpPr>
          <p:cNvPr id="20" name="Text 17"/>
          <p:cNvSpPr/>
          <p:nvPr/>
        </p:nvSpPr>
        <p:spPr>
          <a:xfrm>
            <a:off x="10948791" y="4233665"/>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Satellites and debris share active regimes</a:t>
            </a:r>
            <a:endParaRPr lang="en-US" sz="2025" dirty="0"/>
          </a:p>
        </p:txBody>
      </p:sp>
      <p:sp>
        <p:nvSpPr>
          <p:cNvPr id="21" name="Shape 18"/>
          <p:cNvSpPr/>
          <p:nvPr/>
        </p:nvSpPr>
        <p:spPr>
          <a:xfrm>
            <a:off x="9786939" y="4850916"/>
            <a:ext cx="7434131" cy="9525"/>
          </a:xfrm>
          <a:prstGeom prst="rect">
            <a:avLst/>
          </a:prstGeom>
          <a:solidFill>
            <a:srgbClr val="22344F"/>
          </a:solidFill>
          <a:ln/>
        </p:spPr>
        <p:txBody>
          <a:bodyPr/>
          <a:lstStyle/>
          <a:p>
            <a:endParaRPr/>
          </a:p>
        </p:txBody>
      </p:sp>
      <p:sp>
        <p:nvSpPr>
          <p:cNvPr id="22" name="Text 19"/>
          <p:cNvSpPr/>
          <p:nvPr/>
        </p:nvSpPr>
        <p:spPr>
          <a:xfrm>
            <a:off x="9786939" y="5143611"/>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02</a:t>
            </a:r>
            <a:endParaRPr lang="en-US" sz="3600" dirty="0"/>
          </a:p>
        </p:txBody>
      </p:sp>
      <p:sp>
        <p:nvSpPr>
          <p:cNvPr id="23" name="Text 20"/>
          <p:cNvSpPr/>
          <p:nvPr/>
        </p:nvSpPr>
        <p:spPr>
          <a:xfrm>
            <a:off x="10948791" y="5143611"/>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Information keeps changing</a:t>
            </a:r>
            <a:endParaRPr lang="en-US" sz="2700" dirty="0"/>
          </a:p>
        </p:txBody>
      </p:sp>
      <p:sp>
        <p:nvSpPr>
          <p:cNvPr id="24" name="Text 21"/>
          <p:cNvSpPr/>
          <p:nvPr/>
        </p:nvSpPr>
        <p:spPr>
          <a:xfrm>
            <a:off x="10948791" y="5664289"/>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Every update can shift a prediction</a:t>
            </a:r>
            <a:endParaRPr lang="en-US" sz="2025" dirty="0"/>
          </a:p>
        </p:txBody>
      </p:sp>
      <p:sp>
        <p:nvSpPr>
          <p:cNvPr id="25" name="Shape 22"/>
          <p:cNvSpPr/>
          <p:nvPr/>
        </p:nvSpPr>
        <p:spPr>
          <a:xfrm>
            <a:off x="9786939" y="7712164"/>
            <a:ext cx="7434131" cy="9525"/>
          </a:xfrm>
          <a:prstGeom prst="rect">
            <a:avLst/>
          </a:prstGeom>
          <a:solidFill>
            <a:srgbClr val="22344F"/>
          </a:solidFill>
          <a:ln/>
        </p:spPr>
        <p:txBody>
          <a:bodyPr/>
          <a:lstStyle/>
          <a:p>
            <a:endParaRPr/>
          </a:p>
        </p:txBody>
      </p:sp>
      <p:sp>
        <p:nvSpPr>
          <p:cNvPr id="26" name="Shape 23"/>
          <p:cNvSpPr/>
          <p:nvPr/>
        </p:nvSpPr>
        <p:spPr>
          <a:xfrm>
            <a:off x="9786939" y="6281540"/>
            <a:ext cx="7434131" cy="9525"/>
          </a:xfrm>
          <a:prstGeom prst="rect">
            <a:avLst/>
          </a:prstGeom>
          <a:solidFill>
            <a:srgbClr val="22344F"/>
          </a:solidFill>
          <a:ln/>
        </p:spPr>
        <p:txBody>
          <a:bodyPr/>
          <a:lstStyle/>
          <a:p>
            <a:endParaRPr/>
          </a:p>
        </p:txBody>
      </p:sp>
      <p:sp>
        <p:nvSpPr>
          <p:cNvPr id="27" name="Text 24"/>
          <p:cNvSpPr/>
          <p:nvPr/>
        </p:nvSpPr>
        <p:spPr>
          <a:xfrm>
            <a:off x="9786939" y="6574235"/>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03</a:t>
            </a:r>
            <a:endParaRPr lang="en-US" sz="3600" dirty="0"/>
          </a:p>
        </p:txBody>
      </p:sp>
      <p:sp>
        <p:nvSpPr>
          <p:cNvPr id="28" name="Text 25"/>
          <p:cNvSpPr/>
          <p:nvPr/>
        </p:nvSpPr>
        <p:spPr>
          <a:xfrm>
            <a:off x="10948791" y="6574235"/>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Analysts need focus</a:t>
            </a:r>
            <a:endParaRPr lang="en-US" sz="2700" dirty="0"/>
          </a:p>
        </p:txBody>
      </p:sp>
      <p:sp>
        <p:nvSpPr>
          <p:cNvPr id="29" name="Text 26"/>
          <p:cNvSpPr/>
          <p:nvPr/>
        </p:nvSpPr>
        <p:spPr>
          <a:xfrm>
            <a:off x="10948791" y="7094913"/>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Priority, reasons and a record</a:t>
            </a:r>
            <a:endParaRPr lang="en-US" sz="2025" dirty="0"/>
          </a:p>
        </p:txBody>
      </p:sp>
      <p:sp>
        <p:nvSpPr>
          <p:cNvPr id="30" name="Shape 27"/>
          <p:cNvSpPr/>
          <p:nvPr/>
        </p:nvSpPr>
        <p:spPr>
          <a:xfrm>
            <a:off x="1066712" y="9629181"/>
            <a:ext cx="190390" cy="28553"/>
          </a:xfrm>
          <a:prstGeom prst="rect">
            <a:avLst/>
          </a:prstGeom>
          <a:solidFill>
            <a:srgbClr val="FF9933"/>
          </a:solidFill>
          <a:ln/>
        </p:spPr>
        <p:txBody>
          <a:bodyPr/>
          <a:lstStyle/>
          <a:p>
            <a:endParaRPr/>
          </a:p>
        </p:txBody>
      </p:sp>
      <p:sp>
        <p:nvSpPr>
          <p:cNvPr id="31" name="Shape 28"/>
          <p:cNvSpPr/>
          <p:nvPr/>
        </p:nvSpPr>
        <p:spPr>
          <a:xfrm>
            <a:off x="1257102" y="9629181"/>
            <a:ext cx="190390" cy="28553"/>
          </a:xfrm>
          <a:prstGeom prst="rect">
            <a:avLst/>
          </a:prstGeom>
          <a:solidFill>
            <a:srgbClr val="F2F2F2"/>
          </a:solidFill>
          <a:ln/>
        </p:spPr>
        <p:txBody>
          <a:bodyPr/>
          <a:lstStyle/>
          <a:p>
            <a:endParaRPr/>
          </a:p>
        </p:txBody>
      </p:sp>
      <p:sp>
        <p:nvSpPr>
          <p:cNvPr id="32" name="Shape 29"/>
          <p:cNvSpPr/>
          <p:nvPr/>
        </p:nvSpPr>
        <p:spPr>
          <a:xfrm>
            <a:off x="1447491" y="9629181"/>
            <a:ext cx="190390" cy="28553"/>
          </a:xfrm>
          <a:prstGeom prst="rect">
            <a:avLst/>
          </a:prstGeom>
          <a:solidFill>
            <a:srgbClr val="1FA84A"/>
          </a:solidFill>
          <a:ln/>
        </p:spPr>
        <p:txBody>
          <a:bodyPr/>
          <a:lstStyle/>
          <a:p>
            <a:endParaRPr/>
          </a:p>
        </p:txBody>
      </p:sp>
      <p:sp>
        <p:nvSpPr>
          <p:cNvPr id="33" name="Text 30"/>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34" name="Text 31"/>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03 / 15</a:t>
            </a:r>
            <a:endParaRPr lang="en-US" sz="1800" dirty="0"/>
          </a:p>
        </p:txBody>
      </p:sp>
      <p:pic>
        <p:nvPicPr>
          <p:cNvPr id="35" name="Narration slide 3">
            <a:hlinkClick r:id="" action="ppaction://media"/>
            <a:extLst>
              <a:ext uri="{FF2B5EF4-FFF2-40B4-BE49-F238E27FC236}">
                <a16:creationId xmlns:a16="http://schemas.microsoft.com/office/drawing/2014/main" id="{CC02ACF0-FAD4-27D5-6060-29A52ACAF3D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36"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04</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4480560"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WHY INDIA, WHY NOW?</a:t>
            </a:r>
            <a:endParaRPr lang="en-US" sz="1800" dirty="0"/>
          </a:p>
        </p:txBody>
      </p:sp>
      <p:sp>
        <p:nvSpPr>
          <p:cNvPr id="6" name="Shape 3"/>
          <p:cNvSpPr/>
          <p:nvPr/>
        </p:nvSpPr>
        <p:spPr>
          <a:xfrm>
            <a:off x="9944586" y="685712"/>
            <a:ext cx="1676356" cy="28553"/>
          </a:xfrm>
          <a:prstGeom prst="rect">
            <a:avLst/>
          </a:prstGeom>
          <a:solidFill>
            <a:srgbClr val="5CC8F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Why India, why now?</a:t>
            </a:r>
            <a:endParaRPr lang="en-US" sz="5100" dirty="0"/>
          </a:p>
        </p:txBody>
      </p:sp>
      <p:sp>
        <p:nvSpPr>
          <p:cNvPr id="15" name="Text 12"/>
          <p:cNvSpPr/>
          <p:nvPr/>
        </p:nvSpPr>
        <p:spPr>
          <a:xfrm>
            <a:off x="1066712" y="2743200"/>
            <a:ext cx="8040047" cy="3657600"/>
          </a:xfrm>
          <a:prstGeom prst="rect">
            <a:avLst/>
          </a:prstGeom>
          <a:noFill/>
          <a:ln/>
        </p:spPr>
        <p:txBody>
          <a:bodyPr wrap="square" lIns="25400" tIns="25400" rIns="25400" bIns="25400" rtlCol="0" anchor="t">
            <a:normAutofit/>
          </a:bodyPr>
          <a:lstStyle/>
          <a:p>
            <a:pPr marL="0" indent="0" algn="l">
              <a:lnSpc>
                <a:spcPct val="109789"/>
              </a:lnSpc>
              <a:buNone/>
            </a:pPr>
            <a:r>
              <a:rPr lang="en-US" sz="2700" dirty="0">
                <a:solidFill>
                  <a:srgbClr val="E6EDF5"/>
                </a:solidFill>
                <a:latin typeface="Arial" pitchFamily="34" charset="0"/>
                <a:ea typeface="Arial" pitchFamily="34" charset="-122"/>
                <a:cs typeface="Arial" pitchFamily="34" charset="-120"/>
              </a:rPr>
              <a:t>India already has the foundations of Space Situational Awareness. ANTARIKSHA-RAKSHA explores how an </a:t>
            </a:r>
            <a:r>
              <a:rPr lang="en-US" sz="2700" dirty="0">
                <a:solidFill>
                  <a:srgbClr val="5CC8F0"/>
                </a:solidFill>
                <a:latin typeface="Arial" pitchFamily="34" charset="0"/>
                <a:ea typeface="Arial" pitchFamily="34" charset="-122"/>
                <a:cs typeface="Arial" pitchFamily="34" charset="-120"/>
              </a:rPr>
              <a:t>explainable, human-gated decision-support layer</a:t>
            </a:r>
            <a:r>
              <a:rPr lang="en-US" sz="2700" dirty="0">
                <a:solidFill>
                  <a:srgbClr val="E6EDF5"/>
                </a:solidFill>
                <a:latin typeface="Arial" pitchFamily="34" charset="0"/>
                <a:ea typeface="Arial" pitchFamily="34" charset="-122"/>
                <a:cs typeface="Arial" pitchFamily="34" charset="-120"/>
              </a:rPr>
              <a:t> could help scale the analyst experience as India's space ecosystem and orbital complexity grow.</a:t>
            </a:r>
            <a:endParaRPr lang="en-US" sz="4050" dirty="0"/>
          </a:p>
        </p:txBody>
      </p:sp>
      <p:sp>
        <p:nvSpPr>
          <p:cNvPr id="16" name="Text 13"/>
          <p:cNvSpPr/>
          <p:nvPr/>
        </p:nvSpPr>
        <p:spPr>
          <a:xfrm>
            <a:off x="1066712" y="6720840"/>
            <a:ext cx="8586216"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AABF"/>
                </a:solidFill>
                <a:latin typeface="Courier New" pitchFamily="34" charset="0"/>
                <a:ea typeface="Courier New" pitchFamily="34" charset="-122"/>
                <a:cs typeface="Courier New" pitchFamily="34" charset="-120"/>
              </a:rPr>
              <a:t>COMPLEMENTARY TO NATIONAL SSA · NOT A REPLACEMENT</a:t>
            </a:r>
            <a:endParaRPr lang="en-US" sz="1800" dirty="0"/>
          </a:p>
        </p:txBody>
      </p:sp>
      <p:sp>
        <p:nvSpPr>
          <p:cNvPr id="17" name="Shape 14"/>
          <p:cNvSpPr/>
          <p:nvPr/>
        </p:nvSpPr>
        <p:spPr>
          <a:xfrm>
            <a:off x="9786939" y="2697480"/>
            <a:ext cx="7434131" cy="9525"/>
          </a:xfrm>
          <a:prstGeom prst="rect">
            <a:avLst/>
          </a:prstGeom>
          <a:solidFill>
            <a:srgbClr val="22344F"/>
          </a:solidFill>
          <a:ln/>
        </p:spPr>
        <p:txBody>
          <a:bodyPr/>
          <a:lstStyle/>
          <a:p>
            <a:endParaRPr/>
          </a:p>
        </p:txBody>
      </p:sp>
      <p:sp>
        <p:nvSpPr>
          <p:cNvPr id="18" name="Text 15"/>
          <p:cNvSpPr/>
          <p:nvPr/>
        </p:nvSpPr>
        <p:spPr>
          <a:xfrm>
            <a:off x="9786939" y="2926080"/>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01</a:t>
            </a:r>
            <a:endParaRPr lang="en-US" sz="3600" dirty="0"/>
          </a:p>
        </p:txBody>
      </p:sp>
      <p:sp>
        <p:nvSpPr>
          <p:cNvPr id="19" name="Text 16"/>
          <p:cNvSpPr/>
          <p:nvPr/>
        </p:nvSpPr>
        <p:spPr>
          <a:xfrm>
            <a:off x="10948791" y="2926080"/>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India's space ecosystem is expanding</a:t>
            </a:r>
            <a:endParaRPr lang="en-US" sz="2700" dirty="0"/>
          </a:p>
        </p:txBody>
      </p:sp>
      <p:sp>
        <p:nvSpPr>
          <p:cNvPr id="20" name="Text 17"/>
          <p:cNvSpPr/>
          <p:nvPr/>
        </p:nvSpPr>
        <p:spPr>
          <a:xfrm>
            <a:off x="10948791" y="3447288"/>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More missions, more operators, more activity</a:t>
            </a:r>
            <a:endParaRPr lang="en-US" sz="2025" dirty="0"/>
          </a:p>
        </p:txBody>
      </p:sp>
      <p:sp>
        <p:nvSpPr>
          <p:cNvPr id="21" name="Shape 18"/>
          <p:cNvSpPr/>
          <p:nvPr/>
        </p:nvSpPr>
        <p:spPr>
          <a:xfrm>
            <a:off x="9786939" y="3977639"/>
            <a:ext cx="7434131" cy="9525"/>
          </a:xfrm>
          <a:prstGeom prst="rect">
            <a:avLst/>
          </a:prstGeom>
          <a:solidFill>
            <a:srgbClr val="22344F"/>
          </a:solidFill>
          <a:ln/>
        </p:spPr>
        <p:txBody>
          <a:bodyPr/>
          <a:lstStyle/>
          <a:p>
            <a:endParaRPr/>
          </a:p>
        </p:txBody>
      </p:sp>
      <p:sp>
        <p:nvSpPr>
          <p:cNvPr id="22" name="Text 19"/>
          <p:cNvSpPr/>
          <p:nvPr/>
        </p:nvSpPr>
        <p:spPr>
          <a:xfrm>
            <a:off x="9786939" y="4206240"/>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02</a:t>
            </a:r>
            <a:endParaRPr lang="en-US" sz="3600" dirty="0"/>
          </a:p>
        </p:txBody>
      </p:sp>
      <p:sp>
        <p:nvSpPr>
          <p:cNvPr id="23" name="Text 20"/>
          <p:cNvSpPr/>
          <p:nvPr/>
        </p:nvSpPr>
        <p:spPr>
          <a:xfrm>
            <a:off x="10948791" y="4206240"/>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Orbital congestion is increasing</a:t>
            </a:r>
            <a:endParaRPr lang="en-US" sz="2700" dirty="0"/>
          </a:p>
        </p:txBody>
      </p:sp>
      <p:sp>
        <p:nvSpPr>
          <p:cNvPr id="24" name="Text 21"/>
          <p:cNvSpPr/>
          <p:nvPr/>
        </p:nvSpPr>
        <p:spPr>
          <a:xfrm>
            <a:off x="10948791" y="4727448"/>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Space-traffic complexity keeps growing</a:t>
            </a:r>
            <a:endParaRPr lang="en-US" sz="2025" dirty="0"/>
          </a:p>
        </p:txBody>
      </p:sp>
      <p:sp>
        <p:nvSpPr>
          <p:cNvPr id="25" name="Shape 22"/>
          <p:cNvSpPr/>
          <p:nvPr/>
        </p:nvSpPr>
        <p:spPr>
          <a:xfrm>
            <a:off x="9786939" y="6537959"/>
            <a:ext cx="7434131" cy="9525"/>
          </a:xfrm>
          <a:prstGeom prst="rect">
            <a:avLst/>
          </a:prstGeom>
          <a:solidFill>
            <a:srgbClr val="22344F"/>
          </a:solidFill>
          <a:ln/>
        </p:spPr>
        <p:txBody>
          <a:bodyPr/>
          <a:lstStyle/>
          <a:p>
            <a:endParaRPr/>
          </a:p>
        </p:txBody>
      </p:sp>
      <p:sp>
        <p:nvSpPr>
          <p:cNvPr id="26" name="Shape 23"/>
          <p:cNvSpPr/>
          <p:nvPr/>
        </p:nvSpPr>
        <p:spPr>
          <a:xfrm>
            <a:off x="9786939" y="5257800"/>
            <a:ext cx="7434131" cy="9525"/>
          </a:xfrm>
          <a:prstGeom prst="rect">
            <a:avLst/>
          </a:prstGeom>
          <a:solidFill>
            <a:srgbClr val="22344F"/>
          </a:solidFill>
          <a:ln/>
        </p:spPr>
        <p:txBody>
          <a:bodyPr/>
          <a:lstStyle/>
          <a:p>
            <a:endParaRPr/>
          </a:p>
        </p:txBody>
      </p:sp>
      <p:sp>
        <p:nvSpPr>
          <p:cNvPr id="27" name="Text 24"/>
          <p:cNvSpPr/>
          <p:nvPr/>
        </p:nvSpPr>
        <p:spPr>
          <a:xfrm>
            <a:off x="9786939" y="5486400"/>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03</a:t>
            </a:r>
            <a:endParaRPr lang="en-US" sz="3600" dirty="0"/>
          </a:p>
        </p:txBody>
      </p:sp>
      <p:sp>
        <p:nvSpPr>
          <p:cNvPr id="28" name="Text 25"/>
          <p:cNvSpPr/>
          <p:nvPr/>
        </p:nvSpPr>
        <p:spPr>
          <a:xfrm>
            <a:off x="10948791" y="5486400"/>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Space assets matter more</a:t>
            </a:r>
            <a:endParaRPr lang="en-US" sz="2700" dirty="0"/>
          </a:p>
        </p:txBody>
      </p:sp>
      <p:sp>
        <p:nvSpPr>
          <p:cNvPr id="29" name="Text 26"/>
          <p:cNvSpPr/>
          <p:nvPr/>
        </p:nvSpPr>
        <p:spPr>
          <a:xfrm>
            <a:off x="10948791" y="6007608"/>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To development and to national security</a:t>
            </a:r>
            <a:endParaRPr lang="en-US" sz="2025" dirty="0"/>
          </a:p>
        </p:txBody>
      </p:sp>
      <p:sp>
        <p:nvSpPr>
          <p:cNvPr id="30" name="Shape 27"/>
          <p:cNvSpPr/>
          <p:nvPr/>
        </p:nvSpPr>
        <p:spPr>
          <a:xfrm>
            <a:off x="1066712" y="9629181"/>
            <a:ext cx="190390" cy="28553"/>
          </a:xfrm>
          <a:prstGeom prst="rect">
            <a:avLst/>
          </a:prstGeom>
          <a:solidFill>
            <a:srgbClr val="FF9933"/>
          </a:solidFill>
          <a:ln/>
        </p:spPr>
        <p:txBody>
          <a:bodyPr/>
          <a:lstStyle/>
          <a:p>
            <a:endParaRPr/>
          </a:p>
        </p:txBody>
      </p:sp>
      <p:sp>
        <p:nvSpPr>
          <p:cNvPr id="31" name="Shape 28"/>
          <p:cNvSpPr/>
          <p:nvPr/>
        </p:nvSpPr>
        <p:spPr>
          <a:xfrm>
            <a:off x="1257102" y="9629181"/>
            <a:ext cx="190390" cy="28553"/>
          </a:xfrm>
          <a:prstGeom prst="rect">
            <a:avLst/>
          </a:prstGeom>
          <a:solidFill>
            <a:srgbClr val="F2F2F2"/>
          </a:solidFill>
          <a:ln/>
        </p:spPr>
        <p:txBody>
          <a:bodyPr/>
          <a:lstStyle/>
          <a:p>
            <a:endParaRPr/>
          </a:p>
        </p:txBody>
      </p:sp>
      <p:sp>
        <p:nvSpPr>
          <p:cNvPr id="32" name="Shape 29"/>
          <p:cNvSpPr/>
          <p:nvPr/>
        </p:nvSpPr>
        <p:spPr>
          <a:xfrm>
            <a:off x="1447491" y="9629181"/>
            <a:ext cx="190390" cy="28553"/>
          </a:xfrm>
          <a:prstGeom prst="rect">
            <a:avLst/>
          </a:prstGeom>
          <a:solidFill>
            <a:srgbClr val="1FA84A"/>
          </a:solidFill>
          <a:ln/>
        </p:spPr>
        <p:txBody>
          <a:bodyPr/>
          <a:lstStyle/>
          <a:p>
            <a:endParaRPr/>
          </a:p>
        </p:txBody>
      </p:sp>
      <p:sp>
        <p:nvSpPr>
          <p:cNvPr id="33" name="Text 30"/>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34" name="Text 31"/>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04 / 15</a:t>
            </a:r>
            <a:endParaRPr lang="en-US" sz="1800" dirty="0"/>
          </a:p>
        </p:txBody>
      </p:sp>
      <p:sp>
        <p:nvSpPr>
          <p:cNvPr id="35" name="Shape 14"/>
          <p:cNvSpPr/>
          <p:nvPr/>
        </p:nvSpPr>
        <p:spPr>
          <a:xfrm>
            <a:off x="9786939" y="7818120"/>
            <a:ext cx="7434131" cy="9525"/>
          </a:xfrm>
          <a:prstGeom prst="rect">
            <a:avLst/>
          </a:prstGeom>
          <a:solidFill>
            <a:srgbClr val="22344F"/>
          </a:solidFill>
          <a:ln/>
        </p:spPr>
        <p:txBody>
          <a:bodyPr/>
          <a:lstStyle/>
          <a:p>
            <a:endParaRPr/>
          </a:p>
        </p:txBody>
      </p:sp>
      <p:sp>
        <p:nvSpPr>
          <p:cNvPr id="36" name="Text 24"/>
          <p:cNvSpPr/>
          <p:nvPr/>
        </p:nvSpPr>
        <p:spPr>
          <a:xfrm>
            <a:off x="9786939" y="6766559"/>
            <a:ext cx="1123840" cy="890389"/>
          </a:xfrm>
          <a:prstGeom prst="rect">
            <a:avLst/>
          </a:prstGeom>
          <a:noFill/>
          <a:ln/>
        </p:spPr>
        <p:txBody>
          <a:bodyPr wrap="square" lIns="25400" tIns="25400" rIns="25400" bIns="25400" rtlCol="0" anchor="t">
            <a:normAutofit/>
          </a:bodyPr>
          <a:lstStyle/>
          <a:p>
            <a:pPr marL="0" indent="0" algn="l">
              <a:lnSpc>
                <a:spcPct val="88767"/>
              </a:lnSpc>
              <a:buNone/>
            </a:pPr>
            <a:r>
              <a:rPr lang="en-US" sz="3600" dirty="0">
                <a:solidFill>
                  <a:srgbClr val="5CC8F0"/>
                </a:solidFill>
                <a:latin typeface="Courier New" pitchFamily="34" charset="0"/>
                <a:ea typeface="Courier New" pitchFamily="34" charset="-122"/>
                <a:cs typeface="Courier New" pitchFamily="34" charset="-120"/>
              </a:rPr>
              <a:t>04</a:t>
            </a:r>
            <a:endParaRPr lang="en-US" sz="3600" dirty="0"/>
          </a:p>
        </p:txBody>
      </p:sp>
      <p:sp>
        <p:nvSpPr>
          <p:cNvPr id="37" name="Text 25"/>
          <p:cNvSpPr/>
          <p:nvPr/>
        </p:nvSpPr>
        <p:spPr>
          <a:xfrm>
            <a:off x="10948791" y="6766559"/>
            <a:ext cx="6899507" cy="482600"/>
          </a:xfrm>
          <a:prstGeom prst="rect">
            <a:avLst/>
          </a:prstGeom>
          <a:noFill/>
          <a:ln/>
        </p:spPr>
        <p:txBody>
          <a:bodyPr wrap="square" lIns="25400" tIns="25400" rIns="25400" bIns="25400" rtlCol="0" anchor="t">
            <a:normAutofit/>
          </a:bodyPr>
          <a:lstStyle/>
          <a:p>
            <a:pPr marL="0" indent="0" algn="l">
              <a:buNone/>
            </a:pPr>
            <a:r>
              <a:rPr lang="en-US" sz="2700" dirty="0">
                <a:solidFill>
                  <a:srgbClr val="E6EDF5"/>
                </a:solidFill>
                <a:latin typeface="Arial" pitchFamily="34" charset="0"/>
                <a:ea typeface="Arial" pitchFamily="34" charset="-122"/>
                <a:cs typeface="Arial" pitchFamily="34" charset="-120"/>
              </a:rPr>
              <a:t>Safe operations need capable support</a:t>
            </a:r>
            <a:endParaRPr lang="en-US" sz="2700" dirty="0"/>
          </a:p>
        </p:txBody>
      </p:sp>
      <p:sp>
        <p:nvSpPr>
          <p:cNvPr id="38" name="Text 26"/>
          <p:cNvSpPr/>
          <p:nvPr/>
        </p:nvSpPr>
        <p:spPr>
          <a:xfrm>
            <a:off x="10948791" y="7287768"/>
            <a:ext cx="6899507" cy="369711"/>
          </a:xfrm>
          <a:prstGeom prst="rect">
            <a:avLst/>
          </a:prstGeom>
          <a:noFill/>
          <a:ln/>
        </p:spPr>
        <p:txBody>
          <a:bodyPr wrap="square" lIns="25400" tIns="25400" rIns="25400" bIns="25400" rtlCol="0" anchor="t">
            <a:normAutofit/>
          </a:bodyPr>
          <a:lstStyle/>
          <a:p>
            <a:pPr marL="0" indent="0" algn="l">
              <a:buNone/>
            </a:pPr>
            <a:r>
              <a:rPr lang="en-US" sz="2025" dirty="0">
                <a:solidFill>
                  <a:srgbClr val="9AAABF"/>
                </a:solidFill>
                <a:latin typeface="Arial" pitchFamily="34" charset="0"/>
                <a:ea typeface="Arial" pitchFamily="34" charset="-122"/>
                <a:cs typeface="Arial" pitchFamily="34" charset="-120"/>
              </a:rPr>
              <a:t>Explainable, human-gated decision support</a:t>
            </a:r>
            <a:endParaRPr lang="en-US" sz="2025" dirty="0"/>
          </a:p>
        </p:txBody>
      </p:sp>
      <p:pic>
        <p:nvPicPr>
          <p:cNvPr id="39" name="Narration slide 4">
            <a:hlinkClick r:id="" action="ppaction://media"/>
            <a:extLst>
              <a:ext uri="{FF2B5EF4-FFF2-40B4-BE49-F238E27FC236}">
                <a16:creationId xmlns:a16="http://schemas.microsoft.com/office/drawing/2014/main" id="{FE3E2061-05BC-54A5-C10B-5115F7E8FB5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44"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05</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4278798"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THE SEVEN-STEP WORKFLOW</a:t>
            </a:r>
            <a:endParaRPr lang="en-US" sz="1800" dirty="0"/>
          </a:p>
        </p:txBody>
      </p:sp>
      <p:sp>
        <p:nvSpPr>
          <p:cNvPr id="6" name="Shape 3"/>
          <p:cNvSpPr/>
          <p:nvPr/>
        </p:nvSpPr>
        <p:spPr>
          <a:xfrm>
            <a:off x="9944586" y="685712"/>
            <a:ext cx="1676356" cy="28553"/>
          </a:xfrm>
          <a:prstGeom prst="rect">
            <a:avLst/>
          </a:prstGeom>
          <a:solidFill>
            <a:srgbClr val="5CC8F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Which questions must the system answer?</a:t>
            </a:r>
            <a:endParaRPr lang="en-US" sz="5100" dirty="0"/>
          </a:p>
        </p:txBody>
      </p:sp>
      <p:sp>
        <p:nvSpPr>
          <p:cNvPr id="15" name="Shape 12"/>
          <p:cNvSpPr/>
          <p:nvPr/>
        </p:nvSpPr>
        <p:spPr>
          <a:xfrm>
            <a:off x="1066712" y="2643298"/>
            <a:ext cx="2193506" cy="5733191"/>
          </a:xfrm>
          <a:prstGeom prst="rect">
            <a:avLst/>
          </a:prstGeom>
          <a:solidFill>
            <a:srgbClr val="091221">
              <a:alpha val="85000"/>
            </a:srgbClr>
          </a:solidFill>
          <a:ln w="7056">
            <a:solidFill>
              <a:srgbClr val="22344F"/>
            </a:solidFill>
            <a:prstDash val="solid"/>
          </a:ln>
        </p:spPr>
        <p:txBody>
          <a:bodyPr/>
          <a:lstStyle/>
          <a:p>
            <a:endParaRPr/>
          </a:p>
        </p:txBody>
      </p:sp>
      <p:sp>
        <p:nvSpPr>
          <p:cNvPr id="16" name="Text 13"/>
          <p:cNvSpPr/>
          <p:nvPr/>
        </p:nvSpPr>
        <p:spPr>
          <a:xfrm>
            <a:off x="1283229" y="2917032"/>
            <a:ext cx="1936519"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01</a:t>
            </a:r>
            <a:endParaRPr lang="en-US" sz="1800" dirty="0"/>
          </a:p>
        </p:txBody>
      </p:sp>
      <p:sp>
        <p:nvSpPr>
          <p:cNvPr id="17" name="Text 14"/>
          <p:cNvSpPr/>
          <p:nvPr/>
        </p:nvSpPr>
        <p:spPr>
          <a:xfrm>
            <a:off x="1283229" y="3346649"/>
            <a:ext cx="1936519"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SEE</a:t>
            </a:r>
            <a:endParaRPr lang="en-US" sz="1950" dirty="0"/>
          </a:p>
        </p:txBody>
      </p:sp>
      <p:sp>
        <p:nvSpPr>
          <p:cNvPr id="18" name="Text 15"/>
          <p:cNvSpPr/>
          <p:nvPr/>
        </p:nvSpPr>
        <p:spPr>
          <a:xfrm>
            <a:off x="1283229" y="6988529"/>
            <a:ext cx="1836672" cy="1152327"/>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Which objects matter?</a:t>
            </a:r>
            <a:endParaRPr lang="en-US" sz="2250" dirty="0"/>
          </a:p>
        </p:txBody>
      </p:sp>
      <p:sp>
        <p:nvSpPr>
          <p:cNvPr id="19" name="Shape 16"/>
          <p:cNvSpPr/>
          <p:nvPr/>
        </p:nvSpPr>
        <p:spPr>
          <a:xfrm>
            <a:off x="3393502" y="2643298"/>
            <a:ext cx="2193506" cy="5733191"/>
          </a:xfrm>
          <a:prstGeom prst="rect">
            <a:avLst/>
          </a:prstGeom>
          <a:solidFill>
            <a:srgbClr val="091221">
              <a:alpha val="85000"/>
            </a:srgbClr>
          </a:solidFill>
          <a:ln w="7056">
            <a:solidFill>
              <a:srgbClr val="22344F"/>
            </a:solidFill>
            <a:prstDash val="solid"/>
          </a:ln>
        </p:spPr>
        <p:txBody>
          <a:bodyPr/>
          <a:lstStyle/>
          <a:p>
            <a:endParaRPr/>
          </a:p>
        </p:txBody>
      </p:sp>
      <p:sp>
        <p:nvSpPr>
          <p:cNvPr id="20" name="Text 17"/>
          <p:cNvSpPr/>
          <p:nvPr/>
        </p:nvSpPr>
        <p:spPr>
          <a:xfrm>
            <a:off x="3610019" y="2917032"/>
            <a:ext cx="1936519"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02</a:t>
            </a:r>
            <a:endParaRPr lang="en-US" sz="1800" dirty="0"/>
          </a:p>
        </p:txBody>
      </p:sp>
      <p:sp>
        <p:nvSpPr>
          <p:cNvPr id="21" name="Text 18"/>
          <p:cNvSpPr/>
          <p:nvPr/>
        </p:nvSpPr>
        <p:spPr>
          <a:xfrm>
            <a:off x="3610019" y="3346649"/>
            <a:ext cx="1936519"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PREDICT</a:t>
            </a:r>
            <a:endParaRPr lang="en-US" sz="1950" dirty="0"/>
          </a:p>
        </p:txBody>
      </p:sp>
      <p:sp>
        <p:nvSpPr>
          <p:cNvPr id="22" name="Text 19"/>
          <p:cNvSpPr/>
          <p:nvPr/>
        </p:nvSpPr>
        <p:spPr>
          <a:xfrm>
            <a:off x="3610019" y="6988529"/>
            <a:ext cx="1836672" cy="1152327"/>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When will they come closest?</a:t>
            </a:r>
            <a:endParaRPr lang="en-US" sz="2250" dirty="0"/>
          </a:p>
        </p:txBody>
      </p:sp>
      <p:sp>
        <p:nvSpPr>
          <p:cNvPr id="23" name="Shape 20"/>
          <p:cNvSpPr/>
          <p:nvPr/>
        </p:nvSpPr>
        <p:spPr>
          <a:xfrm>
            <a:off x="5720292" y="2643298"/>
            <a:ext cx="2193506" cy="5733191"/>
          </a:xfrm>
          <a:prstGeom prst="rect">
            <a:avLst/>
          </a:prstGeom>
          <a:solidFill>
            <a:srgbClr val="091221">
              <a:alpha val="85000"/>
            </a:srgbClr>
          </a:solidFill>
          <a:ln w="7056">
            <a:solidFill>
              <a:srgbClr val="22344F"/>
            </a:solidFill>
            <a:prstDash val="solid"/>
          </a:ln>
        </p:spPr>
        <p:txBody>
          <a:bodyPr/>
          <a:lstStyle/>
          <a:p>
            <a:endParaRPr/>
          </a:p>
        </p:txBody>
      </p:sp>
      <p:sp>
        <p:nvSpPr>
          <p:cNvPr id="24" name="Text 21"/>
          <p:cNvSpPr/>
          <p:nvPr/>
        </p:nvSpPr>
        <p:spPr>
          <a:xfrm>
            <a:off x="5936810" y="2917032"/>
            <a:ext cx="1936519"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03</a:t>
            </a:r>
            <a:endParaRPr lang="en-US" sz="1800" dirty="0"/>
          </a:p>
        </p:txBody>
      </p:sp>
      <p:sp>
        <p:nvSpPr>
          <p:cNvPr id="25" name="Text 22"/>
          <p:cNvSpPr/>
          <p:nvPr/>
        </p:nvSpPr>
        <p:spPr>
          <a:xfrm>
            <a:off x="5936810" y="3346649"/>
            <a:ext cx="1936519"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DETECT</a:t>
            </a:r>
            <a:endParaRPr lang="en-US" sz="1950" dirty="0"/>
          </a:p>
        </p:txBody>
      </p:sp>
      <p:sp>
        <p:nvSpPr>
          <p:cNvPr id="26" name="Text 23"/>
          <p:cNvSpPr/>
          <p:nvPr/>
        </p:nvSpPr>
        <p:spPr>
          <a:xfrm>
            <a:off x="5936810" y="7359937"/>
            <a:ext cx="1836672" cy="780918"/>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How close will they be?</a:t>
            </a:r>
            <a:endParaRPr lang="en-US" sz="2250" dirty="0"/>
          </a:p>
        </p:txBody>
      </p:sp>
      <p:sp>
        <p:nvSpPr>
          <p:cNvPr id="27" name="Shape 24"/>
          <p:cNvSpPr/>
          <p:nvPr/>
        </p:nvSpPr>
        <p:spPr>
          <a:xfrm>
            <a:off x="8047083" y="2643298"/>
            <a:ext cx="2193617" cy="5733191"/>
          </a:xfrm>
          <a:prstGeom prst="rect">
            <a:avLst/>
          </a:prstGeom>
          <a:solidFill>
            <a:srgbClr val="091221">
              <a:alpha val="85000"/>
            </a:srgbClr>
          </a:solidFill>
          <a:ln w="7056">
            <a:solidFill>
              <a:srgbClr val="22344F"/>
            </a:solidFill>
            <a:prstDash val="solid"/>
          </a:ln>
        </p:spPr>
        <p:txBody>
          <a:bodyPr/>
          <a:lstStyle/>
          <a:p>
            <a:endParaRPr/>
          </a:p>
        </p:txBody>
      </p:sp>
      <p:sp>
        <p:nvSpPr>
          <p:cNvPr id="28" name="Text 25"/>
          <p:cNvSpPr/>
          <p:nvPr/>
        </p:nvSpPr>
        <p:spPr>
          <a:xfrm>
            <a:off x="8263600" y="2917032"/>
            <a:ext cx="1936640"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04</a:t>
            </a:r>
            <a:endParaRPr lang="en-US" sz="1800" dirty="0"/>
          </a:p>
        </p:txBody>
      </p:sp>
      <p:sp>
        <p:nvSpPr>
          <p:cNvPr id="29" name="Text 26"/>
          <p:cNvSpPr/>
          <p:nvPr/>
        </p:nvSpPr>
        <p:spPr>
          <a:xfrm>
            <a:off x="8263600" y="3346649"/>
            <a:ext cx="1936640"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UNDERSTAND</a:t>
            </a:r>
            <a:endParaRPr lang="en-US" sz="1950" dirty="0"/>
          </a:p>
        </p:txBody>
      </p:sp>
      <p:sp>
        <p:nvSpPr>
          <p:cNvPr id="30" name="Text 27"/>
          <p:cNvSpPr/>
          <p:nvPr/>
        </p:nvSpPr>
        <p:spPr>
          <a:xfrm>
            <a:off x="8263600" y="6988529"/>
            <a:ext cx="1836782" cy="1152327"/>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What is the estimated risk?</a:t>
            </a:r>
            <a:endParaRPr lang="en-US" sz="2250" dirty="0"/>
          </a:p>
        </p:txBody>
      </p:sp>
      <p:sp>
        <p:nvSpPr>
          <p:cNvPr id="31" name="Shape 28"/>
          <p:cNvSpPr/>
          <p:nvPr/>
        </p:nvSpPr>
        <p:spPr>
          <a:xfrm>
            <a:off x="10373983" y="2643298"/>
            <a:ext cx="2193506" cy="5733191"/>
          </a:xfrm>
          <a:prstGeom prst="rect">
            <a:avLst/>
          </a:prstGeom>
          <a:solidFill>
            <a:srgbClr val="091221">
              <a:alpha val="85000"/>
            </a:srgbClr>
          </a:solidFill>
          <a:ln w="7056">
            <a:solidFill>
              <a:srgbClr val="22344F"/>
            </a:solidFill>
            <a:prstDash val="solid"/>
          </a:ln>
        </p:spPr>
        <p:txBody>
          <a:bodyPr/>
          <a:lstStyle/>
          <a:p>
            <a:endParaRPr/>
          </a:p>
        </p:txBody>
      </p:sp>
      <p:sp>
        <p:nvSpPr>
          <p:cNvPr id="32" name="Text 29"/>
          <p:cNvSpPr/>
          <p:nvPr/>
        </p:nvSpPr>
        <p:spPr>
          <a:xfrm>
            <a:off x="10590500" y="2917032"/>
            <a:ext cx="1936519"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05</a:t>
            </a:r>
            <a:endParaRPr lang="en-US" sz="1800" dirty="0"/>
          </a:p>
        </p:txBody>
      </p:sp>
      <p:sp>
        <p:nvSpPr>
          <p:cNvPr id="33" name="Text 30"/>
          <p:cNvSpPr/>
          <p:nvPr/>
        </p:nvSpPr>
        <p:spPr>
          <a:xfrm>
            <a:off x="10590500" y="3346649"/>
            <a:ext cx="1936519"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PRIORITISE</a:t>
            </a:r>
            <a:endParaRPr lang="en-US" sz="1950" dirty="0"/>
          </a:p>
        </p:txBody>
      </p:sp>
      <p:sp>
        <p:nvSpPr>
          <p:cNvPr id="34" name="Text 31"/>
          <p:cNvSpPr/>
          <p:nvPr/>
        </p:nvSpPr>
        <p:spPr>
          <a:xfrm>
            <a:off x="10590500" y="7359937"/>
            <a:ext cx="1836672" cy="780918"/>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Which event comes first?</a:t>
            </a:r>
            <a:endParaRPr lang="en-US" sz="2250" dirty="0"/>
          </a:p>
        </p:txBody>
      </p:sp>
      <p:sp>
        <p:nvSpPr>
          <p:cNvPr id="35" name="Shape 32"/>
          <p:cNvSpPr/>
          <p:nvPr/>
        </p:nvSpPr>
        <p:spPr>
          <a:xfrm>
            <a:off x="12700774" y="2643298"/>
            <a:ext cx="2193506" cy="5733191"/>
          </a:xfrm>
          <a:prstGeom prst="rect">
            <a:avLst/>
          </a:prstGeom>
          <a:solidFill>
            <a:srgbClr val="091221">
              <a:alpha val="85000"/>
            </a:srgbClr>
          </a:solidFill>
          <a:ln w="7056">
            <a:solidFill>
              <a:srgbClr val="22344F"/>
            </a:solidFill>
            <a:prstDash val="solid"/>
          </a:ln>
        </p:spPr>
        <p:txBody>
          <a:bodyPr/>
          <a:lstStyle/>
          <a:p>
            <a:endParaRPr/>
          </a:p>
        </p:txBody>
      </p:sp>
      <p:sp>
        <p:nvSpPr>
          <p:cNvPr id="36" name="Text 33"/>
          <p:cNvSpPr/>
          <p:nvPr/>
        </p:nvSpPr>
        <p:spPr>
          <a:xfrm>
            <a:off x="12917291" y="2917032"/>
            <a:ext cx="1936519"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Courier New" pitchFamily="34" charset="0"/>
                <a:ea typeface="Courier New" pitchFamily="34" charset="-122"/>
                <a:cs typeface="Courier New" pitchFamily="34" charset="-120"/>
              </a:rPr>
              <a:t>06</a:t>
            </a:r>
            <a:endParaRPr lang="en-US" sz="1800" dirty="0"/>
          </a:p>
        </p:txBody>
      </p:sp>
      <p:sp>
        <p:nvSpPr>
          <p:cNvPr id="37" name="Text 34"/>
          <p:cNvSpPr/>
          <p:nvPr/>
        </p:nvSpPr>
        <p:spPr>
          <a:xfrm>
            <a:off x="12917291" y="3346649"/>
            <a:ext cx="1936519" cy="362656"/>
          </a:xfrm>
          <a:prstGeom prst="rect">
            <a:avLst/>
          </a:prstGeom>
          <a:noFill/>
          <a:ln/>
        </p:spPr>
        <p:txBody>
          <a:bodyPr wrap="square" lIns="25400" tIns="25400" rIns="25400" bIns="25400" rtlCol="0" anchor="t">
            <a:normAutofit/>
          </a:bodyPr>
          <a:lstStyle/>
          <a:p>
            <a:pPr marL="0" indent="0" algn="l">
              <a:buNone/>
            </a:pPr>
            <a:r>
              <a:rPr lang="en-US" sz="1950" dirty="0">
                <a:solidFill>
                  <a:srgbClr val="5CC8F0"/>
                </a:solidFill>
                <a:latin typeface="Courier New" pitchFamily="34" charset="0"/>
                <a:ea typeface="Courier New" pitchFamily="34" charset="-122"/>
                <a:cs typeface="Courier New" pitchFamily="34" charset="-120"/>
              </a:rPr>
              <a:t>EXPLAIN</a:t>
            </a:r>
            <a:endParaRPr lang="en-US" sz="1950" dirty="0"/>
          </a:p>
        </p:txBody>
      </p:sp>
      <p:sp>
        <p:nvSpPr>
          <p:cNvPr id="38" name="Text 35"/>
          <p:cNvSpPr/>
          <p:nvPr/>
        </p:nvSpPr>
        <p:spPr>
          <a:xfrm>
            <a:off x="12917291" y="6988529"/>
            <a:ext cx="1836672" cy="1152327"/>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E6EDF5"/>
                </a:solidFill>
                <a:latin typeface="Arial" pitchFamily="34" charset="0"/>
                <a:ea typeface="Arial" pitchFamily="34" charset="-122"/>
                <a:cs typeface="Arial" pitchFamily="34" charset="-120"/>
              </a:rPr>
              <a:t>How is the evidence explained?</a:t>
            </a:r>
            <a:endParaRPr lang="en-US" sz="2250" dirty="0"/>
          </a:p>
        </p:txBody>
      </p:sp>
      <p:sp>
        <p:nvSpPr>
          <p:cNvPr id="39" name="Shape 36"/>
          <p:cNvSpPr/>
          <p:nvPr/>
        </p:nvSpPr>
        <p:spPr>
          <a:xfrm>
            <a:off x="15027564" y="2643298"/>
            <a:ext cx="2193506" cy="5733191"/>
          </a:xfrm>
          <a:prstGeom prst="rect">
            <a:avLst/>
          </a:prstGeom>
          <a:solidFill>
            <a:srgbClr val="5CC8F0"/>
          </a:solidFill>
          <a:ln/>
          <a:effectLst>
            <a:outerShdw blurRad="571500" dist="50800" dir="16200000" algn="bl" rotWithShape="0">
              <a:srgbClr val="5CC8F0">
                <a:alpha val="30000"/>
              </a:srgbClr>
            </a:outerShdw>
          </a:effectLst>
        </p:spPr>
        <p:txBody>
          <a:bodyPr/>
          <a:lstStyle/>
          <a:p>
            <a:endParaRPr/>
          </a:p>
        </p:txBody>
      </p:sp>
      <p:sp>
        <p:nvSpPr>
          <p:cNvPr id="40" name="Text 37"/>
          <p:cNvSpPr/>
          <p:nvPr/>
        </p:nvSpPr>
        <p:spPr>
          <a:xfrm>
            <a:off x="15237026" y="2909976"/>
            <a:ext cx="195204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0E3A52"/>
                </a:solidFill>
                <a:latin typeface="Courier New" pitchFamily="34" charset="0"/>
                <a:ea typeface="Courier New" pitchFamily="34" charset="-122"/>
                <a:cs typeface="Courier New" pitchFamily="34" charset="-120"/>
              </a:rPr>
              <a:t>07</a:t>
            </a:r>
            <a:endParaRPr lang="en-US" sz="1800" dirty="0"/>
          </a:p>
        </p:txBody>
      </p:sp>
      <p:sp>
        <p:nvSpPr>
          <p:cNvPr id="41" name="Text 38"/>
          <p:cNvSpPr/>
          <p:nvPr/>
        </p:nvSpPr>
        <p:spPr>
          <a:xfrm>
            <a:off x="15237026" y="3339593"/>
            <a:ext cx="1952041" cy="362656"/>
          </a:xfrm>
          <a:prstGeom prst="rect">
            <a:avLst/>
          </a:prstGeom>
          <a:noFill/>
          <a:ln/>
        </p:spPr>
        <p:txBody>
          <a:bodyPr wrap="square" lIns="25400" tIns="25400" rIns="25400" bIns="25400" rtlCol="0" anchor="t">
            <a:normAutofit/>
          </a:bodyPr>
          <a:lstStyle/>
          <a:p>
            <a:pPr marL="0" indent="0" algn="l">
              <a:buNone/>
            </a:pPr>
            <a:r>
              <a:rPr lang="en-US" sz="1950" dirty="0">
                <a:solidFill>
                  <a:srgbClr val="050A14"/>
                </a:solidFill>
                <a:latin typeface="Courier New" pitchFamily="34" charset="0"/>
                <a:ea typeface="Courier New" pitchFamily="34" charset="-122"/>
                <a:cs typeface="Courier New" pitchFamily="34" charset="-120"/>
              </a:rPr>
              <a:t>DECIDE</a:t>
            </a:r>
            <a:endParaRPr lang="en-US" sz="1950" dirty="0"/>
          </a:p>
        </p:txBody>
      </p:sp>
      <p:sp>
        <p:nvSpPr>
          <p:cNvPr id="42" name="Text 39"/>
          <p:cNvSpPr/>
          <p:nvPr/>
        </p:nvSpPr>
        <p:spPr>
          <a:xfrm>
            <a:off x="15237026" y="6995584"/>
            <a:ext cx="1850783" cy="1152327"/>
          </a:xfrm>
          <a:prstGeom prst="rect">
            <a:avLst/>
          </a:prstGeom>
          <a:noFill/>
          <a:ln/>
        </p:spPr>
        <p:txBody>
          <a:bodyPr wrap="square" lIns="25400" tIns="25400" rIns="25400" bIns="25400" rtlCol="0" anchor="t">
            <a:normAutofit/>
          </a:bodyPr>
          <a:lstStyle/>
          <a:p>
            <a:pPr marL="0" indent="0" algn="l">
              <a:lnSpc>
                <a:spcPct val="112021"/>
              </a:lnSpc>
              <a:buNone/>
            </a:pPr>
            <a:r>
              <a:rPr lang="en-US" sz="2250" dirty="0">
                <a:solidFill>
                  <a:srgbClr val="050A14"/>
                </a:solidFill>
                <a:latin typeface="Arial" pitchFamily="34" charset="0"/>
                <a:ea typeface="Arial" pitchFamily="34" charset="-122"/>
                <a:cs typeface="Arial" pitchFamily="34" charset="-120"/>
              </a:rPr>
              <a:t>Who makes the final call? A human.</a:t>
            </a:r>
            <a:endParaRPr lang="en-US" sz="2250" dirty="0"/>
          </a:p>
        </p:txBody>
      </p:sp>
      <p:sp>
        <p:nvSpPr>
          <p:cNvPr id="43" name="Shape 40"/>
          <p:cNvSpPr/>
          <p:nvPr/>
        </p:nvSpPr>
        <p:spPr>
          <a:xfrm>
            <a:off x="1066712" y="8509773"/>
            <a:ext cx="9173987" cy="14111"/>
          </a:xfrm>
          <a:prstGeom prst="rect">
            <a:avLst/>
          </a:prstGeom>
          <a:solidFill>
            <a:srgbClr val="2A5C78"/>
          </a:solidFill>
          <a:ln/>
        </p:spPr>
        <p:txBody>
          <a:bodyPr/>
          <a:lstStyle/>
          <a:p>
            <a:endParaRPr/>
          </a:p>
        </p:txBody>
      </p:sp>
      <p:sp>
        <p:nvSpPr>
          <p:cNvPr id="44" name="Text 41"/>
          <p:cNvSpPr/>
          <p:nvPr/>
        </p:nvSpPr>
        <p:spPr>
          <a:xfrm>
            <a:off x="1066712" y="8657234"/>
            <a:ext cx="9449207" cy="334367"/>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AABF"/>
                </a:solidFill>
                <a:latin typeface="Courier New" pitchFamily="34" charset="0"/>
                <a:ea typeface="Courier New" pitchFamily="34" charset="-122"/>
                <a:cs typeface="Courier New" pitchFamily="34" charset="-120"/>
              </a:rPr>
              <a:t>PHYSICS · DETERMINISTIC</a:t>
            </a:r>
            <a:endParaRPr lang="en-US" sz="1800" dirty="0"/>
          </a:p>
        </p:txBody>
      </p:sp>
      <p:sp>
        <p:nvSpPr>
          <p:cNvPr id="45" name="Shape 42"/>
          <p:cNvSpPr/>
          <p:nvPr/>
        </p:nvSpPr>
        <p:spPr>
          <a:xfrm>
            <a:off x="10373983" y="8509773"/>
            <a:ext cx="4520296" cy="14111"/>
          </a:xfrm>
          <a:prstGeom prst="rect">
            <a:avLst/>
          </a:prstGeom>
          <a:solidFill>
            <a:srgbClr val="2A5C78"/>
          </a:solidFill>
          <a:ln/>
        </p:spPr>
        <p:txBody>
          <a:bodyPr/>
          <a:lstStyle/>
          <a:p>
            <a:endParaRPr/>
          </a:p>
        </p:txBody>
      </p:sp>
      <p:sp>
        <p:nvSpPr>
          <p:cNvPr id="46" name="Text 43"/>
          <p:cNvSpPr/>
          <p:nvPr/>
        </p:nvSpPr>
        <p:spPr>
          <a:xfrm>
            <a:off x="10373983" y="8657234"/>
            <a:ext cx="4655905" cy="334367"/>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AABF"/>
                </a:solidFill>
                <a:latin typeface="Courier New" pitchFamily="34" charset="0"/>
                <a:ea typeface="Courier New" pitchFamily="34" charset="-122"/>
                <a:cs typeface="Courier New" pitchFamily="34" charset="-120"/>
              </a:rPr>
              <a:t>RISK + AI</a:t>
            </a:r>
            <a:endParaRPr lang="en-US" sz="1800" dirty="0"/>
          </a:p>
        </p:txBody>
      </p:sp>
      <p:sp>
        <p:nvSpPr>
          <p:cNvPr id="47" name="Shape 44"/>
          <p:cNvSpPr/>
          <p:nvPr/>
        </p:nvSpPr>
        <p:spPr>
          <a:xfrm>
            <a:off x="15027564" y="8509773"/>
            <a:ext cx="2193506" cy="14111"/>
          </a:xfrm>
          <a:prstGeom prst="rect">
            <a:avLst/>
          </a:prstGeom>
          <a:solidFill>
            <a:srgbClr val="5CC8F0"/>
          </a:solidFill>
          <a:ln/>
        </p:spPr>
        <p:txBody>
          <a:bodyPr/>
          <a:lstStyle/>
          <a:p>
            <a:endParaRPr/>
          </a:p>
        </p:txBody>
      </p:sp>
      <p:sp>
        <p:nvSpPr>
          <p:cNvPr id="48" name="Text 45"/>
          <p:cNvSpPr/>
          <p:nvPr/>
        </p:nvSpPr>
        <p:spPr>
          <a:xfrm>
            <a:off x="15027564" y="8657234"/>
            <a:ext cx="2269706" cy="334367"/>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5CC8F0"/>
                </a:solidFill>
                <a:latin typeface="Courier New" pitchFamily="34" charset="0"/>
                <a:ea typeface="Courier New" pitchFamily="34" charset="-122"/>
                <a:cs typeface="Courier New" pitchFamily="34" charset="-120"/>
              </a:rPr>
              <a:t>HUMAN</a:t>
            </a:r>
            <a:endParaRPr lang="en-US" sz="1800" dirty="0"/>
          </a:p>
        </p:txBody>
      </p:sp>
      <p:sp>
        <p:nvSpPr>
          <p:cNvPr id="49" name="Shape 46"/>
          <p:cNvSpPr/>
          <p:nvPr/>
        </p:nvSpPr>
        <p:spPr>
          <a:xfrm>
            <a:off x="1066712" y="9629181"/>
            <a:ext cx="190390" cy="28553"/>
          </a:xfrm>
          <a:prstGeom prst="rect">
            <a:avLst/>
          </a:prstGeom>
          <a:solidFill>
            <a:srgbClr val="FF9933"/>
          </a:solidFill>
          <a:ln/>
        </p:spPr>
        <p:txBody>
          <a:bodyPr/>
          <a:lstStyle/>
          <a:p>
            <a:endParaRPr/>
          </a:p>
        </p:txBody>
      </p:sp>
      <p:sp>
        <p:nvSpPr>
          <p:cNvPr id="50" name="Shape 47"/>
          <p:cNvSpPr/>
          <p:nvPr/>
        </p:nvSpPr>
        <p:spPr>
          <a:xfrm>
            <a:off x="1257102" y="9629181"/>
            <a:ext cx="190390" cy="28553"/>
          </a:xfrm>
          <a:prstGeom prst="rect">
            <a:avLst/>
          </a:prstGeom>
          <a:solidFill>
            <a:srgbClr val="F2F2F2"/>
          </a:solidFill>
          <a:ln/>
        </p:spPr>
        <p:txBody>
          <a:bodyPr/>
          <a:lstStyle/>
          <a:p>
            <a:endParaRPr/>
          </a:p>
        </p:txBody>
      </p:sp>
      <p:sp>
        <p:nvSpPr>
          <p:cNvPr id="51" name="Shape 48"/>
          <p:cNvSpPr/>
          <p:nvPr/>
        </p:nvSpPr>
        <p:spPr>
          <a:xfrm>
            <a:off x="1447491" y="9629181"/>
            <a:ext cx="190390" cy="28553"/>
          </a:xfrm>
          <a:prstGeom prst="rect">
            <a:avLst/>
          </a:prstGeom>
          <a:solidFill>
            <a:srgbClr val="1FA84A"/>
          </a:solidFill>
          <a:ln/>
        </p:spPr>
        <p:txBody>
          <a:bodyPr/>
          <a:lstStyle/>
          <a:p>
            <a:endParaRPr/>
          </a:p>
        </p:txBody>
      </p:sp>
      <p:sp>
        <p:nvSpPr>
          <p:cNvPr id="52" name="Text 49"/>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3" name="Text 50"/>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05 / 15</a:t>
            </a:r>
            <a:endParaRPr lang="en-US" sz="1800" dirty="0"/>
          </a:p>
        </p:txBody>
      </p:sp>
      <p:pic>
        <p:nvPicPr>
          <p:cNvPr id="54" name="Narration slide 5">
            <a:hlinkClick r:id="" action="ppaction://media"/>
            <a:extLst>
              <a:ext uri="{FF2B5EF4-FFF2-40B4-BE49-F238E27FC236}">
                <a16:creationId xmlns:a16="http://schemas.microsoft.com/office/drawing/2014/main" id="{9BEA4204-3634-06DA-FBEE-123A24B8FBD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72" fill="hold"/>
                                        <p:tgtEl>
                                          <p:spTgt spid="5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06</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502301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HOW ANTARIKSHA-RAKSHA WORKS</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5CC8F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How does orbital data become a decision?</a:t>
            </a:r>
            <a:endParaRPr lang="en-US" sz="5100" dirty="0"/>
          </a:p>
        </p:txBody>
      </p:sp>
      <p:sp>
        <p:nvSpPr>
          <p:cNvPr id="15" name="Shape 12"/>
          <p:cNvSpPr/>
          <p:nvPr/>
        </p:nvSpPr>
        <p:spPr>
          <a:xfrm>
            <a:off x="1066712" y="2605154"/>
            <a:ext cx="3464499" cy="6348347"/>
          </a:xfrm>
          <a:prstGeom prst="rect">
            <a:avLst/>
          </a:prstGeom>
          <a:solidFill>
            <a:srgbClr val="091221">
              <a:alpha val="60000"/>
            </a:srgbClr>
          </a:solidFill>
          <a:ln w="7056">
            <a:solidFill>
              <a:srgbClr val="1A2A42"/>
            </a:solidFill>
            <a:prstDash val="solid"/>
          </a:ln>
        </p:spPr>
        <p:txBody>
          <a:bodyPr/>
          <a:lstStyle/>
          <a:p>
            <a:endParaRPr/>
          </a:p>
        </p:txBody>
      </p:sp>
      <p:sp>
        <p:nvSpPr>
          <p:cNvPr id="16" name="Text 13"/>
          <p:cNvSpPr/>
          <p:nvPr/>
        </p:nvSpPr>
        <p:spPr>
          <a:xfrm>
            <a:off x="1283229" y="2821671"/>
            <a:ext cx="3334610"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AABF"/>
                </a:solidFill>
                <a:latin typeface="Courier New" pitchFamily="34" charset="0"/>
                <a:ea typeface="Courier New" pitchFamily="34" charset="-122"/>
                <a:cs typeface="Courier New" pitchFamily="34" charset="-120"/>
              </a:rPr>
              <a:t>A · DATA</a:t>
            </a:r>
            <a:endParaRPr lang="en-US" sz="1800" dirty="0"/>
          </a:p>
        </p:txBody>
      </p:sp>
      <p:sp>
        <p:nvSpPr>
          <p:cNvPr id="17" name="Shape 14"/>
          <p:cNvSpPr/>
          <p:nvPr/>
        </p:nvSpPr>
        <p:spPr>
          <a:xfrm>
            <a:off x="1283229" y="3308395"/>
            <a:ext cx="3031464" cy="690232"/>
          </a:xfrm>
          <a:prstGeom prst="rect">
            <a:avLst/>
          </a:prstGeom>
          <a:solidFill>
            <a:srgbClr val="0B1628"/>
          </a:solidFill>
          <a:ln w="7056">
            <a:solidFill>
              <a:srgbClr val="2A3B55"/>
            </a:solidFill>
            <a:prstDash val="solid"/>
          </a:ln>
        </p:spPr>
        <p:txBody>
          <a:bodyPr/>
          <a:lstStyle/>
          <a:p>
            <a:endParaRPr/>
          </a:p>
        </p:txBody>
      </p:sp>
      <p:sp>
        <p:nvSpPr>
          <p:cNvPr id="18" name="Text 15"/>
          <p:cNvSpPr/>
          <p:nvPr/>
        </p:nvSpPr>
        <p:spPr>
          <a:xfrm>
            <a:off x="1480785" y="3486900"/>
            <a:ext cx="2727297" cy="371321"/>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Public orbital data</a:t>
            </a:r>
            <a:endParaRPr lang="en-US" sz="2100" dirty="0"/>
          </a:p>
        </p:txBody>
      </p:sp>
      <p:sp>
        <p:nvSpPr>
          <p:cNvPr id="19" name="Shape 16"/>
          <p:cNvSpPr/>
          <p:nvPr/>
        </p:nvSpPr>
        <p:spPr>
          <a:xfrm>
            <a:off x="1283229" y="4131910"/>
            <a:ext cx="3031464" cy="1023497"/>
          </a:xfrm>
          <a:prstGeom prst="rect">
            <a:avLst/>
          </a:prstGeom>
          <a:solidFill>
            <a:srgbClr val="0B1628"/>
          </a:solidFill>
          <a:ln w="7056">
            <a:solidFill>
              <a:srgbClr val="2A3B55"/>
            </a:solidFill>
            <a:prstDash val="solid"/>
          </a:ln>
        </p:spPr>
        <p:txBody>
          <a:bodyPr/>
          <a:lstStyle/>
          <a:p>
            <a:endParaRPr/>
          </a:p>
        </p:txBody>
      </p:sp>
      <p:sp>
        <p:nvSpPr>
          <p:cNvPr id="20" name="Text 17"/>
          <p:cNvSpPr/>
          <p:nvPr/>
        </p:nvSpPr>
        <p:spPr>
          <a:xfrm>
            <a:off x="1480785" y="4310416"/>
            <a:ext cx="2727297" cy="704586"/>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Validation &amp; provenance</a:t>
            </a:r>
            <a:endParaRPr lang="en-US" sz="2100" dirty="0"/>
          </a:p>
        </p:txBody>
      </p:sp>
      <p:sp>
        <p:nvSpPr>
          <p:cNvPr id="21" name="Text 18"/>
          <p:cNvSpPr/>
          <p:nvPr/>
        </p:nvSpPr>
        <p:spPr>
          <a:xfrm>
            <a:off x="4493111" y="2605154"/>
            <a:ext cx="495234" cy="6386447"/>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22" name="Shape 19"/>
          <p:cNvSpPr/>
          <p:nvPr/>
        </p:nvSpPr>
        <p:spPr>
          <a:xfrm>
            <a:off x="4950244" y="2605154"/>
            <a:ext cx="4503760" cy="6348347"/>
          </a:xfrm>
          <a:prstGeom prst="rect">
            <a:avLst/>
          </a:prstGeom>
          <a:solidFill>
            <a:srgbClr val="5CC8F0">
              <a:alpha val="5000"/>
            </a:srgbClr>
          </a:solidFill>
          <a:ln w="7056">
            <a:solidFill>
              <a:srgbClr val="2A5C78"/>
            </a:solidFill>
            <a:prstDash val="solid"/>
          </a:ln>
        </p:spPr>
        <p:txBody>
          <a:bodyPr/>
          <a:lstStyle/>
          <a:p>
            <a:endParaRPr/>
          </a:p>
        </p:txBody>
      </p:sp>
      <p:sp>
        <p:nvSpPr>
          <p:cNvPr id="23" name="Text 20"/>
          <p:cNvSpPr/>
          <p:nvPr/>
        </p:nvSpPr>
        <p:spPr>
          <a:xfrm>
            <a:off x="5166762" y="2821671"/>
            <a:ext cx="4192847" cy="630767"/>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CC8F0"/>
                </a:solidFill>
                <a:latin typeface="Courier New" pitchFamily="34" charset="0"/>
                <a:ea typeface="Courier New" pitchFamily="34" charset="-122"/>
                <a:cs typeface="Courier New" pitchFamily="34" charset="-120"/>
              </a:rPr>
              <a:t>B · PHYSICS · DETERMINISTIC</a:t>
            </a:r>
            <a:endParaRPr lang="en-US" sz="1800" dirty="0"/>
          </a:p>
        </p:txBody>
      </p:sp>
      <p:sp>
        <p:nvSpPr>
          <p:cNvPr id="24" name="Shape 21"/>
          <p:cNvSpPr/>
          <p:nvPr/>
        </p:nvSpPr>
        <p:spPr>
          <a:xfrm>
            <a:off x="5166762" y="3585656"/>
            <a:ext cx="4070725" cy="652088"/>
          </a:xfrm>
          <a:prstGeom prst="rect">
            <a:avLst/>
          </a:prstGeom>
          <a:solidFill>
            <a:srgbClr val="0B1A2C"/>
          </a:solidFill>
          <a:ln w="7056">
            <a:solidFill>
              <a:srgbClr val="2A5C78"/>
            </a:solidFill>
            <a:prstDash val="solid"/>
          </a:ln>
        </p:spPr>
        <p:txBody>
          <a:bodyPr/>
          <a:lstStyle/>
          <a:p>
            <a:endParaRPr/>
          </a:p>
        </p:txBody>
      </p:sp>
      <p:sp>
        <p:nvSpPr>
          <p:cNvPr id="25" name="Text 22"/>
          <p:cNvSpPr/>
          <p:nvPr/>
        </p:nvSpPr>
        <p:spPr>
          <a:xfrm>
            <a:off x="5364318" y="3745111"/>
            <a:ext cx="3797736" cy="371277"/>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SGP4 propagation</a:t>
            </a:r>
            <a:endParaRPr lang="en-US" sz="2100" dirty="0"/>
          </a:p>
        </p:txBody>
      </p:sp>
      <p:sp>
        <p:nvSpPr>
          <p:cNvPr id="26" name="Shape 23"/>
          <p:cNvSpPr/>
          <p:nvPr/>
        </p:nvSpPr>
        <p:spPr>
          <a:xfrm>
            <a:off x="5166762" y="4351955"/>
            <a:ext cx="4070725" cy="652088"/>
          </a:xfrm>
          <a:prstGeom prst="rect">
            <a:avLst/>
          </a:prstGeom>
          <a:solidFill>
            <a:srgbClr val="0B1A2C"/>
          </a:solidFill>
          <a:ln w="7056">
            <a:solidFill>
              <a:srgbClr val="2A5C78"/>
            </a:solidFill>
            <a:prstDash val="solid"/>
          </a:ln>
        </p:spPr>
        <p:txBody>
          <a:bodyPr/>
          <a:lstStyle/>
          <a:p>
            <a:endParaRPr/>
          </a:p>
        </p:txBody>
      </p:sp>
      <p:sp>
        <p:nvSpPr>
          <p:cNvPr id="27" name="Text 24"/>
          <p:cNvSpPr/>
          <p:nvPr/>
        </p:nvSpPr>
        <p:spPr>
          <a:xfrm>
            <a:off x="5364318" y="4511411"/>
            <a:ext cx="3797736" cy="371277"/>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Candidate pair screening</a:t>
            </a:r>
            <a:endParaRPr lang="en-US" sz="2100" dirty="0"/>
          </a:p>
        </p:txBody>
      </p:sp>
      <p:sp>
        <p:nvSpPr>
          <p:cNvPr id="28" name="Shape 25"/>
          <p:cNvSpPr/>
          <p:nvPr/>
        </p:nvSpPr>
        <p:spPr>
          <a:xfrm>
            <a:off x="5166762" y="5118255"/>
            <a:ext cx="4070725" cy="652088"/>
          </a:xfrm>
          <a:prstGeom prst="rect">
            <a:avLst/>
          </a:prstGeom>
          <a:solidFill>
            <a:srgbClr val="0B1A2C"/>
          </a:solidFill>
          <a:ln w="7056">
            <a:solidFill>
              <a:srgbClr val="2A5C78"/>
            </a:solidFill>
            <a:prstDash val="solid"/>
          </a:ln>
        </p:spPr>
        <p:txBody>
          <a:bodyPr/>
          <a:lstStyle/>
          <a:p>
            <a:endParaRPr/>
          </a:p>
        </p:txBody>
      </p:sp>
      <p:sp>
        <p:nvSpPr>
          <p:cNvPr id="29" name="Text 26"/>
          <p:cNvSpPr/>
          <p:nvPr/>
        </p:nvSpPr>
        <p:spPr>
          <a:xfrm>
            <a:off x="5364318" y="5277711"/>
            <a:ext cx="3797736" cy="371277"/>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Refined TCA</a:t>
            </a:r>
            <a:endParaRPr lang="en-US" sz="2100" dirty="0"/>
          </a:p>
        </p:txBody>
      </p:sp>
      <p:sp>
        <p:nvSpPr>
          <p:cNvPr id="30" name="Shape 27"/>
          <p:cNvSpPr/>
          <p:nvPr/>
        </p:nvSpPr>
        <p:spPr>
          <a:xfrm>
            <a:off x="5166762" y="5884555"/>
            <a:ext cx="4070725" cy="985353"/>
          </a:xfrm>
          <a:prstGeom prst="rect">
            <a:avLst/>
          </a:prstGeom>
          <a:solidFill>
            <a:srgbClr val="0B1A2C"/>
          </a:solidFill>
          <a:ln w="7056">
            <a:solidFill>
              <a:srgbClr val="2A5C78"/>
            </a:solidFill>
            <a:prstDash val="solid"/>
          </a:ln>
        </p:spPr>
        <p:txBody>
          <a:bodyPr/>
          <a:lstStyle/>
          <a:p>
            <a:endParaRPr/>
          </a:p>
        </p:txBody>
      </p:sp>
      <p:sp>
        <p:nvSpPr>
          <p:cNvPr id="31" name="Text 28"/>
          <p:cNvSpPr/>
          <p:nvPr/>
        </p:nvSpPr>
        <p:spPr>
          <a:xfrm>
            <a:off x="5364318" y="6044010"/>
            <a:ext cx="3797736" cy="704541"/>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Miss distance + relative velocity</a:t>
            </a:r>
            <a:endParaRPr lang="en-US" sz="2100" dirty="0"/>
          </a:p>
        </p:txBody>
      </p:sp>
      <p:sp>
        <p:nvSpPr>
          <p:cNvPr id="32" name="Shape 29"/>
          <p:cNvSpPr/>
          <p:nvPr/>
        </p:nvSpPr>
        <p:spPr>
          <a:xfrm>
            <a:off x="5166762" y="6984119"/>
            <a:ext cx="4070725" cy="985353"/>
          </a:xfrm>
          <a:prstGeom prst="rect">
            <a:avLst/>
          </a:prstGeom>
          <a:solidFill>
            <a:srgbClr val="0B1A2C"/>
          </a:solidFill>
          <a:ln w="7056">
            <a:solidFill>
              <a:srgbClr val="2A5C78"/>
            </a:solidFill>
            <a:prstDash val="solid"/>
          </a:ln>
        </p:spPr>
        <p:txBody>
          <a:bodyPr/>
          <a:lstStyle/>
          <a:p>
            <a:endParaRPr/>
          </a:p>
        </p:txBody>
      </p:sp>
      <p:sp>
        <p:nvSpPr>
          <p:cNvPr id="33" name="Text 30"/>
          <p:cNvSpPr/>
          <p:nvPr/>
        </p:nvSpPr>
        <p:spPr>
          <a:xfrm>
            <a:off x="5364318" y="7143575"/>
            <a:ext cx="3797736" cy="704541"/>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Simplified collision-probability indicator</a:t>
            </a:r>
            <a:endParaRPr lang="en-US" sz="2100" dirty="0"/>
          </a:p>
        </p:txBody>
      </p:sp>
      <p:sp>
        <p:nvSpPr>
          <p:cNvPr id="34" name="Text 31"/>
          <p:cNvSpPr/>
          <p:nvPr/>
        </p:nvSpPr>
        <p:spPr>
          <a:xfrm>
            <a:off x="9415905" y="2605154"/>
            <a:ext cx="495234" cy="6386447"/>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35" name="Shape 32"/>
          <p:cNvSpPr/>
          <p:nvPr/>
        </p:nvSpPr>
        <p:spPr>
          <a:xfrm>
            <a:off x="9873038" y="2605154"/>
            <a:ext cx="3464499" cy="6348347"/>
          </a:xfrm>
          <a:prstGeom prst="rect">
            <a:avLst/>
          </a:prstGeom>
          <a:solidFill>
            <a:srgbClr val="091221">
              <a:alpha val="60000"/>
            </a:srgbClr>
          </a:solidFill>
          <a:ln w="7056">
            <a:solidFill>
              <a:srgbClr val="1A2A42"/>
            </a:solidFill>
            <a:prstDash val="solid"/>
          </a:ln>
        </p:spPr>
        <p:txBody>
          <a:bodyPr/>
          <a:lstStyle/>
          <a:p>
            <a:endParaRPr/>
          </a:p>
        </p:txBody>
      </p:sp>
      <p:sp>
        <p:nvSpPr>
          <p:cNvPr id="36" name="Text 33"/>
          <p:cNvSpPr/>
          <p:nvPr/>
        </p:nvSpPr>
        <p:spPr>
          <a:xfrm>
            <a:off x="10089556" y="2821671"/>
            <a:ext cx="3334610"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AABF"/>
                </a:solidFill>
                <a:latin typeface="Courier New" pitchFamily="34" charset="0"/>
                <a:ea typeface="Courier New" pitchFamily="34" charset="-122"/>
                <a:cs typeface="Courier New" pitchFamily="34" charset="-120"/>
              </a:rPr>
              <a:t>C · RISK + AI</a:t>
            </a:r>
            <a:endParaRPr lang="en-US" sz="1800" dirty="0"/>
          </a:p>
        </p:txBody>
      </p:sp>
      <p:sp>
        <p:nvSpPr>
          <p:cNvPr id="37" name="Shape 34"/>
          <p:cNvSpPr/>
          <p:nvPr/>
        </p:nvSpPr>
        <p:spPr>
          <a:xfrm>
            <a:off x="10089556" y="3308395"/>
            <a:ext cx="3031464" cy="690232"/>
          </a:xfrm>
          <a:prstGeom prst="rect">
            <a:avLst/>
          </a:prstGeom>
          <a:solidFill>
            <a:srgbClr val="0B1628"/>
          </a:solidFill>
          <a:ln w="7056">
            <a:solidFill>
              <a:srgbClr val="2A3B55"/>
            </a:solidFill>
            <a:prstDash val="solid"/>
          </a:ln>
        </p:spPr>
        <p:txBody>
          <a:bodyPr/>
          <a:lstStyle/>
          <a:p>
            <a:endParaRPr/>
          </a:p>
        </p:txBody>
      </p:sp>
      <p:sp>
        <p:nvSpPr>
          <p:cNvPr id="38" name="Text 35"/>
          <p:cNvSpPr/>
          <p:nvPr/>
        </p:nvSpPr>
        <p:spPr>
          <a:xfrm>
            <a:off x="10287112" y="3486900"/>
            <a:ext cx="2727297" cy="371321"/>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Risk prioritisation</a:t>
            </a:r>
            <a:endParaRPr lang="en-US" sz="2100" dirty="0"/>
          </a:p>
        </p:txBody>
      </p:sp>
      <p:sp>
        <p:nvSpPr>
          <p:cNvPr id="39" name="Shape 36"/>
          <p:cNvSpPr/>
          <p:nvPr/>
        </p:nvSpPr>
        <p:spPr>
          <a:xfrm>
            <a:off x="10089556" y="4131910"/>
            <a:ext cx="3031464" cy="1023497"/>
          </a:xfrm>
          <a:prstGeom prst="rect">
            <a:avLst/>
          </a:prstGeom>
          <a:solidFill>
            <a:srgbClr val="0B1628"/>
          </a:solidFill>
          <a:ln w="7056">
            <a:solidFill>
              <a:srgbClr val="2A3B55"/>
            </a:solidFill>
            <a:prstDash val="solid"/>
          </a:ln>
        </p:spPr>
        <p:txBody>
          <a:bodyPr/>
          <a:lstStyle/>
          <a:p>
            <a:endParaRPr/>
          </a:p>
        </p:txBody>
      </p:sp>
      <p:sp>
        <p:nvSpPr>
          <p:cNvPr id="40" name="Text 37"/>
          <p:cNvSpPr/>
          <p:nvPr/>
        </p:nvSpPr>
        <p:spPr>
          <a:xfrm>
            <a:off x="10287112" y="4310416"/>
            <a:ext cx="2727297" cy="704586"/>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Local AI explanation when enabled</a:t>
            </a:r>
            <a:endParaRPr lang="en-US" sz="2100" dirty="0"/>
          </a:p>
        </p:txBody>
      </p:sp>
      <p:sp>
        <p:nvSpPr>
          <p:cNvPr id="41" name="Text 38"/>
          <p:cNvSpPr/>
          <p:nvPr/>
        </p:nvSpPr>
        <p:spPr>
          <a:xfrm>
            <a:off x="10089556" y="8119843"/>
            <a:ext cx="3122408" cy="655241"/>
          </a:xfrm>
          <a:prstGeom prst="rect">
            <a:avLst/>
          </a:prstGeom>
          <a:noFill/>
          <a:ln/>
        </p:spPr>
        <p:txBody>
          <a:bodyPr wrap="square" lIns="25400" tIns="25400" rIns="25400" bIns="25400" rtlCol="0" anchor="t">
            <a:normAutofit/>
          </a:bodyPr>
          <a:lstStyle/>
          <a:p>
            <a:pPr marL="0" indent="0" algn="l">
              <a:lnSpc>
                <a:spcPct val="118216"/>
              </a:lnSpc>
              <a:buNone/>
            </a:pPr>
            <a:r>
              <a:rPr lang="en-US" sz="1800" dirty="0">
                <a:solidFill>
                  <a:srgbClr val="9AAABF"/>
                </a:solidFill>
                <a:latin typeface="Arial" pitchFamily="34" charset="0"/>
                <a:ea typeface="Arial" pitchFamily="34" charset="-122"/>
                <a:cs typeface="Arial" pitchFamily="34" charset="-120"/>
              </a:rPr>
              <a:t>Deterministic fallback if AI is unavailable</a:t>
            </a:r>
            <a:endParaRPr lang="en-US" sz="1800" dirty="0"/>
          </a:p>
        </p:txBody>
      </p:sp>
      <p:sp>
        <p:nvSpPr>
          <p:cNvPr id="42" name="Text 39"/>
          <p:cNvSpPr/>
          <p:nvPr/>
        </p:nvSpPr>
        <p:spPr>
          <a:xfrm>
            <a:off x="13299437" y="2605154"/>
            <a:ext cx="495234" cy="6386447"/>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43" name="Shape 40"/>
          <p:cNvSpPr/>
          <p:nvPr/>
        </p:nvSpPr>
        <p:spPr>
          <a:xfrm>
            <a:off x="13756571" y="2605154"/>
            <a:ext cx="3464499" cy="6348347"/>
          </a:xfrm>
          <a:prstGeom prst="rect">
            <a:avLst/>
          </a:prstGeom>
          <a:solidFill>
            <a:srgbClr val="091221">
              <a:alpha val="60000"/>
            </a:srgbClr>
          </a:solidFill>
          <a:ln w="7056">
            <a:solidFill>
              <a:srgbClr val="1A2A42"/>
            </a:solidFill>
            <a:prstDash val="solid"/>
          </a:ln>
        </p:spPr>
        <p:txBody>
          <a:bodyPr/>
          <a:lstStyle/>
          <a:p>
            <a:endParaRPr/>
          </a:p>
        </p:txBody>
      </p:sp>
      <p:sp>
        <p:nvSpPr>
          <p:cNvPr id="44" name="Text 41"/>
          <p:cNvSpPr/>
          <p:nvPr/>
        </p:nvSpPr>
        <p:spPr>
          <a:xfrm>
            <a:off x="13973089" y="2821671"/>
            <a:ext cx="3334610"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CC8F0"/>
                </a:solidFill>
                <a:latin typeface="Courier New" pitchFamily="34" charset="0"/>
                <a:ea typeface="Courier New" pitchFamily="34" charset="-122"/>
                <a:cs typeface="Courier New" pitchFamily="34" charset="-120"/>
              </a:rPr>
              <a:t>D · HUMAN</a:t>
            </a:r>
            <a:endParaRPr lang="en-US" sz="1800" dirty="0"/>
          </a:p>
        </p:txBody>
      </p:sp>
      <p:sp>
        <p:nvSpPr>
          <p:cNvPr id="45" name="Shape 42"/>
          <p:cNvSpPr/>
          <p:nvPr/>
        </p:nvSpPr>
        <p:spPr>
          <a:xfrm>
            <a:off x="13973089" y="3308395"/>
            <a:ext cx="3031464" cy="676121"/>
          </a:xfrm>
          <a:prstGeom prst="rect">
            <a:avLst/>
          </a:prstGeom>
          <a:solidFill>
            <a:srgbClr val="5CC8F0"/>
          </a:solidFill>
          <a:ln/>
          <a:effectLst>
            <a:outerShdw blurRad="381000" dist="50800" dir="16200000" algn="bl" rotWithShape="0">
              <a:srgbClr val="5CC8F0">
                <a:alpha val="25000"/>
              </a:srgbClr>
            </a:outerShdw>
          </a:effectLst>
        </p:spPr>
        <p:txBody>
          <a:bodyPr/>
          <a:lstStyle/>
          <a:p>
            <a:endParaRPr/>
          </a:p>
        </p:txBody>
      </p:sp>
      <p:sp>
        <p:nvSpPr>
          <p:cNvPr id="46" name="Text 43"/>
          <p:cNvSpPr/>
          <p:nvPr/>
        </p:nvSpPr>
        <p:spPr>
          <a:xfrm>
            <a:off x="14163589" y="3479845"/>
            <a:ext cx="2741408" cy="371321"/>
          </a:xfrm>
          <a:prstGeom prst="rect">
            <a:avLst/>
          </a:prstGeom>
          <a:noFill/>
          <a:ln/>
        </p:spPr>
        <p:txBody>
          <a:bodyPr wrap="square" lIns="25400" tIns="25400" rIns="25400" bIns="25400" rtlCol="0" anchor="t">
            <a:normAutofit/>
          </a:bodyPr>
          <a:lstStyle/>
          <a:p>
            <a:pPr marL="0" indent="0" algn="l">
              <a:lnSpc>
                <a:spcPct val="109884"/>
              </a:lnSpc>
              <a:buNone/>
            </a:pPr>
            <a:r>
              <a:rPr lang="en-US" sz="2100" b="1" dirty="0">
                <a:solidFill>
                  <a:srgbClr val="050A14"/>
                </a:solidFill>
                <a:latin typeface="Arial" pitchFamily="34" charset="0"/>
                <a:ea typeface="Arial" pitchFamily="34" charset="-122"/>
                <a:cs typeface="Arial" pitchFamily="34" charset="-120"/>
              </a:rPr>
              <a:t>Human decision</a:t>
            </a:r>
            <a:endParaRPr lang="en-US" sz="2100" dirty="0"/>
          </a:p>
        </p:txBody>
      </p:sp>
      <p:sp>
        <p:nvSpPr>
          <p:cNvPr id="47" name="Shape 44"/>
          <p:cNvSpPr/>
          <p:nvPr/>
        </p:nvSpPr>
        <p:spPr>
          <a:xfrm>
            <a:off x="13973089" y="4117799"/>
            <a:ext cx="3031464" cy="690232"/>
          </a:xfrm>
          <a:prstGeom prst="rect">
            <a:avLst/>
          </a:prstGeom>
          <a:solidFill>
            <a:srgbClr val="0B1628"/>
          </a:solidFill>
          <a:ln w="7056">
            <a:solidFill>
              <a:srgbClr val="2A3B55"/>
            </a:solidFill>
            <a:prstDash val="solid"/>
          </a:ln>
        </p:spPr>
        <p:txBody>
          <a:bodyPr/>
          <a:lstStyle/>
          <a:p>
            <a:endParaRPr/>
          </a:p>
        </p:txBody>
      </p:sp>
      <p:sp>
        <p:nvSpPr>
          <p:cNvPr id="48" name="Text 45"/>
          <p:cNvSpPr/>
          <p:nvPr/>
        </p:nvSpPr>
        <p:spPr>
          <a:xfrm>
            <a:off x="14170645" y="4296305"/>
            <a:ext cx="2727297" cy="371321"/>
          </a:xfrm>
          <a:prstGeom prst="rect">
            <a:avLst/>
          </a:prstGeom>
          <a:noFill/>
          <a:ln/>
        </p:spPr>
        <p:txBody>
          <a:bodyPr wrap="square" lIns="25400" tIns="25400" rIns="25400" bIns="25400" rtlCol="0" anchor="t">
            <a:normAutofit/>
          </a:bodyPr>
          <a:lstStyle/>
          <a:p>
            <a:pPr marL="0" indent="0" algn="l">
              <a:lnSpc>
                <a:spcPct val="109884"/>
              </a:lnSpc>
              <a:buNone/>
            </a:pPr>
            <a:r>
              <a:rPr lang="en-US" sz="2100" dirty="0">
                <a:solidFill>
                  <a:srgbClr val="E6EDF5"/>
                </a:solidFill>
                <a:latin typeface="Arial" pitchFamily="34" charset="0"/>
                <a:ea typeface="Arial" pitchFamily="34" charset="-122"/>
                <a:cs typeface="Arial" pitchFamily="34" charset="-120"/>
              </a:rPr>
              <a:t>Audit trail</a:t>
            </a:r>
            <a:endParaRPr lang="en-US" sz="2100" dirty="0"/>
          </a:p>
        </p:txBody>
      </p:sp>
      <p:sp>
        <p:nvSpPr>
          <p:cNvPr id="49" name="Text 46"/>
          <p:cNvSpPr/>
          <p:nvPr/>
        </p:nvSpPr>
        <p:spPr>
          <a:xfrm>
            <a:off x="13973089" y="8428413"/>
            <a:ext cx="3334610" cy="346670"/>
          </a:xfrm>
          <a:prstGeom prst="rect">
            <a:avLst/>
          </a:prstGeom>
          <a:noFill/>
          <a:ln/>
        </p:spPr>
        <p:txBody>
          <a:bodyPr wrap="square" lIns="25400" tIns="25400" rIns="25400" bIns="25400" rtlCol="0" anchor="t">
            <a:normAutofit/>
          </a:bodyPr>
          <a:lstStyle/>
          <a:p>
            <a:pPr marL="0" indent="0" algn="l">
              <a:lnSpc>
                <a:spcPct val="118216"/>
              </a:lnSpc>
              <a:buNone/>
            </a:pPr>
            <a:r>
              <a:rPr lang="en-US" sz="1800" dirty="0">
                <a:solidFill>
                  <a:srgbClr val="9AAABF"/>
                </a:solidFill>
                <a:latin typeface="Arial" pitchFamily="34" charset="0"/>
                <a:ea typeface="Arial" pitchFamily="34" charset="-122"/>
                <a:cs typeface="Arial" pitchFamily="34" charset="-120"/>
              </a:rPr>
              <a:t>No spacecraft commands</a:t>
            </a:r>
            <a:endParaRPr lang="en-US" sz="1800" dirty="0"/>
          </a:p>
        </p:txBody>
      </p:sp>
      <p:sp>
        <p:nvSpPr>
          <p:cNvPr id="50" name="Shape 47"/>
          <p:cNvSpPr/>
          <p:nvPr/>
        </p:nvSpPr>
        <p:spPr>
          <a:xfrm>
            <a:off x="1066712" y="9629181"/>
            <a:ext cx="190390" cy="28553"/>
          </a:xfrm>
          <a:prstGeom prst="rect">
            <a:avLst/>
          </a:prstGeom>
          <a:solidFill>
            <a:srgbClr val="FF9933"/>
          </a:solidFill>
          <a:ln/>
        </p:spPr>
        <p:txBody>
          <a:bodyPr/>
          <a:lstStyle/>
          <a:p>
            <a:endParaRPr/>
          </a:p>
        </p:txBody>
      </p:sp>
      <p:sp>
        <p:nvSpPr>
          <p:cNvPr id="51" name="Shape 48"/>
          <p:cNvSpPr/>
          <p:nvPr/>
        </p:nvSpPr>
        <p:spPr>
          <a:xfrm>
            <a:off x="1257102" y="9629181"/>
            <a:ext cx="190390" cy="28553"/>
          </a:xfrm>
          <a:prstGeom prst="rect">
            <a:avLst/>
          </a:prstGeom>
          <a:solidFill>
            <a:srgbClr val="F2F2F2"/>
          </a:solidFill>
          <a:ln/>
        </p:spPr>
        <p:txBody>
          <a:bodyPr/>
          <a:lstStyle/>
          <a:p>
            <a:endParaRPr/>
          </a:p>
        </p:txBody>
      </p:sp>
      <p:sp>
        <p:nvSpPr>
          <p:cNvPr id="52" name="Shape 49"/>
          <p:cNvSpPr/>
          <p:nvPr/>
        </p:nvSpPr>
        <p:spPr>
          <a:xfrm>
            <a:off x="1447491" y="9629181"/>
            <a:ext cx="190390" cy="28553"/>
          </a:xfrm>
          <a:prstGeom prst="rect">
            <a:avLst/>
          </a:prstGeom>
          <a:solidFill>
            <a:srgbClr val="1FA84A"/>
          </a:solidFill>
          <a:ln/>
        </p:spPr>
        <p:txBody>
          <a:bodyPr/>
          <a:lstStyle/>
          <a:p>
            <a:endParaRPr/>
          </a:p>
        </p:txBody>
      </p:sp>
      <p:sp>
        <p:nvSpPr>
          <p:cNvPr id="53" name="Text 50"/>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4" name="Text 51"/>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06 / 15</a:t>
            </a:r>
            <a:endParaRPr lang="en-US" sz="1800" dirty="0"/>
          </a:p>
        </p:txBody>
      </p:sp>
      <p:pic>
        <p:nvPicPr>
          <p:cNvPr id="55" name="Narration slide 6">
            <a:hlinkClick r:id="" action="ppaction://media"/>
            <a:extLst>
              <a:ext uri="{FF2B5EF4-FFF2-40B4-BE49-F238E27FC236}">
                <a16:creationId xmlns:a16="http://schemas.microsoft.com/office/drawing/2014/main" id="{40B708BC-1CC1-D65D-D2C2-4BA125BABEB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648"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07</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2418557"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PHYSICS FIRST</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5CC8F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How is each close approach computed?</a:t>
            </a:r>
            <a:endParaRPr lang="en-US" sz="5100" dirty="0"/>
          </a:p>
        </p:txBody>
      </p:sp>
      <p:pic>
        <p:nvPicPr>
          <p:cNvPr id="15" name="Image 1" descr="preencoded.png"/>
          <p:cNvPicPr>
            <a:picLocks noChangeAspect="1"/>
          </p:cNvPicPr>
          <p:nvPr/>
        </p:nvPicPr>
        <p:blipFill>
          <a:blip r:embed="rId6"/>
          <a:stretch>
            <a:fillRect/>
          </a:stretch>
        </p:blipFill>
        <p:spPr>
          <a:xfrm>
            <a:off x="1352462" y="2603059"/>
            <a:ext cx="4762390" cy="4762390"/>
          </a:xfrm>
          <a:prstGeom prst="rect">
            <a:avLst/>
          </a:prstGeom>
        </p:spPr>
      </p:pic>
      <p:sp>
        <p:nvSpPr>
          <p:cNvPr id="16" name="Text 12"/>
          <p:cNvSpPr/>
          <p:nvPr/>
        </p:nvSpPr>
        <p:spPr>
          <a:xfrm>
            <a:off x="1573940" y="7498734"/>
            <a:ext cx="4751377" cy="334433"/>
          </a:xfrm>
          <a:prstGeom prst="rect">
            <a:avLst/>
          </a:prstGeom>
          <a:noFill/>
          <a:ln/>
        </p:spPr>
        <p:txBody>
          <a:bodyPr wrap="none" lIns="25400" tIns="25400" rIns="25400" bIns="25400" rtlCol="0" anchor="t">
            <a:normAutofit/>
          </a:bodyPr>
          <a:lstStyle/>
          <a:p>
            <a:pPr marL="0" indent="0" algn="l">
              <a:buNone/>
            </a:pPr>
            <a:r>
              <a:rPr lang="en-US" sz="1800" kern="0" spc="180" dirty="0">
                <a:solidFill>
                  <a:srgbClr val="6F8098"/>
                </a:solidFill>
                <a:latin typeface="Courier New" pitchFamily="34" charset="0"/>
                <a:ea typeface="Courier New" pitchFamily="34" charset="-122"/>
                <a:cs typeface="Courier New" pitchFamily="34" charset="-120"/>
              </a:rPr>
              <a:t>ENCOUNTER PLANE · SCHEMATIC</a:t>
            </a:r>
            <a:endParaRPr lang="en-US" sz="1800" dirty="0"/>
          </a:p>
        </p:txBody>
      </p:sp>
      <p:sp>
        <p:nvSpPr>
          <p:cNvPr id="17" name="Shape 13"/>
          <p:cNvSpPr/>
          <p:nvPr/>
        </p:nvSpPr>
        <p:spPr>
          <a:xfrm>
            <a:off x="7162492" y="3705490"/>
            <a:ext cx="10058688" cy="9525"/>
          </a:xfrm>
          <a:prstGeom prst="rect">
            <a:avLst/>
          </a:prstGeom>
          <a:solidFill>
            <a:srgbClr val="1A2840"/>
          </a:solidFill>
          <a:ln/>
        </p:spPr>
        <p:txBody>
          <a:bodyPr/>
          <a:lstStyle/>
          <a:p>
            <a:endParaRPr/>
          </a:p>
        </p:txBody>
      </p:sp>
      <p:sp>
        <p:nvSpPr>
          <p:cNvPr id="18" name="Text 14"/>
          <p:cNvSpPr/>
          <p:nvPr/>
        </p:nvSpPr>
        <p:spPr>
          <a:xfrm>
            <a:off x="7162492" y="3216562"/>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01</a:t>
            </a:r>
            <a:endParaRPr lang="en-US" sz="1800" dirty="0"/>
          </a:p>
        </p:txBody>
      </p:sp>
      <p:sp>
        <p:nvSpPr>
          <p:cNvPr id="19" name="Text 15"/>
          <p:cNvSpPr/>
          <p:nvPr/>
        </p:nvSpPr>
        <p:spPr>
          <a:xfrm>
            <a:off x="7848204" y="3138951"/>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SGP4</a:t>
            </a:r>
            <a:endParaRPr lang="en-US" sz="2400" dirty="0"/>
          </a:p>
        </p:txBody>
      </p:sp>
      <p:sp>
        <p:nvSpPr>
          <p:cNvPr id="20" name="Text 16"/>
          <p:cNvSpPr/>
          <p:nvPr/>
        </p:nvSpPr>
        <p:spPr>
          <a:xfrm>
            <a:off x="10991344" y="3188340"/>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Propagates public GP/TLE data</a:t>
            </a:r>
            <a:endParaRPr lang="en-US" sz="2025" dirty="0"/>
          </a:p>
        </p:txBody>
      </p:sp>
      <p:sp>
        <p:nvSpPr>
          <p:cNvPr id="21" name="Shape 17"/>
          <p:cNvSpPr/>
          <p:nvPr/>
        </p:nvSpPr>
        <p:spPr>
          <a:xfrm>
            <a:off x="7162492" y="4450513"/>
            <a:ext cx="10058688" cy="9525"/>
          </a:xfrm>
          <a:prstGeom prst="rect">
            <a:avLst/>
          </a:prstGeom>
          <a:solidFill>
            <a:srgbClr val="1A2840"/>
          </a:solidFill>
          <a:ln/>
        </p:spPr>
        <p:txBody>
          <a:bodyPr/>
          <a:lstStyle/>
          <a:p>
            <a:endParaRPr/>
          </a:p>
        </p:txBody>
      </p:sp>
      <p:sp>
        <p:nvSpPr>
          <p:cNvPr id="22" name="Text 18"/>
          <p:cNvSpPr/>
          <p:nvPr/>
        </p:nvSpPr>
        <p:spPr>
          <a:xfrm>
            <a:off x="7162492" y="3961585"/>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02</a:t>
            </a:r>
            <a:endParaRPr lang="en-US" sz="1800" dirty="0"/>
          </a:p>
        </p:txBody>
      </p:sp>
      <p:sp>
        <p:nvSpPr>
          <p:cNvPr id="23" name="Text 19"/>
          <p:cNvSpPr/>
          <p:nvPr/>
        </p:nvSpPr>
        <p:spPr>
          <a:xfrm>
            <a:off x="7848204" y="3883974"/>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Screening</a:t>
            </a:r>
            <a:endParaRPr lang="en-US" sz="2400" dirty="0"/>
          </a:p>
        </p:txBody>
      </p:sp>
      <p:sp>
        <p:nvSpPr>
          <p:cNvPr id="24" name="Text 20"/>
          <p:cNvSpPr/>
          <p:nvPr/>
        </p:nvSpPr>
        <p:spPr>
          <a:xfrm>
            <a:off x="10991344" y="3933363"/>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Candidate pairs, configurable horizon</a:t>
            </a:r>
            <a:endParaRPr lang="en-US" sz="2025" dirty="0"/>
          </a:p>
        </p:txBody>
      </p:sp>
      <p:sp>
        <p:nvSpPr>
          <p:cNvPr id="25" name="Shape 21"/>
          <p:cNvSpPr/>
          <p:nvPr/>
        </p:nvSpPr>
        <p:spPr>
          <a:xfrm>
            <a:off x="7162492" y="5195535"/>
            <a:ext cx="10058688" cy="9525"/>
          </a:xfrm>
          <a:prstGeom prst="rect">
            <a:avLst/>
          </a:prstGeom>
          <a:solidFill>
            <a:srgbClr val="1A2840"/>
          </a:solidFill>
          <a:ln/>
        </p:spPr>
        <p:txBody>
          <a:bodyPr/>
          <a:lstStyle/>
          <a:p>
            <a:endParaRPr/>
          </a:p>
        </p:txBody>
      </p:sp>
      <p:sp>
        <p:nvSpPr>
          <p:cNvPr id="26" name="Text 22"/>
          <p:cNvSpPr/>
          <p:nvPr/>
        </p:nvSpPr>
        <p:spPr>
          <a:xfrm>
            <a:off x="7162492" y="4706607"/>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03</a:t>
            </a:r>
            <a:endParaRPr lang="en-US" sz="1800" dirty="0"/>
          </a:p>
        </p:txBody>
      </p:sp>
      <p:sp>
        <p:nvSpPr>
          <p:cNvPr id="27" name="Text 23"/>
          <p:cNvSpPr/>
          <p:nvPr/>
        </p:nvSpPr>
        <p:spPr>
          <a:xfrm>
            <a:off x="7848204" y="4628996"/>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TCA</a:t>
            </a:r>
            <a:endParaRPr lang="en-US" sz="2400" dirty="0"/>
          </a:p>
        </p:txBody>
      </p:sp>
      <p:sp>
        <p:nvSpPr>
          <p:cNvPr id="28" name="Text 24"/>
          <p:cNvSpPr/>
          <p:nvPr/>
        </p:nvSpPr>
        <p:spPr>
          <a:xfrm>
            <a:off x="10991344" y="4678385"/>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Refined time of closest approach</a:t>
            </a:r>
            <a:endParaRPr lang="en-US" sz="2025" dirty="0"/>
          </a:p>
        </p:txBody>
      </p:sp>
      <p:sp>
        <p:nvSpPr>
          <p:cNvPr id="29" name="Shape 25"/>
          <p:cNvSpPr/>
          <p:nvPr/>
        </p:nvSpPr>
        <p:spPr>
          <a:xfrm>
            <a:off x="7162492" y="5940558"/>
            <a:ext cx="10058688" cy="9525"/>
          </a:xfrm>
          <a:prstGeom prst="rect">
            <a:avLst/>
          </a:prstGeom>
          <a:solidFill>
            <a:srgbClr val="1A2840"/>
          </a:solidFill>
          <a:ln/>
        </p:spPr>
        <p:txBody>
          <a:bodyPr/>
          <a:lstStyle/>
          <a:p>
            <a:endParaRPr/>
          </a:p>
        </p:txBody>
      </p:sp>
      <p:sp>
        <p:nvSpPr>
          <p:cNvPr id="30" name="Text 26"/>
          <p:cNvSpPr/>
          <p:nvPr/>
        </p:nvSpPr>
        <p:spPr>
          <a:xfrm>
            <a:off x="7162492" y="5451630"/>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04</a:t>
            </a:r>
            <a:endParaRPr lang="en-US" sz="1800" dirty="0"/>
          </a:p>
        </p:txBody>
      </p:sp>
      <p:sp>
        <p:nvSpPr>
          <p:cNvPr id="31" name="Text 27"/>
          <p:cNvSpPr/>
          <p:nvPr/>
        </p:nvSpPr>
        <p:spPr>
          <a:xfrm>
            <a:off x="7848204" y="5374019"/>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Miss distance</a:t>
            </a:r>
            <a:endParaRPr lang="en-US" sz="2400" dirty="0"/>
          </a:p>
        </p:txBody>
      </p:sp>
      <p:sp>
        <p:nvSpPr>
          <p:cNvPr id="32" name="Text 28"/>
          <p:cNvSpPr/>
          <p:nvPr/>
        </p:nvSpPr>
        <p:spPr>
          <a:xfrm>
            <a:off x="10991344" y="5423408"/>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Separation at TCA</a:t>
            </a:r>
            <a:endParaRPr lang="en-US" sz="2025" dirty="0"/>
          </a:p>
        </p:txBody>
      </p:sp>
      <p:sp>
        <p:nvSpPr>
          <p:cNvPr id="33" name="Shape 29"/>
          <p:cNvSpPr/>
          <p:nvPr/>
        </p:nvSpPr>
        <p:spPr>
          <a:xfrm>
            <a:off x="7162492" y="6685581"/>
            <a:ext cx="10058688" cy="9525"/>
          </a:xfrm>
          <a:prstGeom prst="rect">
            <a:avLst/>
          </a:prstGeom>
          <a:solidFill>
            <a:srgbClr val="1A2840"/>
          </a:solidFill>
          <a:ln/>
        </p:spPr>
        <p:txBody>
          <a:bodyPr/>
          <a:lstStyle/>
          <a:p>
            <a:endParaRPr/>
          </a:p>
        </p:txBody>
      </p:sp>
      <p:sp>
        <p:nvSpPr>
          <p:cNvPr id="34" name="Text 30"/>
          <p:cNvSpPr/>
          <p:nvPr/>
        </p:nvSpPr>
        <p:spPr>
          <a:xfrm>
            <a:off x="7162492" y="6196653"/>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05</a:t>
            </a:r>
            <a:endParaRPr lang="en-US" sz="1800" dirty="0"/>
          </a:p>
        </p:txBody>
      </p:sp>
      <p:sp>
        <p:nvSpPr>
          <p:cNvPr id="35" name="Text 31"/>
          <p:cNvSpPr/>
          <p:nvPr/>
        </p:nvSpPr>
        <p:spPr>
          <a:xfrm>
            <a:off x="7848204" y="6119042"/>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Relative velocity</a:t>
            </a:r>
            <a:endParaRPr lang="en-US" sz="2400" dirty="0"/>
          </a:p>
        </p:txBody>
      </p:sp>
      <p:sp>
        <p:nvSpPr>
          <p:cNvPr id="36" name="Text 32"/>
          <p:cNvSpPr/>
          <p:nvPr/>
        </p:nvSpPr>
        <p:spPr>
          <a:xfrm>
            <a:off x="10991344" y="6168430"/>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Encounter speed and geometry</a:t>
            </a:r>
            <a:endParaRPr lang="en-US" sz="2025" dirty="0"/>
          </a:p>
        </p:txBody>
      </p:sp>
      <p:sp>
        <p:nvSpPr>
          <p:cNvPr id="37" name="Text 33"/>
          <p:cNvSpPr/>
          <p:nvPr/>
        </p:nvSpPr>
        <p:spPr>
          <a:xfrm>
            <a:off x="7162492" y="6941675"/>
            <a:ext cx="761912" cy="334433"/>
          </a:xfrm>
          <a:prstGeom prst="rect">
            <a:avLst/>
          </a:prstGeom>
          <a:noFill/>
          <a:ln/>
        </p:spPr>
        <p:txBody>
          <a:bodyPr wrap="square" lIns="25400" tIns="25400" rIns="25400" bIns="25400" rtlCol="0" anchor="t">
            <a:normAutofit/>
          </a:bodyPr>
          <a:lstStyle/>
          <a:p>
            <a:pPr marL="0" indent="0" algn="l">
              <a:buNone/>
            </a:pPr>
            <a:r>
              <a:rPr lang="en-US" sz="1800" dirty="0">
                <a:solidFill>
                  <a:srgbClr val="F2B661"/>
                </a:solidFill>
                <a:latin typeface="Courier New" pitchFamily="34" charset="0"/>
                <a:ea typeface="Courier New" pitchFamily="34" charset="-122"/>
                <a:cs typeface="Courier New" pitchFamily="34" charset="-120"/>
              </a:rPr>
              <a:t>06</a:t>
            </a:r>
            <a:endParaRPr lang="en-US" sz="1800" dirty="0"/>
          </a:p>
        </p:txBody>
      </p:sp>
      <p:sp>
        <p:nvSpPr>
          <p:cNvPr id="38" name="Text 34"/>
          <p:cNvSpPr/>
          <p:nvPr/>
        </p:nvSpPr>
        <p:spPr>
          <a:xfrm>
            <a:off x="7848204" y="6864064"/>
            <a:ext cx="3457454" cy="433211"/>
          </a:xfrm>
          <a:prstGeom prst="rect">
            <a:avLst/>
          </a:prstGeom>
          <a:noFill/>
          <a:ln/>
        </p:spPr>
        <p:txBody>
          <a:bodyPr wrap="square" lIns="25400" tIns="25400" rIns="25400" bIns="25400" rtlCol="0" anchor="t">
            <a:normAutofit/>
          </a:bodyPr>
          <a:lstStyle/>
          <a:p>
            <a:pPr marL="0" indent="0" algn="l">
              <a:buNone/>
            </a:pPr>
            <a:r>
              <a:rPr lang="en-US" sz="2400" dirty="0">
                <a:solidFill>
                  <a:srgbClr val="E6EDF5"/>
                </a:solidFill>
                <a:latin typeface="Arial" pitchFamily="34" charset="0"/>
                <a:ea typeface="Arial" pitchFamily="34" charset="-122"/>
                <a:cs typeface="Arial" pitchFamily="34" charset="-120"/>
              </a:rPr>
              <a:t>Collision indicator</a:t>
            </a:r>
            <a:endParaRPr lang="en-US" sz="2400" dirty="0"/>
          </a:p>
        </p:txBody>
      </p:sp>
      <p:sp>
        <p:nvSpPr>
          <p:cNvPr id="39" name="Text 35"/>
          <p:cNvSpPr/>
          <p:nvPr/>
        </p:nvSpPr>
        <p:spPr>
          <a:xfrm>
            <a:off x="10991344" y="6913453"/>
            <a:ext cx="6852820" cy="369711"/>
          </a:xfrm>
          <a:prstGeom prst="rect">
            <a:avLst/>
          </a:prstGeom>
          <a:noFill/>
          <a:ln/>
        </p:spPr>
        <p:txBody>
          <a:bodyPr wrap="square" lIns="25400" tIns="25400" rIns="25400" bIns="25400" rtlCol="0" anchor="t">
            <a:normAutofit/>
          </a:bodyPr>
          <a:lstStyle/>
          <a:p>
            <a:pPr marL="0" indent="0" algn="l">
              <a:buNone/>
            </a:pPr>
            <a:r>
              <a:rPr lang="en-US" sz="2025" dirty="0">
                <a:solidFill>
                  <a:srgbClr val="C9D4E2"/>
                </a:solidFill>
                <a:latin typeface="Arial" pitchFamily="34" charset="0"/>
                <a:ea typeface="Arial" pitchFamily="34" charset="-122"/>
                <a:cs typeface="Arial" pitchFamily="34" charset="-120"/>
              </a:rPr>
              <a:t>Analytic, deterministic, no Monte Carlo</a:t>
            </a:r>
            <a:endParaRPr lang="en-US" sz="2025" dirty="0"/>
          </a:p>
        </p:txBody>
      </p:sp>
      <p:sp>
        <p:nvSpPr>
          <p:cNvPr id="40" name="Shape 36"/>
          <p:cNvSpPr/>
          <p:nvPr/>
        </p:nvSpPr>
        <p:spPr>
          <a:xfrm>
            <a:off x="1066712" y="8173862"/>
            <a:ext cx="16154469" cy="779639"/>
          </a:xfrm>
          <a:prstGeom prst="rect">
            <a:avLst/>
          </a:prstGeom>
          <a:solidFill>
            <a:srgbClr val="F2B661">
              <a:alpha val="7000"/>
            </a:srgbClr>
          </a:solidFill>
          <a:ln w="7056">
            <a:solidFill>
              <a:srgbClr val="F2B661"/>
            </a:solidFill>
            <a:prstDash val="solid"/>
          </a:ln>
        </p:spPr>
        <p:txBody>
          <a:bodyPr/>
          <a:lstStyle/>
          <a:p>
            <a:endParaRPr/>
          </a:p>
        </p:txBody>
      </p:sp>
      <p:sp>
        <p:nvSpPr>
          <p:cNvPr id="41" name="Text 37"/>
          <p:cNvSpPr/>
          <p:nvPr/>
        </p:nvSpPr>
        <p:spPr>
          <a:xfrm>
            <a:off x="1378479" y="8415515"/>
            <a:ext cx="2353072" cy="334433"/>
          </a:xfrm>
          <a:prstGeom prst="rect">
            <a:avLst/>
          </a:prstGeom>
          <a:noFill/>
          <a:ln/>
        </p:spPr>
        <p:txBody>
          <a:bodyPr wrap="none" lIns="25400" tIns="25400" rIns="25400" bIns="25400" rtlCol="0" anchor="t">
            <a:normAutofit/>
          </a:bodyPr>
          <a:lstStyle/>
          <a:p>
            <a:pPr marL="0" indent="0" algn="l">
              <a:buNone/>
            </a:pPr>
            <a:r>
              <a:rPr lang="en-US" sz="1800" kern="0" spc="216" dirty="0">
                <a:solidFill>
                  <a:srgbClr val="F2B661"/>
                </a:solidFill>
                <a:latin typeface="Courier New" pitchFamily="34" charset="0"/>
                <a:ea typeface="Courier New" pitchFamily="34" charset="-122"/>
                <a:cs typeface="Courier New" pitchFamily="34" charset="-120"/>
              </a:rPr>
              <a:t>QUALIFICATION</a:t>
            </a:r>
            <a:endParaRPr lang="en-US" sz="1800" dirty="0"/>
          </a:p>
        </p:txBody>
      </p:sp>
      <p:sp>
        <p:nvSpPr>
          <p:cNvPr id="42" name="Text 38"/>
          <p:cNvSpPr/>
          <p:nvPr/>
        </p:nvSpPr>
        <p:spPr>
          <a:xfrm>
            <a:off x="3784314" y="8390380"/>
            <a:ext cx="12392556" cy="384704"/>
          </a:xfrm>
          <a:prstGeom prst="rect">
            <a:avLst/>
          </a:prstGeom>
          <a:noFill/>
          <a:ln/>
        </p:spPr>
        <p:txBody>
          <a:bodyPr wrap="none" lIns="25400" tIns="25400" rIns="25400" bIns="25400" rtlCol="0" anchor="t">
            <a:normAutofit/>
          </a:bodyPr>
          <a:lstStyle/>
          <a:p>
            <a:pPr marL="0" indent="0" algn="l">
              <a:lnSpc>
                <a:spcPct val="114279"/>
              </a:lnSpc>
              <a:buNone/>
            </a:pPr>
            <a:r>
              <a:rPr lang="en-US" sz="2100" dirty="0">
                <a:solidFill>
                  <a:srgbClr val="E6EDF5"/>
                </a:solidFill>
                <a:latin typeface="Arial" pitchFamily="34" charset="0"/>
                <a:ea typeface="Arial" pitchFamily="34" charset="-122"/>
                <a:cs typeface="Arial" pitchFamily="34" charset="-120"/>
              </a:rPr>
              <a:t>Simplified analytic collision-probability indicator — NOT an operational covariance-based Pc.</a:t>
            </a:r>
            <a:endParaRPr lang="en-US" sz="2100" dirty="0"/>
          </a:p>
        </p:txBody>
      </p:sp>
      <p:sp>
        <p:nvSpPr>
          <p:cNvPr id="43" name="Shape 39"/>
          <p:cNvSpPr/>
          <p:nvPr/>
        </p:nvSpPr>
        <p:spPr>
          <a:xfrm>
            <a:off x="1066712" y="9629181"/>
            <a:ext cx="190390" cy="28553"/>
          </a:xfrm>
          <a:prstGeom prst="rect">
            <a:avLst/>
          </a:prstGeom>
          <a:solidFill>
            <a:srgbClr val="FF9933"/>
          </a:solidFill>
          <a:ln/>
        </p:spPr>
        <p:txBody>
          <a:bodyPr/>
          <a:lstStyle/>
          <a:p>
            <a:endParaRPr/>
          </a:p>
        </p:txBody>
      </p:sp>
      <p:sp>
        <p:nvSpPr>
          <p:cNvPr id="44" name="Shape 40"/>
          <p:cNvSpPr/>
          <p:nvPr/>
        </p:nvSpPr>
        <p:spPr>
          <a:xfrm>
            <a:off x="1257102" y="9629181"/>
            <a:ext cx="190390" cy="28553"/>
          </a:xfrm>
          <a:prstGeom prst="rect">
            <a:avLst/>
          </a:prstGeom>
          <a:solidFill>
            <a:srgbClr val="F2F2F2"/>
          </a:solidFill>
          <a:ln/>
        </p:spPr>
        <p:txBody>
          <a:bodyPr/>
          <a:lstStyle/>
          <a:p>
            <a:endParaRPr/>
          </a:p>
        </p:txBody>
      </p:sp>
      <p:sp>
        <p:nvSpPr>
          <p:cNvPr id="45" name="Shape 41"/>
          <p:cNvSpPr/>
          <p:nvPr/>
        </p:nvSpPr>
        <p:spPr>
          <a:xfrm>
            <a:off x="1447491" y="9629181"/>
            <a:ext cx="190390" cy="28553"/>
          </a:xfrm>
          <a:prstGeom prst="rect">
            <a:avLst/>
          </a:prstGeom>
          <a:solidFill>
            <a:srgbClr val="1FA84A"/>
          </a:solidFill>
          <a:ln/>
        </p:spPr>
        <p:txBody>
          <a:bodyPr/>
          <a:lstStyle/>
          <a:p>
            <a:endParaRPr/>
          </a:p>
        </p:txBody>
      </p:sp>
      <p:sp>
        <p:nvSpPr>
          <p:cNvPr id="46" name="Text 42"/>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47" name="Text 43"/>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07 / 15</a:t>
            </a:r>
            <a:endParaRPr lang="en-US" sz="1800" dirty="0"/>
          </a:p>
        </p:txBody>
      </p:sp>
      <p:pic>
        <p:nvPicPr>
          <p:cNvPr id="48" name="Narration slide 7">
            <a:hlinkClick r:id="" action="ppaction://media"/>
            <a:extLst>
              <a:ext uri="{FF2B5EF4-FFF2-40B4-BE49-F238E27FC236}">
                <a16:creationId xmlns:a16="http://schemas.microsoft.com/office/drawing/2014/main" id="{1C435347-DFDB-E289-ACCE-4531118AA73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240"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08</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3906750"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RISK + EXPLAINABILITY</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5CC8F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Which event deserves attention first, and why?</a:t>
            </a:r>
            <a:endParaRPr lang="en-US" sz="5100" dirty="0"/>
          </a:p>
        </p:txBody>
      </p:sp>
      <p:sp>
        <p:nvSpPr>
          <p:cNvPr id="15" name="Shape 12"/>
          <p:cNvSpPr/>
          <p:nvPr/>
        </p:nvSpPr>
        <p:spPr>
          <a:xfrm>
            <a:off x="1066712" y="2605154"/>
            <a:ext cx="5054645" cy="6348347"/>
          </a:xfrm>
          <a:prstGeom prst="rect">
            <a:avLst/>
          </a:prstGeom>
          <a:solidFill>
            <a:srgbClr val="091221">
              <a:alpha val="85000"/>
            </a:srgbClr>
          </a:solidFill>
          <a:ln w="7056">
            <a:solidFill>
              <a:srgbClr val="22344F"/>
            </a:solidFill>
            <a:prstDash val="solid"/>
          </a:ln>
        </p:spPr>
        <p:txBody>
          <a:bodyPr/>
          <a:lstStyle/>
          <a:p>
            <a:endParaRPr/>
          </a:p>
        </p:txBody>
      </p:sp>
      <p:sp>
        <p:nvSpPr>
          <p:cNvPr id="16" name="Text 13"/>
          <p:cNvSpPr/>
          <p:nvPr/>
        </p:nvSpPr>
        <p:spPr>
          <a:xfrm>
            <a:off x="1416623" y="2955066"/>
            <a:ext cx="4790304"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CC8F0"/>
                </a:solidFill>
                <a:latin typeface="Courier New" pitchFamily="34" charset="0"/>
                <a:ea typeface="Courier New" pitchFamily="34" charset="-122"/>
                <a:cs typeface="Courier New" pitchFamily="34" charset="-120"/>
              </a:rPr>
              <a:t>01 · EVIDENCE</a:t>
            </a:r>
            <a:endParaRPr lang="en-US" sz="1800" dirty="0"/>
          </a:p>
        </p:txBody>
      </p:sp>
      <p:sp>
        <p:nvSpPr>
          <p:cNvPr id="17" name="Text 14"/>
          <p:cNvSpPr/>
          <p:nvPr/>
        </p:nvSpPr>
        <p:spPr>
          <a:xfrm>
            <a:off x="1416623" y="3422827"/>
            <a:ext cx="4485466" cy="860954"/>
          </a:xfrm>
          <a:prstGeom prst="rect">
            <a:avLst/>
          </a:prstGeom>
          <a:noFill/>
          <a:ln/>
        </p:spPr>
        <p:txBody>
          <a:bodyPr wrap="square" lIns="25400" tIns="25400" rIns="25400" bIns="25400" rtlCol="0" anchor="t">
            <a:normAutofit/>
          </a:bodyPr>
          <a:lstStyle/>
          <a:p>
            <a:pPr marL="0" indent="0" algn="l">
              <a:lnSpc>
                <a:spcPct val="104143"/>
              </a:lnSpc>
              <a:buNone/>
            </a:pPr>
            <a:r>
              <a:rPr lang="en-US" sz="2700" dirty="0">
                <a:solidFill>
                  <a:srgbClr val="E6EDF5"/>
                </a:solidFill>
                <a:latin typeface="Arial" pitchFamily="34" charset="0"/>
                <a:ea typeface="Arial" pitchFamily="34" charset="-122"/>
                <a:cs typeface="Arial" pitchFamily="34" charset="-120"/>
              </a:rPr>
              <a:t>Deterministic backend output</a:t>
            </a:r>
            <a:endParaRPr lang="en-US" sz="2700" dirty="0"/>
          </a:p>
        </p:txBody>
      </p:sp>
      <p:sp>
        <p:nvSpPr>
          <p:cNvPr id="18" name="Shape 15"/>
          <p:cNvSpPr/>
          <p:nvPr/>
        </p:nvSpPr>
        <p:spPr>
          <a:xfrm>
            <a:off x="1416623" y="4936905"/>
            <a:ext cx="4354822" cy="9525"/>
          </a:xfrm>
          <a:prstGeom prst="rect">
            <a:avLst/>
          </a:prstGeom>
          <a:solidFill>
            <a:srgbClr val="1A2840"/>
          </a:solidFill>
          <a:ln/>
        </p:spPr>
        <p:txBody>
          <a:bodyPr/>
          <a:lstStyle/>
          <a:p>
            <a:endParaRPr/>
          </a:p>
        </p:txBody>
      </p:sp>
      <p:sp>
        <p:nvSpPr>
          <p:cNvPr id="19" name="Text 16"/>
          <p:cNvSpPr/>
          <p:nvPr/>
        </p:nvSpPr>
        <p:spPr>
          <a:xfrm>
            <a:off x="1416623" y="4512249"/>
            <a:ext cx="4485466" cy="348456"/>
          </a:xfrm>
          <a:prstGeom prst="rect">
            <a:avLst/>
          </a:prstGeom>
          <a:noFill/>
          <a:ln/>
        </p:spPr>
        <p:txBody>
          <a:bodyPr wrap="square" lIns="25400" tIns="25400" rIns="25400" bIns="25400" rtlCol="0" anchor="t">
            <a:normAutofit/>
          </a:bodyPr>
          <a:lstStyle/>
          <a:p>
            <a:pPr marL="0" indent="0" algn="l">
              <a:buNone/>
            </a:pPr>
            <a:r>
              <a:rPr lang="en-US" sz="1875" dirty="0">
                <a:solidFill>
                  <a:srgbClr val="C9D4E2"/>
                </a:solidFill>
                <a:latin typeface="Courier New" pitchFamily="34" charset="0"/>
                <a:ea typeface="Courier New" pitchFamily="34" charset="-122"/>
                <a:cs typeface="Courier New" pitchFamily="34" charset="-120"/>
              </a:rPr>
              <a:t>TCA</a:t>
            </a:r>
            <a:endParaRPr lang="en-US" sz="1875" dirty="0"/>
          </a:p>
        </p:txBody>
      </p:sp>
      <p:sp>
        <p:nvSpPr>
          <p:cNvPr id="20" name="Shape 17"/>
          <p:cNvSpPr/>
          <p:nvPr/>
        </p:nvSpPr>
        <p:spPr>
          <a:xfrm>
            <a:off x="1416623" y="5482829"/>
            <a:ext cx="4354822" cy="9525"/>
          </a:xfrm>
          <a:prstGeom prst="rect">
            <a:avLst/>
          </a:prstGeom>
          <a:solidFill>
            <a:srgbClr val="1A2840"/>
          </a:solidFill>
          <a:ln/>
        </p:spPr>
        <p:txBody>
          <a:bodyPr/>
          <a:lstStyle/>
          <a:p>
            <a:endParaRPr/>
          </a:p>
        </p:txBody>
      </p:sp>
      <p:sp>
        <p:nvSpPr>
          <p:cNvPr id="21" name="Text 18"/>
          <p:cNvSpPr/>
          <p:nvPr/>
        </p:nvSpPr>
        <p:spPr>
          <a:xfrm>
            <a:off x="1416623" y="5058173"/>
            <a:ext cx="4485466" cy="348456"/>
          </a:xfrm>
          <a:prstGeom prst="rect">
            <a:avLst/>
          </a:prstGeom>
          <a:noFill/>
          <a:ln/>
        </p:spPr>
        <p:txBody>
          <a:bodyPr wrap="square" lIns="25400" tIns="25400" rIns="25400" bIns="25400" rtlCol="0" anchor="t">
            <a:normAutofit/>
          </a:bodyPr>
          <a:lstStyle/>
          <a:p>
            <a:pPr marL="0" indent="0" algn="l">
              <a:buNone/>
            </a:pPr>
            <a:r>
              <a:rPr lang="en-US" sz="1875" dirty="0">
                <a:solidFill>
                  <a:srgbClr val="C9D4E2"/>
                </a:solidFill>
                <a:latin typeface="Courier New" pitchFamily="34" charset="0"/>
                <a:ea typeface="Courier New" pitchFamily="34" charset="-122"/>
                <a:cs typeface="Courier New" pitchFamily="34" charset="-120"/>
              </a:rPr>
              <a:t>MISS DISTANCE</a:t>
            </a:r>
            <a:endParaRPr lang="en-US" sz="1875" dirty="0"/>
          </a:p>
        </p:txBody>
      </p:sp>
      <p:sp>
        <p:nvSpPr>
          <p:cNvPr id="22" name="Shape 19"/>
          <p:cNvSpPr/>
          <p:nvPr/>
        </p:nvSpPr>
        <p:spPr>
          <a:xfrm>
            <a:off x="1416623" y="6028753"/>
            <a:ext cx="4354822" cy="9525"/>
          </a:xfrm>
          <a:prstGeom prst="rect">
            <a:avLst/>
          </a:prstGeom>
          <a:solidFill>
            <a:srgbClr val="1A2840"/>
          </a:solidFill>
          <a:ln/>
        </p:spPr>
        <p:txBody>
          <a:bodyPr/>
          <a:lstStyle/>
          <a:p>
            <a:endParaRPr/>
          </a:p>
        </p:txBody>
      </p:sp>
      <p:sp>
        <p:nvSpPr>
          <p:cNvPr id="23" name="Text 20"/>
          <p:cNvSpPr/>
          <p:nvPr/>
        </p:nvSpPr>
        <p:spPr>
          <a:xfrm>
            <a:off x="1416623" y="5604096"/>
            <a:ext cx="4485466" cy="348456"/>
          </a:xfrm>
          <a:prstGeom prst="rect">
            <a:avLst/>
          </a:prstGeom>
          <a:noFill/>
          <a:ln/>
        </p:spPr>
        <p:txBody>
          <a:bodyPr wrap="square" lIns="25400" tIns="25400" rIns="25400" bIns="25400" rtlCol="0" anchor="t">
            <a:normAutofit/>
          </a:bodyPr>
          <a:lstStyle/>
          <a:p>
            <a:pPr marL="0" indent="0" algn="l">
              <a:buNone/>
            </a:pPr>
            <a:r>
              <a:rPr lang="en-US" sz="1875" dirty="0">
                <a:solidFill>
                  <a:srgbClr val="C9D4E2"/>
                </a:solidFill>
                <a:latin typeface="Courier New" pitchFamily="34" charset="0"/>
                <a:ea typeface="Courier New" pitchFamily="34" charset="-122"/>
                <a:cs typeface="Courier New" pitchFamily="34" charset="-120"/>
              </a:rPr>
              <a:t>RELATIVE VELOCITY</a:t>
            </a:r>
            <a:endParaRPr lang="en-US" sz="1875" dirty="0"/>
          </a:p>
        </p:txBody>
      </p:sp>
      <p:sp>
        <p:nvSpPr>
          <p:cNvPr id="24" name="Shape 21"/>
          <p:cNvSpPr/>
          <p:nvPr/>
        </p:nvSpPr>
        <p:spPr>
          <a:xfrm>
            <a:off x="1416623" y="6574676"/>
            <a:ext cx="4354822" cy="9525"/>
          </a:xfrm>
          <a:prstGeom prst="rect">
            <a:avLst/>
          </a:prstGeom>
          <a:solidFill>
            <a:srgbClr val="1A2840"/>
          </a:solidFill>
          <a:ln/>
        </p:spPr>
        <p:txBody>
          <a:bodyPr/>
          <a:lstStyle/>
          <a:p>
            <a:endParaRPr/>
          </a:p>
        </p:txBody>
      </p:sp>
      <p:sp>
        <p:nvSpPr>
          <p:cNvPr id="25" name="Text 22"/>
          <p:cNvSpPr/>
          <p:nvPr/>
        </p:nvSpPr>
        <p:spPr>
          <a:xfrm>
            <a:off x="1416623" y="6150020"/>
            <a:ext cx="4485466" cy="348456"/>
          </a:xfrm>
          <a:prstGeom prst="rect">
            <a:avLst/>
          </a:prstGeom>
          <a:noFill/>
          <a:ln/>
        </p:spPr>
        <p:txBody>
          <a:bodyPr wrap="square" lIns="25400" tIns="25400" rIns="25400" bIns="25400" rtlCol="0" anchor="t">
            <a:normAutofit/>
          </a:bodyPr>
          <a:lstStyle/>
          <a:p>
            <a:pPr marL="0" indent="0" algn="l">
              <a:buNone/>
            </a:pPr>
            <a:r>
              <a:rPr lang="en-US" sz="1875" dirty="0">
                <a:solidFill>
                  <a:srgbClr val="C9D4E2"/>
                </a:solidFill>
                <a:latin typeface="Courier New" pitchFamily="34" charset="0"/>
                <a:ea typeface="Courier New" pitchFamily="34" charset="-122"/>
                <a:cs typeface="Courier New" pitchFamily="34" charset="-120"/>
              </a:rPr>
              <a:t>COLLISION INDICATOR</a:t>
            </a:r>
            <a:endParaRPr lang="en-US" sz="1875" dirty="0"/>
          </a:p>
        </p:txBody>
      </p:sp>
      <p:sp>
        <p:nvSpPr>
          <p:cNvPr id="26" name="Text 23"/>
          <p:cNvSpPr/>
          <p:nvPr/>
        </p:nvSpPr>
        <p:spPr>
          <a:xfrm>
            <a:off x="1416623" y="6695944"/>
            <a:ext cx="4790304" cy="348544"/>
          </a:xfrm>
          <a:prstGeom prst="rect">
            <a:avLst/>
          </a:prstGeom>
          <a:noFill/>
          <a:ln/>
        </p:spPr>
        <p:txBody>
          <a:bodyPr wrap="square" lIns="25400" tIns="25400" rIns="25400" bIns="25400" rtlCol="0" anchor="t">
            <a:normAutofit/>
          </a:bodyPr>
          <a:lstStyle/>
          <a:p>
            <a:pPr marL="0" indent="0" algn="l">
              <a:buNone/>
            </a:pPr>
            <a:r>
              <a:rPr lang="en-US" sz="1875" dirty="0">
                <a:solidFill>
                  <a:srgbClr val="C9D4E2"/>
                </a:solidFill>
                <a:latin typeface="Courier New" pitchFamily="34" charset="0"/>
                <a:ea typeface="Courier New" pitchFamily="34" charset="-122"/>
                <a:cs typeface="Courier New" pitchFamily="34" charset="-120"/>
              </a:rPr>
              <a:t>DATA PROVENANCE</a:t>
            </a:r>
            <a:endParaRPr lang="en-US" sz="1875" dirty="0"/>
          </a:p>
        </p:txBody>
      </p:sp>
      <p:sp>
        <p:nvSpPr>
          <p:cNvPr id="27" name="Text 24"/>
          <p:cNvSpPr/>
          <p:nvPr/>
        </p:nvSpPr>
        <p:spPr>
          <a:xfrm>
            <a:off x="6083257" y="2605154"/>
            <a:ext cx="571412" cy="6386447"/>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28" name="Shape 25"/>
          <p:cNvSpPr/>
          <p:nvPr/>
        </p:nvSpPr>
        <p:spPr>
          <a:xfrm>
            <a:off x="6616569" y="2605154"/>
            <a:ext cx="5054645" cy="6348347"/>
          </a:xfrm>
          <a:prstGeom prst="rect">
            <a:avLst/>
          </a:prstGeom>
          <a:solidFill>
            <a:srgbClr val="091221">
              <a:alpha val="85000"/>
            </a:srgbClr>
          </a:solidFill>
          <a:ln w="7056">
            <a:solidFill>
              <a:srgbClr val="22344F"/>
            </a:solidFill>
            <a:prstDash val="solid"/>
          </a:ln>
        </p:spPr>
        <p:txBody>
          <a:bodyPr/>
          <a:lstStyle/>
          <a:p>
            <a:endParaRPr/>
          </a:p>
        </p:txBody>
      </p:sp>
      <p:sp>
        <p:nvSpPr>
          <p:cNvPr id="29" name="Text 26"/>
          <p:cNvSpPr/>
          <p:nvPr/>
        </p:nvSpPr>
        <p:spPr>
          <a:xfrm>
            <a:off x="6966480" y="2955066"/>
            <a:ext cx="4790304"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CC8F0"/>
                </a:solidFill>
                <a:latin typeface="Courier New" pitchFamily="34" charset="0"/>
                <a:ea typeface="Courier New" pitchFamily="34" charset="-122"/>
                <a:cs typeface="Courier New" pitchFamily="34" charset="-120"/>
              </a:rPr>
              <a:t>02 · PRIORITISATION</a:t>
            </a:r>
            <a:endParaRPr lang="en-US" sz="1800" dirty="0"/>
          </a:p>
        </p:txBody>
      </p:sp>
      <p:sp>
        <p:nvSpPr>
          <p:cNvPr id="30" name="Text 27"/>
          <p:cNvSpPr/>
          <p:nvPr/>
        </p:nvSpPr>
        <p:spPr>
          <a:xfrm>
            <a:off x="6966480" y="3422827"/>
            <a:ext cx="4790304" cy="449527"/>
          </a:xfrm>
          <a:prstGeom prst="rect">
            <a:avLst/>
          </a:prstGeom>
          <a:noFill/>
          <a:ln/>
        </p:spPr>
        <p:txBody>
          <a:bodyPr wrap="square" lIns="25400" tIns="25400" rIns="25400" bIns="25400" rtlCol="0" anchor="t">
            <a:normAutofit/>
          </a:bodyPr>
          <a:lstStyle/>
          <a:p>
            <a:pPr marL="0" indent="0" algn="l">
              <a:lnSpc>
                <a:spcPct val="104143"/>
              </a:lnSpc>
              <a:buNone/>
            </a:pPr>
            <a:r>
              <a:rPr lang="en-US" sz="2700" dirty="0">
                <a:solidFill>
                  <a:srgbClr val="E6EDF5"/>
                </a:solidFill>
                <a:latin typeface="Arial" pitchFamily="34" charset="0"/>
                <a:ea typeface="Arial" pitchFamily="34" charset="-122"/>
                <a:cs typeface="Arial" pitchFamily="34" charset="-120"/>
              </a:rPr>
              <a:t>Ranked event queue</a:t>
            </a:r>
            <a:endParaRPr lang="en-US" sz="2700" dirty="0"/>
          </a:p>
        </p:txBody>
      </p:sp>
      <p:sp>
        <p:nvSpPr>
          <p:cNvPr id="31" name="Shape 28"/>
          <p:cNvSpPr/>
          <p:nvPr/>
        </p:nvSpPr>
        <p:spPr>
          <a:xfrm>
            <a:off x="6966480" y="4100822"/>
            <a:ext cx="1400749" cy="571390"/>
          </a:xfrm>
          <a:prstGeom prst="rect">
            <a:avLst/>
          </a:prstGeom>
          <a:solidFill>
            <a:srgbClr val="13233A"/>
          </a:solidFill>
          <a:ln/>
        </p:spPr>
        <p:txBody>
          <a:bodyPr/>
          <a:lstStyle/>
          <a:p>
            <a:endParaRPr/>
          </a:p>
        </p:txBody>
      </p:sp>
      <p:sp>
        <p:nvSpPr>
          <p:cNvPr id="32" name="Shape 29"/>
          <p:cNvSpPr/>
          <p:nvPr/>
        </p:nvSpPr>
        <p:spPr>
          <a:xfrm>
            <a:off x="8443407" y="4100822"/>
            <a:ext cx="1400859" cy="571390"/>
          </a:xfrm>
          <a:prstGeom prst="rect">
            <a:avLst/>
          </a:prstGeom>
          <a:solidFill>
            <a:srgbClr val="1B3F5A"/>
          </a:solidFill>
          <a:ln/>
        </p:spPr>
        <p:txBody>
          <a:bodyPr/>
          <a:lstStyle/>
          <a:p>
            <a:endParaRPr/>
          </a:p>
        </p:txBody>
      </p:sp>
      <p:sp>
        <p:nvSpPr>
          <p:cNvPr id="33" name="Shape 30"/>
          <p:cNvSpPr/>
          <p:nvPr/>
        </p:nvSpPr>
        <p:spPr>
          <a:xfrm>
            <a:off x="9920443" y="4100822"/>
            <a:ext cx="1400859" cy="571390"/>
          </a:xfrm>
          <a:prstGeom prst="rect">
            <a:avLst/>
          </a:prstGeom>
          <a:solidFill>
            <a:srgbClr val="F2B661"/>
          </a:solidFill>
          <a:ln/>
          <a:effectLst>
            <a:outerShdw blurRad="228600" dist="50800" dir="16200000" algn="bl" rotWithShape="0">
              <a:srgbClr val="F2B661">
                <a:alpha val="40000"/>
              </a:srgbClr>
            </a:outerShdw>
          </a:effectLst>
        </p:spPr>
        <p:txBody>
          <a:bodyPr/>
          <a:lstStyle/>
          <a:p>
            <a:endParaRPr/>
          </a:p>
        </p:txBody>
      </p:sp>
      <p:sp>
        <p:nvSpPr>
          <p:cNvPr id="34" name="Shape 31"/>
          <p:cNvSpPr/>
          <p:nvPr/>
        </p:nvSpPr>
        <p:spPr>
          <a:xfrm>
            <a:off x="6966480" y="4748390"/>
            <a:ext cx="1400749" cy="571390"/>
          </a:xfrm>
          <a:prstGeom prst="rect">
            <a:avLst/>
          </a:prstGeom>
          <a:solidFill>
            <a:srgbClr val="101C2F"/>
          </a:solidFill>
          <a:ln/>
        </p:spPr>
        <p:txBody>
          <a:bodyPr/>
          <a:lstStyle/>
          <a:p>
            <a:endParaRPr/>
          </a:p>
        </p:txBody>
      </p:sp>
      <p:sp>
        <p:nvSpPr>
          <p:cNvPr id="35" name="Shape 32"/>
          <p:cNvSpPr/>
          <p:nvPr/>
        </p:nvSpPr>
        <p:spPr>
          <a:xfrm>
            <a:off x="8443407" y="4748390"/>
            <a:ext cx="1400859" cy="571390"/>
          </a:xfrm>
          <a:prstGeom prst="rect">
            <a:avLst/>
          </a:prstGeom>
          <a:solidFill>
            <a:srgbClr val="13233A"/>
          </a:solidFill>
          <a:ln/>
        </p:spPr>
        <p:txBody>
          <a:bodyPr/>
          <a:lstStyle/>
          <a:p>
            <a:endParaRPr/>
          </a:p>
        </p:txBody>
      </p:sp>
      <p:sp>
        <p:nvSpPr>
          <p:cNvPr id="36" name="Shape 33"/>
          <p:cNvSpPr/>
          <p:nvPr/>
        </p:nvSpPr>
        <p:spPr>
          <a:xfrm>
            <a:off x="9920443" y="4748390"/>
            <a:ext cx="1400859" cy="571390"/>
          </a:xfrm>
          <a:prstGeom prst="rect">
            <a:avLst/>
          </a:prstGeom>
          <a:solidFill>
            <a:srgbClr val="1B3F5A"/>
          </a:solidFill>
          <a:ln/>
        </p:spPr>
        <p:txBody>
          <a:bodyPr/>
          <a:lstStyle/>
          <a:p>
            <a:endParaRPr/>
          </a:p>
        </p:txBody>
      </p:sp>
      <p:sp>
        <p:nvSpPr>
          <p:cNvPr id="37" name="Shape 34"/>
          <p:cNvSpPr/>
          <p:nvPr/>
        </p:nvSpPr>
        <p:spPr>
          <a:xfrm>
            <a:off x="6966480" y="5395957"/>
            <a:ext cx="1400749" cy="571390"/>
          </a:xfrm>
          <a:prstGeom prst="rect">
            <a:avLst/>
          </a:prstGeom>
          <a:solidFill>
            <a:srgbClr val="0D1727"/>
          </a:solidFill>
          <a:ln/>
        </p:spPr>
        <p:txBody>
          <a:bodyPr/>
          <a:lstStyle/>
          <a:p>
            <a:endParaRPr/>
          </a:p>
        </p:txBody>
      </p:sp>
      <p:sp>
        <p:nvSpPr>
          <p:cNvPr id="38" name="Shape 35"/>
          <p:cNvSpPr/>
          <p:nvPr/>
        </p:nvSpPr>
        <p:spPr>
          <a:xfrm>
            <a:off x="8443407" y="5395957"/>
            <a:ext cx="1400859" cy="571390"/>
          </a:xfrm>
          <a:prstGeom prst="rect">
            <a:avLst/>
          </a:prstGeom>
          <a:solidFill>
            <a:srgbClr val="101C2F"/>
          </a:solidFill>
          <a:ln/>
        </p:spPr>
        <p:txBody>
          <a:bodyPr/>
          <a:lstStyle/>
          <a:p>
            <a:endParaRPr/>
          </a:p>
        </p:txBody>
      </p:sp>
      <p:sp>
        <p:nvSpPr>
          <p:cNvPr id="39" name="Shape 36"/>
          <p:cNvSpPr/>
          <p:nvPr/>
        </p:nvSpPr>
        <p:spPr>
          <a:xfrm>
            <a:off x="9920443" y="5395957"/>
            <a:ext cx="1400859" cy="571390"/>
          </a:xfrm>
          <a:prstGeom prst="rect">
            <a:avLst/>
          </a:prstGeom>
          <a:solidFill>
            <a:srgbClr val="13233A"/>
          </a:solidFill>
          <a:ln/>
        </p:spPr>
        <p:txBody>
          <a:bodyPr/>
          <a:lstStyle/>
          <a:p>
            <a:endParaRPr/>
          </a:p>
        </p:txBody>
      </p:sp>
      <p:sp>
        <p:nvSpPr>
          <p:cNvPr id="40" name="Text 37"/>
          <p:cNvSpPr/>
          <p:nvPr/>
        </p:nvSpPr>
        <p:spPr>
          <a:xfrm>
            <a:off x="6966480" y="6138775"/>
            <a:ext cx="1646568" cy="334433"/>
          </a:xfrm>
          <a:prstGeom prst="rect">
            <a:avLst/>
          </a:prstGeom>
          <a:noFill/>
          <a:ln/>
        </p:spPr>
        <p:txBody>
          <a:bodyPr wrap="non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PROXIMITY →</a:t>
            </a:r>
            <a:endParaRPr lang="en-US" sz="1800" dirty="0"/>
          </a:p>
        </p:txBody>
      </p:sp>
      <p:sp>
        <p:nvSpPr>
          <p:cNvPr id="41" name="Text 38"/>
          <p:cNvSpPr/>
          <p:nvPr/>
        </p:nvSpPr>
        <p:spPr>
          <a:xfrm>
            <a:off x="9812956" y="6138775"/>
            <a:ext cx="1659180" cy="334433"/>
          </a:xfrm>
          <a:prstGeom prst="rect">
            <a:avLst/>
          </a:prstGeom>
          <a:noFill/>
          <a:ln/>
        </p:spPr>
        <p:txBody>
          <a:bodyPr wrap="non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INDICATOR ↑</a:t>
            </a:r>
            <a:endParaRPr lang="en-US" sz="1800" dirty="0"/>
          </a:p>
        </p:txBody>
      </p:sp>
      <p:sp>
        <p:nvSpPr>
          <p:cNvPr id="42" name="Text 39"/>
          <p:cNvSpPr/>
          <p:nvPr/>
        </p:nvSpPr>
        <p:spPr>
          <a:xfrm>
            <a:off x="6966480" y="8307256"/>
            <a:ext cx="4790304"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F8098"/>
                </a:solidFill>
                <a:latin typeface="Arial" pitchFamily="34" charset="0"/>
                <a:ea typeface="Arial" pitchFamily="34" charset="-122"/>
                <a:cs typeface="Arial" pitchFamily="34" charset="-120"/>
              </a:rPr>
              <a:t>Conceptual view</a:t>
            </a:r>
            <a:endParaRPr lang="en-US" sz="1800" dirty="0"/>
          </a:p>
        </p:txBody>
      </p:sp>
      <p:sp>
        <p:nvSpPr>
          <p:cNvPr id="43" name="Text 40"/>
          <p:cNvSpPr/>
          <p:nvPr/>
        </p:nvSpPr>
        <p:spPr>
          <a:xfrm>
            <a:off x="11633113" y="2605154"/>
            <a:ext cx="571412" cy="6386447"/>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44" name="Shape 41"/>
          <p:cNvSpPr/>
          <p:nvPr/>
        </p:nvSpPr>
        <p:spPr>
          <a:xfrm>
            <a:off x="12166425" y="2605154"/>
            <a:ext cx="5054645" cy="6348347"/>
          </a:xfrm>
          <a:prstGeom prst="rect">
            <a:avLst/>
          </a:prstGeom>
          <a:solidFill>
            <a:srgbClr val="5CC8F0">
              <a:alpha val="6000"/>
            </a:srgbClr>
          </a:solidFill>
          <a:ln w="7056">
            <a:solidFill>
              <a:srgbClr val="2A5C78"/>
            </a:solidFill>
            <a:prstDash val="solid"/>
          </a:ln>
        </p:spPr>
        <p:txBody>
          <a:bodyPr/>
          <a:lstStyle/>
          <a:p>
            <a:endParaRPr/>
          </a:p>
        </p:txBody>
      </p:sp>
      <p:sp>
        <p:nvSpPr>
          <p:cNvPr id="45" name="Text 42"/>
          <p:cNvSpPr/>
          <p:nvPr/>
        </p:nvSpPr>
        <p:spPr>
          <a:xfrm>
            <a:off x="12516337" y="2955066"/>
            <a:ext cx="4790304"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5CC8F0"/>
                </a:solidFill>
                <a:latin typeface="Courier New" pitchFamily="34" charset="0"/>
                <a:ea typeface="Courier New" pitchFamily="34" charset="-122"/>
                <a:cs typeface="Courier New" pitchFamily="34" charset="-120"/>
              </a:rPr>
              <a:t>03 · EXPLANATION</a:t>
            </a:r>
            <a:endParaRPr lang="en-US" sz="1800" dirty="0"/>
          </a:p>
        </p:txBody>
      </p:sp>
      <p:sp>
        <p:nvSpPr>
          <p:cNvPr id="46" name="Text 43"/>
          <p:cNvSpPr/>
          <p:nvPr/>
        </p:nvSpPr>
        <p:spPr>
          <a:xfrm>
            <a:off x="12516337" y="3422827"/>
            <a:ext cx="4485466" cy="860954"/>
          </a:xfrm>
          <a:prstGeom prst="rect">
            <a:avLst/>
          </a:prstGeom>
          <a:noFill/>
          <a:ln/>
        </p:spPr>
        <p:txBody>
          <a:bodyPr wrap="square" lIns="25400" tIns="25400" rIns="25400" bIns="25400" rtlCol="0" anchor="t">
            <a:normAutofit/>
          </a:bodyPr>
          <a:lstStyle/>
          <a:p>
            <a:pPr marL="0" indent="0" algn="l">
              <a:lnSpc>
                <a:spcPct val="104143"/>
              </a:lnSpc>
              <a:buNone/>
            </a:pPr>
            <a:r>
              <a:rPr lang="en-US" sz="2700" dirty="0">
                <a:solidFill>
                  <a:srgbClr val="E6EDF5"/>
                </a:solidFill>
                <a:latin typeface="Arial" pitchFamily="34" charset="0"/>
                <a:ea typeface="Arial" pitchFamily="34" charset="-122"/>
                <a:cs typeface="Arial" pitchFamily="34" charset="-120"/>
              </a:rPr>
              <a:t>Human-readable assessment</a:t>
            </a:r>
            <a:endParaRPr lang="en-US" sz="2700" dirty="0"/>
          </a:p>
        </p:txBody>
      </p:sp>
      <p:sp>
        <p:nvSpPr>
          <p:cNvPr id="47" name="Text 44"/>
          <p:cNvSpPr/>
          <p:nvPr/>
        </p:nvSpPr>
        <p:spPr>
          <a:xfrm>
            <a:off x="12516337" y="4512249"/>
            <a:ext cx="4790304" cy="398044"/>
          </a:xfrm>
          <a:prstGeom prst="rect">
            <a:avLst/>
          </a:prstGeom>
          <a:noFill/>
          <a:ln/>
        </p:spPr>
        <p:txBody>
          <a:bodyPr wrap="square" lIns="25400" tIns="25400" rIns="25400" bIns="25400" rtlCol="0" anchor="t">
            <a:normAutofit/>
          </a:bodyPr>
          <a:lstStyle/>
          <a:p>
            <a:pPr marL="0" indent="0" algn="l">
              <a:lnSpc>
                <a:spcPct val="118674"/>
              </a:lnSpc>
              <a:buNone/>
            </a:pPr>
            <a:r>
              <a:rPr lang="en-US" sz="2100" dirty="0">
                <a:solidFill>
                  <a:srgbClr val="C9D4E2"/>
                </a:solidFill>
                <a:latin typeface="Arial" pitchFamily="34" charset="0"/>
                <a:ea typeface="Arial" pitchFamily="34" charset="-122"/>
                <a:cs typeface="Arial" pitchFamily="34" charset="-120"/>
              </a:rPr>
              <a:t>Summarises the evidence</a:t>
            </a:r>
            <a:endParaRPr lang="en-US" sz="2100" dirty="0"/>
          </a:p>
        </p:txBody>
      </p:sp>
      <p:sp>
        <p:nvSpPr>
          <p:cNvPr id="48" name="Text 45"/>
          <p:cNvSpPr/>
          <p:nvPr/>
        </p:nvSpPr>
        <p:spPr>
          <a:xfrm>
            <a:off x="12516337" y="5024549"/>
            <a:ext cx="4790304" cy="398044"/>
          </a:xfrm>
          <a:prstGeom prst="rect">
            <a:avLst/>
          </a:prstGeom>
          <a:noFill/>
          <a:ln/>
        </p:spPr>
        <p:txBody>
          <a:bodyPr wrap="square" lIns="25400" tIns="25400" rIns="25400" bIns="25400" rtlCol="0" anchor="t">
            <a:normAutofit/>
          </a:bodyPr>
          <a:lstStyle/>
          <a:p>
            <a:pPr marL="0" indent="0" algn="l">
              <a:lnSpc>
                <a:spcPct val="118674"/>
              </a:lnSpc>
              <a:buNone/>
            </a:pPr>
            <a:r>
              <a:rPr lang="en-US" sz="2100" dirty="0">
                <a:solidFill>
                  <a:srgbClr val="C9D4E2"/>
                </a:solidFill>
                <a:latin typeface="Arial" pitchFamily="34" charset="0"/>
                <a:ea typeface="Arial" pitchFamily="34" charset="-122"/>
                <a:cs typeface="Arial" pitchFamily="34" charset="-120"/>
              </a:rPr>
              <a:t>States why it was prioritised</a:t>
            </a:r>
            <a:endParaRPr lang="en-US" sz="2100" dirty="0"/>
          </a:p>
        </p:txBody>
      </p:sp>
      <p:sp>
        <p:nvSpPr>
          <p:cNvPr id="49" name="Text 46"/>
          <p:cNvSpPr/>
          <p:nvPr/>
        </p:nvSpPr>
        <p:spPr>
          <a:xfrm>
            <a:off x="12516337" y="5536848"/>
            <a:ext cx="4485466" cy="757987"/>
          </a:xfrm>
          <a:prstGeom prst="rect">
            <a:avLst/>
          </a:prstGeom>
          <a:noFill/>
          <a:ln/>
        </p:spPr>
        <p:txBody>
          <a:bodyPr wrap="square" lIns="25400" tIns="25400" rIns="25400" bIns="25400" rtlCol="0" anchor="t">
            <a:normAutofit/>
          </a:bodyPr>
          <a:lstStyle/>
          <a:p>
            <a:pPr marL="0" indent="0" algn="l">
              <a:lnSpc>
                <a:spcPct val="118674"/>
              </a:lnSpc>
              <a:buNone/>
            </a:pPr>
            <a:r>
              <a:rPr lang="en-US" sz="2100" dirty="0">
                <a:solidFill>
                  <a:srgbClr val="C9D4E2"/>
                </a:solidFill>
                <a:latin typeface="Arial" pitchFamily="34" charset="0"/>
                <a:ea typeface="Arial" pitchFamily="34" charset="-122"/>
                <a:cs typeface="Arial" pitchFamily="34" charset="-120"/>
              </a:rPr>
              <a:t>Second-pass consistency check when AI is enabled</a:t>
            </a:r>
            <a:endParaRPr lang="en-US" sz="2100" dirty="0"/>
          </a:p>
        </p:txBody>
      </p:sp>
      <p:sp>
        <p:nvSpPr>
          <p:cNvPr id="50" name="Shape 47"/>
          <p:cNvSpPr/>
          <p:nvPr/>
        </p:nvSpPr>
        <p:spPr>
          <a:xfrm>
            <a:off x="12516337" y="8090849"/>
            <a:ext cx="4354822" cy="9525"/>
          </a:xfrm>
          <a:prstGeom prst="rect">
            <a:avLst/>
          </a:prstGeom>
          <a:solidFill>
            <a:srgbClr val="2A3B55"/>
          </a:solidFill>
          <a:ln/>
        </p:spPr>
        <p:txBody>
          <a:bodyPr/>
          <a:lstStyle/>
          <a:p>
            <a:endParaRPr/>
          </a:p>
        </p:txBody>
      </p:sp>
      <p:sp>
        <p:nvSpPr>
          <p:cNvPr id="51" name="Text 48"/>
          <p:cNvSpPr/>
          <p:nvPr/>
        </p:nvSpPr>
        <p:spPr>
          <a:xfrm>
            <a:off x="12516337" y="8269355"/>
            <a:ext cx="4485466" cy="372335"/>
          </a:xfrm>
          <a:prstGeom prst="rect">
            <a:avLst/>
          </a:prstGeom>
          <a:noFill/>
          <a:ln/>
        </p:spPr>
        <p:txBody>
          <a:bodyPr wrap="square" lIns="25400" tIns="25400" rIns="25400" bIns="25400" rtlCol="0" anchor="t">
            <a:normAutofit/>
          </a:bodyPr>
          <a:lstStyle/>
          <a:p>
            <a:pPr marL="0" indent="0" algn="l">
              <a:lnSpc>
                <a:spcPct val="118462"/>
              </a:lnSpc>
              <a:buNone/>
            </a:pPr>
            <a:r>
              <a:rPr lang="en-US" sz="1950" dirty="0">
                <a:solidFill>
                  <a:srgbClr val="E6EDF5"/>
                </a:solidFill>
                <a:latin typeface="Arial" pitchFamily="34" charset="0"/>
                <a:ea typeface="Arial" pitchFamily="34" charset="-122"/>
                <a:cs typeface="Arial" pitchFamily="34" charset="-120"/>
              </a:rPr>
              <a:t>AI unavailable? </a:t>
            </a:r>
            <a:r>
              <a:rPr lang="en-US" sz="1950" dirty="0">
                <a:solidFill>
                  <a:srgbClr val="5CC8F0"/>
                </a:solidFill>
                <a:latin typeface="Arial" pitchFamily="34" charset="0"/>
                <a:ea typeface="Arial" pitchFamily="34" charset="-122"/>
                <a:cs typeface="Arial" pitchFamily="34" charset="-120"/>
              </a:rPr>
              <a:t>Deterministic fallback.</a:t>
            </a:r>
            <a:endParaRPr lang="en-US" sz="1950" dirty="0"/>
          </a:p>
        </p:txBody>
      </p:sp>
      <p:sp>
        <p:nvSpPr>
          <p:cNvPr id="52" name="Shape 49"/>
          <p:cNvSpPr/>
          <p:nvPr/>
        </p:nvSpPr>
        <p:spPr>
          <a:xfrm>
            <a:off x="1066712" y="9629181"/>
            <a:ext cx="190390" cy="28553"/>
          </a:xfrm>
          <a:prstGeom prst="rect">
            <a:avLst/>
          </a:prstGeom>
          <a:solidFill>
            <a:srgbClr val="FF9933"/>
          </a:solidFill>
          <a:ln/>
        </p:spPr>
        <p:txBody>
          <a:bodyPr/>
          <a:lstStyle/>
          <a:p>
            <a:endParaRPr/>
          </a:p>
        </p:txBody>
      </p:sp>
      <p:sp>
        <p:nvSpPr>
          <p:cNvPr id="53" name="Shape 50"/>
          <p:cNvSpPr/>
          <p:nvPr/>
        </p:nvSpPr>
        <p:spPr>
          <a:xfrm>
            <a:off x="1257102" y="9629181"/>
            <a:ext cx="190390" cy="28553"/>
          </a:xfrm>
          <a:prstGeom prst="rect">
            <a:avLst/>
          </a:prstGeom>
          <a:solidFill>
            <a:srgbClr val="F2F2F2"/>
          </a:solidFill>
          <a:ln/>
        </p:spPr>
        <p:txBody>
          <a:bodyPr/>
          <a:lstStyle/>
          <a:p>
            <a:endParaRPr/>
          </a:p>
        </p:txBody>
      </p:sp>
      <p:sp>
        <p:nvSpPr>
          <p:cNvPr id="54" name="Shape 51"/>
          <p:cNvSpPr/>
          <p:nvPr/>
        </p:nvSpPr>
        <p:spPr>
          <a:xfrm>
            <a:off x="1447491" y="9629181"/>
            <a:ext cx="190390" cy="28553"/>
          </a:xfrm>
          <a:prstGeom prst="rect">
            <a:avLst/>
          </a:prstGeom>
          <a:solidFill>
            <a:srgbClr val="1FA84A"/>
          </a:solidFill>
          <a:ln/>
        </p:spPr>
        <p:txBody>
          <a:bodyPr/>
          <a:lstStyle/>
          <a:p>
            <a:endParaRPr/>
          </a:p>
        </p:txBody>
      </p:sp>
      <p:sp>
        <p:nvSpPr>
          <p:cNvPr id="55" name="Text 52"/>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6" name="Text 53"/>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08 / 15</a:t>
            </a:r>
            <a:endParaRPr lang="en-US" sz="1800" dirty="0"/>
          </a:p>
        </p:txBody>
      </p:sp>
      <p:pic>
        <p:nvPicPr>
          <p:cNvPr id="57" name="Narration slide 8">
            <a:hlinkClick r:id="" action="ppaction://media"/>
            <a:extLst>
              <a:ext uri="{FF2B5EF4-FFF2-40B4-BE49-F238E27FC236}">
                <a16:creationId xmlns:a16="http://schemas.microsoft.com/office/drawing/2014/main" id="{7C55475F-228D-BE4A-D2CC-EF4C3E6BA31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48" fill="hold"/>
                                        <p:tgtEl>
                                          <p:spTgt spid="5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09</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2046387"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AI BOUNDARY</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5CC8F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Where does AI stop?</a:t>
            </a:r>
            <a:endParaRPr lang="en-US" sz="5100" dirty="0"/>
          </a:p>
        </p:txBody>
      </p:sp>
      <p:sp>
        <p:nvSpPr>
          <p:cNvPr id="15" name="Shape 12"/>
          <p:cNvSpPr/>
          <p:nvPr/>
        </p:nvSpPr>
        <p:spPr>
          <a:xfrm>
            <a:off x="1066712" y="2605154"/>
            <a:ext cx="7943895" cy="6348347"/>
          </a:xfrm>
          <a:prstGeom prst="rect">
            <a:avLst/>
          </a:prstGeom>
          <a:solidFill>
            <a:srgbClr val="5CC8F0">
              <a:alpha val="5000"/>
            </a:srgbClr>
          </a:solidFill>
          <a:ln w="7056">
            <a:solidFill>
              <a:srgbClr val="2A5C78"/>
            </a:solidFill>
            <a:prstDash val="solid"/>
          </a:ln>
        </p:spPr>
        <p:txBody>
          <a:bodyPr/>
          <a:lstStyle/>
          <a:p>
            <a:endParaRPr/>
          </a:p>
        </p:txBody>
      </p:sp>
      <p:sp>
        <p:nvSpPr>
          <p:cNvPr id="16" name="Text 13"/>
          <p:cNvSpPr/>
          <p:nvPr/>
        </p:nvSpPr>
        <p:spPr>
          <a:xfrm>
            <a:off x="1492801" y="2993099"/>
            <a:ext cx="1847387" cy="609600"/>
          </a:xfrm>
          <a:prstGeom prst="rect">
            <a:avLst/>
          </a:prstGeom>
          <a:noFill/>
          <a:ln/>
        </p:spPr>
        <p:txBody>
          <a:bodyPr wrap="none" lIns="25400" tIns="25400" rIns="25400" bIns="25400" rtlCol="0" anchor="t">
            <a:normAutofit/>
          </a:bodyPr>
          <a:lstStyle/>
          <a:p>
            <a:pPr marL="0" indent="0" algn="l">
              <a:buNone/>
            </a:pPr>
            <a:r>
              <a:rPr lang="en-US" sz="3900" b="1" dirty="0">
                <a:solidFill>
                  <a:srgbClr val="5CC8F0"/>
                </a:solidFill>
                <a:latin typeface="Arial" pitchFamily="34" charset="0"/>
                <a:ea typeface="Arial" pitchFamily="34" charset="-122"/>
                <a:cs typeface="Arial" pitchFamily="34" charset="-120"/>
              </a:rPr>
              <a:t>AI does</a:t>
            </a:r>
            <a:endParaRPr lang="en-US" sz="3900" dirty="0"/>
          </a:p>
        </p:txBody>
      </p:sp>
      <p:sp>
        <p:nvSpPr>
          <p:cNvPr id="17" name="Text 14"/>
          <p:cNvSpPr/>
          <p:nvPr/>
        </p:nvSpPr>
        <p:spPr>
          <a:xfrm>
            <a:off x="7624631" y="3218877"/>
            <a:ext cx="1036086" cy="334433"/>
          </a:xfrm>
          <a:prstGeom prst="rect">
            <a:avLst/>
          </a:prstGeom>
          <a:noFill/>
          <a:ln/>
        </p:spPr>
        <p:txBody>
          <a:bodyPr wrap="non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EXPLAIN</a:t>
            </a:r>
            <a:endParaRPr lang="en-US" sz="1800" dirty="0"/>
          </a:p>
        </p:txBody>
      </p:sp>
      <p:sp>
        <p:nvSpPr>
          <p:cNvPr id="18" name="Shape 15"/>
          <p:cNvSpPr/>
          <p:nvPr/>
        </p:nvSpPr>
        <p:spPr>
          <a:xfrm>
            <a:off x="1492801" y="4557669"/>
            <a:ext cx="7091716" cy="9525"/>
          </a:xfrm>
          <a:prstGeom prst="rect">
            <a:avLst/>
          </a:prstGeom>
          <a:solidFill>
            <a:srgbClr val="1E3A52"/>
          </a:solidFill>
          <a:ln/>
        </p:spPr>
        <p:txBody>
          <a:bodyPr/>
          <a:lstStyle/>
          <a:p>
            <a:endParaRPr/>
          </a:p>
        </p:txBody>
      </p:sp>
      <p:sp>
        <p:nvSpPr>
          <p:cNvPr id="19" name="Text 16"/>
          <p:cNvSpPr/>
          <p:nvPr/>
        </p:nvSpPr>
        <p:spPr>
          <a:xfrm>
            <a:off x="1492801" y="3964451"/>
            <a:ext cx="253361"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20" name="Text 17"/>
          <p:cNvSpPr/>
          <p:nvPr/>
        </p:nvSpPr>
        <p:spPr>
          <a:xfrm>
            <a:off x="1860352" y="3964451"/>
            <a:ext cx="7396582"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E6EDF5"/>
                </a:solidFill>
                <a:latin typeface="Arial" pitchFamily="34" charset="0"/>
                <a:ea typeface="Arial" pitchFamily="34" charset="-122"/>
                <a:cs typeface="Arial" pitchFamily="34" charset="-120"/>
              </a:rPr>
              <a:t>Summarise deterministic evidence</a:t>
            </a:r>
            <a:endParaRPr lang="en-US" sz="2325" dirty="0"/>
          </a:p>
        </p:txBody>
      </p:sp>
      <p:sp>
        <p:nvSpPr>
          <p:cNvPr id="21" name="Shape 18"/>
          <p:cNvSpPr/>
          <p:nvPr/>
        </p:nvSpPr>
        <p:spPr>
          <a:xfrm>
            <a:off x="1492801" y="5367404"/>
            <a:ext cx="7091716" cy="9525"/>
          </a:xfrm>
          <a:prstGeom prst="rect">
            <a:avLst/>
          </a:prstGeom>
          <a:solidFill>
            <a:srgbClr val="1E3A52"/>
          </a:solidFill>
          <a:ln/>
        </p:spPr>
        <p:txBody>
          <a:bodyPr/>
          <a:lstStyle/>
          <a:p>
            <a:endParaRPr/>
          </a:p>
        </p:txBody>
      </p:sp>
      <p:sp>
        <p:nvSpPr>
          <p:cNvPr id="22" name="Text 19"/>
          <p:cNvSpPr/>
          <p:nvPr/>
        </p:nvSpPr>
        <p:spPr>
          <a:xfrm>
            <a:off x="1492801" y="4774186"/>
            <a:ext cx="253361"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23" name="Text 20"/>
          <p:cNvSpPr/>
          <p:nvPr/>
        </p:nvSpPr>
        <p:spPr>
          <a:xfrm>
            <a:off x="1860352" y="4774186"/>
            <a:ext cx="7396582"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E6EDF5"/>
                </a:solidFill>
                <a:latin typeface="Arial" pitchFamily="34" charset="0"/>
                <a:ea typeface="Arial" pitchFamily="34" charset="-122"/>
                <a:cs typeface="Arial" pitchFamily="34" charset="-120"/>
              </a:rPr>
              <a:t>Explain why an event was prioritised</a:t>
            </a:r>
            <a:endParaRPr lang="en-US" sz="2325" dirty="0"/>
          </a:p>
        </p:txBody>
      </p:sp>
      <p:sp>
        <p:nvSpPr>
          <p:cNvPr id="24" name="Shape 21"/>
          <p:cNvSpPr/>
          <p:nvPr/>
        </p:nvSpPr>
        <p:spPr>
          <a:xfrm>
            <a:off x="1492801" y="6177139"/>
            <a:ext cx="7091716" cy="9525"/>
          </a:xfrm>
          <a:prstGeom prst="rect">
            <a:avLst/>
          </a:prstGeom>
          <a:solidFill>
            <a:srgbClr val="1E3A52"/>
          </a:solidFill>
          <a:ln/>
        </p:spPr>
        <p:txBody>
          <a:bodyPr/>
          <a:lstStyle/>
          <a:p>
            <a:endParaRPr/>
          </a:p>
        </p:txBody>
      </p:sp>
      <p:sp>
        <p:nvSpPr>
          <p:cNvPr id="25" name="Text 22"/>
          <p:cNvSpPr/>
          <p:nvPr/>
        </p:nvSpPr>
        <p:spPr>
          <a:xfrm>
            <a:off x="1492801" y="5583922"/>
            <a:ext cx="253361"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26" name="Text 23"/>
          <p:cNvSpPr/>
          <p:nvPr/>
        </p:nvSpPr>
        <p:spPr>
          <a:xfrm>
            <a:off x="1860352" y="5583922"/>
            <a:ext cx="7396582" cy="421856"/>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E6EDF5"/>
                </a:solidFill>
                <a:latin typeface="Arial" pitchFamily="34" charset="0"/>
                <a:ea typeface="Arial" pitchFamily="34" charset="-122"/>
                <a:cs typeface="Arial" pitchFamily="34" charset="-120"/>
              </a:rPr>
              <a:t>Write a human-readable assessment</a:t>
            </a:r>
            <a:endParaRPr lang="en-US" sz="2325" dirty="0"/>
          </a:p>
        </p:txBody>
      </p:sp>
      <p:sp>
        <p:nvSpPr>
          <p:cNvPr id="27" name="Text 24"/>
          <p:cNvSpPr/>
          <p:nvPr/>
        </p:nvSpPr>
        <p:spPr>
          <a:xfrm>
            <a:off x="1492801" y="6393657"/>
            <a:ext cx="253361" cy="805612"/>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5CC8F0"/>
                </a:solidFill>
                <a:latin typeface="Courier New" pitchFamily="34" charset="0"/>
                <a:ea typeface="Courier New" pitchFamily="34" charset="-122"/>
                <a:cs typeface="Courier New" pitchFamily="34" charset="-120"/>
              </a:rPr>
              <a:t>+</a:t>
            </a:r>
            <a:endParaRPr lang="en-US" sz="2325" dirty="0"/>
          </a:p>
        </p:txBody>
      </p:sp>
      <p:sp>
        <p:nvSpPr>
          <p:cNvPr id="28" name="Text 25"/>
          <p:cNvSpPr/>
          <p:nvPr/>
        </p:nvSpPr>
        <p:spPr>
          <a:xfrm>
            <a:off x="1860352" y="6393657"/>
            <a:ext cx="6925891" cy="805612"/>
          </a:xfrm>
          <a:prstGeom prst="rect">
            <a:avLst/>
          </a:prstGeom>
          <a:noFill/>
          <a:ln/>
        </p:spPr>
        <p:txBody>
          <a:bodyPr wrap="square" lIns="25400" tIns="25400" rIns="25400" bIns="25400" rtlCol="0" anchor="t">
            <a:normAutofit/>
          </a:bodyPr>
          <a:lstStyle/>
          <a:p>
            <a:pPr marL="0" indent="0" algn="l">
              <a:lnSpc>
                <a:spcPct val="113344"/>
              </a:lnSpc>
              <a:buNone/>
            </a:pPr>
            <a:r>
              <a:rPr lang="en-US" sz="2325" dirty="0">
                <a:solidFill>
                  <a:srgbClr val="E6EDF5"/>
                </a:solidFill>
                <a:latin typeface="Arial" pitchFamily="34" charset="0"/>
                <a:ea typeface="Arial" pitchFamily="34" charset="-122"/>
                <a:cs typeface="Arial" pitchFamily="34" charset="-120"/>
              </a:rPr>
              <a:t>Run a second-pass consistency check when AI is enabled</a:t>
            </a:r>
            <a:endParaRPr lang="en-US" sz="2325" dirty="0"/>
          </a:p>
        </p:txBody>
      </p:sp>
      <p:sp>
        <p:nvSpPr>
          <p:cNvPr id="29" name="Shape 26"/>
          <p:cNvSpPr/>
          <p:nvPr/>
        </p:nvSpPr>
        <p:spPr>
          <a:xfrm>
            <a:off x="9277285" y="2605154"/>
            <a:ext cx="7943895" cy="6348347"/>
          </a:xfrm>
          <a:prstGeom prst="rect">
            <a:avLst/>
          </a:prstGeom>
          <a:solidFill>
            <a:srgbClr val="F2B661">
              <a:alpha val="4000"/>
            </a:srgbClr>
          </a:solidFill>
          <a:ln w="7056">
            <a:solidFill>
              <a:srgbClr val="5A4A30"/>
            </a:solidFill>
            <a:prstDash val="solid"/>
          </a:ln>
        </p:spPr>
        <p:txBody>
          <a:bodyPr/>
          <a:lstStyle/>
          <a:p>
            <a:endParaRPr/>
          </a:p>
        </p:txBody>
      </p:sp>
      <p:sp>
        <p:nvSpPr>
          <p:cNvPr id="30" name="Text 27"/>
          <p:cNvSpPr/>
          <p:nvPr/>
        </p:nvSpPr>
        <p:spPr>
          <a:xfrm>
            <a:off x="9703375" y="2993099"/>
            <a:ext cx="2756044" cy="609600"/>
          </a:xfrm>
          <a:prstGeom prst="rect">
            <a:avLst/>
          </a:prstGeom>
          <a:noFill/>
          <a:ln/>
        </p:spPr>
        <p:txBody>
          <a:bodyPr wrap="none" lIns="25400" tIns="25400" rIns="25400" bIns="25400" rtlCol="0" anchor="t">
            <a:normAutofit/>
          </a:bodyPr>
          <a:lstStyle/>
          <a:p>
            <a:pPr marL="0" indent="0" algn="l">
              <a:buNone/>
            </a:pPr>
            <a:r>
              <a:rPr lang="en-US" sz="3900" b="1" dirty="0">
                <a:solidFill>
                  <a:srgbClr val="F2B661"/>
                </a:solidFill>
                <a:latin typeface="Arial" pitchFamily="34" charset="0"/>
                <a:ea typeface="Arial" pitchFamily="34" charset="-122"/>
                <a:cs typeface="Arial" pitchFamily="34" charset="-120"/>
              </a:rPr>
              <a:t>AI does not</a:t>
            </a:r>
            <a:endParaRPr lang="en-US" sz="3900" dirty="0"/>
          </a:p>
        </p:txBody>
      </p:sp>
      <p:sp>
        <p:nvSpPr>
          <p:cNvPr id="31" name="Text 28"/>
          <p:cNvSpPr/>
          <p:nvPr/>
        </p:nvSpPr>
        <p:spPr>
          <a:xfrm>
            <a:off x="14464001" y="3218877"/>
            <a:ext cx="2564199" cy="334433"/>
          </a:xfrm>
          <a:prstGeom prst="rect">
            <a:avLst/>
          </a:prstGeom>
          <a:noFill/>
          <a:ln/>
        </p:spPr>
        <p:txBody>
          <a:bodyPr wrap="non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COMPUTE · COMMAND</a:t>
            </a:r>
            <a:endParaRPr lang="en-US" sz="1800" dirty="0"/>
          </a:p>
        </p:txBody>
      </p:sp>
      <p:sp>
        <p:nvSpPr>
          <p:cNvPr id="32" name="Shape 29"/>
          <p:cNvSpPr/>
          <p:nvPr/>
        </p:nvSpPr>
        <p:spPr>
          <a:xfrm>
            <a:off x="9703375" y="4380619"/>
            <a:ext cx="7091716" cy="9525"/>
          </a:xfrm>
          <a:prstGeom prst="rect">
            <a:avLst/>
          </a:prstGeom>
          <a:solidFill>
            <a:srgbClr val="3A3226"/>
          </a:solidFill>
          <a:ln/>
        </p:spPr>
        <p:txBody>
          <a:bodyPr/>
          <a:lstStyle/>
          <a:p>
            <a:endParaRPr/>
          </a:p>
        </p:txBody>
      </p:sp>
      <p:sp>
        <p:nvSpPr>
          <p:cNvPr id="33" name="Text 30"/>
          <p:cNvSpPr/>
          <p:nvPr/>
        </p:nvSpPr>
        <p:spPr>
          <a:xfrm>
            <a:off x="9703375" y="3888273"/>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34" name="Text 31"/>
          <p:cNvSpPr/>
          <p:nvPr/>
        </p:nvSpPr>
        <p:spPr>
          <a:xfrm>
            <a:off x="10059459" y="3888273"/>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Calculate orbital positions</a:t>
            </a:r>
            <a:endParaRPr lang="en-US" sz="2175" dirty="0"/>
          </a:p>
        </p:txBody>
      </p:sp>
      <p:sp>
        <p:nvSpPr>
          <p:cNvPr id="35" name="Shape 32"/>
          <p:cNvSpPr/>
          <p:nvPr/>
        </p:nvSpPr>
        <p:spPr>
          <a:xfrm>
            <a:off x="9703375" y="5013303"/>
            <a:ext cx="7091716" cy="9525"/>
          </a:xfrm>
          <a:prstGeom prst="rect">
            <a:avLst/>
          </a:prstGeom>
          <a:solidFill>
            <a:srgbClr val="3A3226"/>
          </a:solidFill>
          <a:ln/>
        </p:spPr>
        <p:txBody>
          <a:bodyPr/>
          <a:lstStyle/>
          <a:p>
            <a:endParaRPr/>
          </a:p>
        </p:txBody>
      </p:sp>
      <p:sp>
        <p:nvSpPr>
          <p:cNvPr id="36" name="Text 33"/>
          <p:cNvSpPr/>
          <p:nvPr/>
        </p:nvSpPr>
        <p:spPr>
          <a:xfrm>
            <a:off x="9703375" y="4520958"/>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37" name="Text 34"/>
          <p:cNvSpPr/>
          <p:nvPr/>
        </p:nvSpPr>
        <p:spPr>
          <a:xfrm>
            <a:off x="10059459" y="4520958"/>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Calculate TCA or miss distance</a:t>
            </a:r>
            <a:endParaRPr lang="en-US" sz="2175" dirty="0"/>
          </a:p>
        </p:txBody>
      </p:sp>
      <p:sp>
        <p:nvSpPr>
          <p:cNvPr id="38" name="Shape 35"/>
          <p:cNvSpPr/>
          <p:nvPr/>
        </p:nvSpPr>
        <p:spPr>
          <a:xfrm>
            <a:off x="9703375" y="5645989"/>
            <a:ext cx="7091716" cy="9525"/>
          </a:xfrm>
          <a:prstGeom prst="rect">
            <a:avLst/>
          </a:prstGeom>
          <a:solidFill>
            <a:srgbClr val="3A3226"/>
          </a:solidFill>
          <a:ln/>
        </p:spPr>
        <p:txBody>
          <a:bodyPr/>
          <a:lstStyle/>
          <a:p>
            <a:endParaRPr/>
          </a:p>
        </p:txBody>
      </p:sp>
      <p:sp>
        <p:nvSpPr>
          <p:cNvPr id="39" name="Text 36"/>
          <p:cNvSpPr/>
          <p:nvPr/>
        </p:nvSpPr>
        <p:spPr>
          <a:xfrm>
            <a:off x="9703375" y="5153643"/>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40" name="Text 37"/>
          <p:cNvSpPr/>
          <p:nvPr/>
        </p:nvSpPr>
        <p:spPr>
          <a:xfrm>
            <a:off x="10059459" y="5153643"/>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Calculate collision probability</a:t>
            </a:r>
            <a:endParaRPr lang="en-US" sz="2175" dirty="0"/>
          </a:p>
        </p:txBody>
      </p:sp>
      <p:sp>
        <p:nvSpPr>
          <p:cNvPr id="41" name="Shape 38"/>
          <p:cNvSpPr/>
          <p:nvPr/>
        </p:nvSpPr>
        <p:spPr>
          <a:xfrm>
            <a:off x="9703375" y="6278673"/>
            <a:ext cx="7091716" cy="9525"/>
          </a:xfrm>
          <a:prstGeom prst="rect">
            <a:avLst/>
          </a:prstGeom>
          <a:solidFill>
            <a:srgbClr val="3A3226"/>
          </a:solidFill>
          <a:ln/>
        </p:spPr>
        <p:txBody>
          <a:bodyPr/>
          <a:lstStyle/>
          <a:p>
            <a:endParaRPr/>
          </a:p>
        </p:txBody>
      </p:sp>
      <p:sp>
        <p:nvSpPr>
          <p:cNvPr id="42" name="Text 39"/>
          <p:cNvSpPr/>
          <p:nvPr/>
        </p:nvSpPr>
        <p:spPr>
          <a:xfrm>
            <a:off x="9703375" y="5786328"/>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43" name="Text 40"/>
          <p:cNvSpPr/>
          <p:nvPr/>
        </p:nvSpPr>
        <p:spPr>
          <a:xfrm>
            <a:off x="10059459" y="5786328"/>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Determine orbital mechanics</a:t>
            </a:r>
            <a:endParaRPr lang="en-US" sz="2175" dirty="0"/>
          </a:p>
        </p:txBody>
      </p:sp>
      <p:sp>
        <p:nvSpPr>
          <p:cNvPr id="44" name="Shape 41"/>
          <p:cNvSpPr/>
          <p:nvPr/>
        </p:nvSpPr>
        <p:spPr>
          <a:xfrm>
            <a:off x="9703375" y="6911359"/>
            <a:ext cx="7091716" cy="9525"/>
          </a:xfrm>
          <a:prstGeom prst="rect">
            <a:avLst/>
          </a:prstGeom>
          <a:solidFill>
            <a:srgbClr val="3A3226"/>
          </a:solidFill>
          <a:ln/>
        </p:spPr>
        <p:txBody>
          <a:bodyPr/>
          <a:lstStyle/>
          <a:p>
            <a:endParaRPr/>
          </a:p>
        </p:txBody>
      </p:sp>
      <p:sp>
        <p:nvSpPr>
          <p:cNvPr id="45" name="Text 42"/>
          <p:cNvSpPr/>
          <p:nvPr/>
        </p:nvSpPr>
        <p:spPr>
          <a:xfrm>
            <a:off x="9703375" y="6419013"/>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46" name="Text 43"/>
          <p:cNvSpPr/>
          <p:nvPr/>
        </p:nvSpPr>
        <p:spPr>
          <a:xfrm>
            <a:off x="10059459" y="6419013"/>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Command spacecraft</a:t>
            </a:r>
            <a:endParaRPr lang="en-US" sz="2175" dirty="0"/>
          </a:p>
        </p:txBody>
      </p:sp>
      <p:sp>
        <p:nvSpPr>
          <p:cNvPr id="47" name="Text 44"/>
          <p:cNvSpPr/>
          <p:nvPr/>
        </p:nvSpPr>
        <p:spPr>
          <a:xfrm>
            <a:off x="9703375" y="7051698"/>
            <a:ext cx="241895" cy="397162"/>
          </a:xfrm>
          <a:prstGeom prst="rect">
            <a:avLst/>
          </a:prstGeom>
          <a:noFill/>
          <a:ln/>
        </p:spPr>
        <p:txBody>
          <a:bodyPr wrap="square" lIns="25400" tIns="25400" rIns="25400" bIns="25400" rtlCol="0" anchor="t">
            <a:normAutofit/>
          </a:bodyPr>
          <a:lstStyle/>
          <a:p>
            <a:pPr marL="0" indent="0" algn="l">
              <a:lnSpc>
                <a:spcPct val="113100"/>
              </a:lnSpc>
              <a:buNone/>
            </a:pPr>
            <a:r>
              <a:rPr lang="en-US" sz="2175" dirty="0">
                <a:solidFill>
                  <a:srgbClr val="F2B661"/>
                </a:solidFill>
                <a:latin typeface="Courier New" pitchFamily="34" charset="0"/>
                <a:ea typeface="Courier New" pitchFamily="34" charset="-122"/>
                <a:cs typeface="Courier New" pitchFamily="34" charset="-120"/>
              </a:rPr>
              <a:t>×</a:t>
            </a:r>
            <a:endParaRPr lang="en-US" sz="2175" dirty="0"/>
          </a:p>
        </p:txBody>
      </p:sp>
      <p:sp>
        <p:nvSpPr>
          <p:cNvPr id="48" name="Text 45"/>
          <p:cNvSpPr/>
          <p:nvPr/>
        </p:nvSpPr>
        <p:spPr>
          <a:xfrm>
            <a:off x="10059459" y="7051698"/>
            <a:ext cx="7409194" cy="397162"/>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C9D4E2"/>
                </a:solidFill>
                <a:latin typeface="Arial" pitchFamily="34" charset="0"/>
                <a:ea typeface="Arial" pitchFamily="34" charset="-122"/>
                <a:cs typeface="Arial" pitchFamily="34" charset="-120"/>
              </a:rPr>
              <a:t>Make autonomous manoeuvre decisions</a:t>
            </a:r>
            <a:endParaRPr lang="en-US" sz="2175" dirty="0"/>
          </a:p>
        </p:txBody>
      </p:sp>
      <p:sp>
        <p:nvSpPr>
          <p:cNvPr id="49" name="Shape 46"/>
          <p:cNvSpPr/>
          <p:nvPr/>
        </p:nvSpPr>
        <p:spPr>
          <a:xfrm>
            <a:off x="1066712" y="9629181"/>
            <a:ext cx="190390" cy="28553"/>
          </a:xfrm>
          <a:prstGeom prst="rect">
            <a:avLst/>
          </a:prstGeom>
          <a:solidFill>
            <a:srgbClr val="FF9933"/>
          </a:solidFill>
          <a:ln/>
        </p:spPr>
        <p:txBody>
          <a:bodyPr/>
          <a:lstStyle/>
          <a:p>
            <a:endParaRPr/>
          </a:p>
        </p:txBody>
      </p:sp>
      <p:sp>
        <p:nvSpPr>
          <p:cNvPr id="50" name="Shape 47"/>
          <p:cNvSpPr/>
          <p:nvPr/>
        </p:nvSpPr>
        <p:spPr>
          <a:xfrm>
            <a:off x="1257102" y="9629181"/>
            <a:ext cx="190390" cy="28553"/>
          </a:xfrm>
          <a:prstGeom prst="rect">
            <a:avLst/>
          </a:prstGeom>
          <a:solidFill>
            <a:srgbClr val="F2F2F2"/>
          </a:solidFill>
          <a:ln/>
        </p:spPr>
        <p:txBody>
          <a:bodyPr/>
          <a:lstStyle/>
          <a:p>
            <a:endParaRPr/>
          </a:p>
        </p:txBody>
      </p:sp>
      <p:sp>
        <p:nvSpPr>
          <p:cNvPr id="51" name="Shape 48"/>
          <p:cNvSpPr/>
          <p:nvPr/>
        </p:nvSpPr>
        <p:spPr>
          <a:xfrm>
            <a:off x="1447491" y="9629181"/>
            <a:ext cx="190390" cy="28553"/>
          </a:xfrm>
          <a:prstGeom prst="rect">
            <a:avLst/>
          </a:prstGeom>
          <a:solidFill>
            <a:srgbClr val="1FA84A"/>
          </a:solidFill>
          <a:ln/>
        </p:spPr>
        <p:txBody>
          <a:bodyPr/>
          <a:lstStyle/>
          <a:p>
            <a:endParaRPr/>
          </a:p>
        </p:txBody>
      </p:sp>
      <p:sp>
        <p:nvSpPr>
          <p:cNvPr id="52" name="Text 49"/>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3" name="Text 50"/>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09 / 15</a:t>
            </a:r>
            <a:endParaRPr lang="en-US" sz="1800" dirty="0"/>
          </a:p>
        </p:txBody>
      </p:sp>
      <p:pic>
        <p:nvPicPr>
          <p:cNvPr id="54" name="Narration slide 9">
            <a:hlinkClick r:id="" action="ppaction://media"/>
            <a:extLst>
              <a:ext uri="{FF2B5EF4-FFF2-40B4-BE49-F238E27FC236}">
                <a16:creationId xmlns:a16="http://schemas.microsoft.com/office/drawing/2014/main" id="{8CFDF5FE-C1D1-DEBD-2213-68315FAE1BF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96" fill="hold"/>
                                        <p:tgtEl>
                                          <p:spTgt spid="5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10</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4464822"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HUMAN GOVERNANCE + AUDIT</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5CC8F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Who makes the final decision?</a:t>
            </a:r>
            <a:endParaRPr lang="en-US" sz="5100" dirty="0"/>
          </a:p>
        </p:txBody>
      </p:sp>
      <p:sp>
        <p:nvSpPr>
          <p:cNvPr id="15" name="Shape 12"/>
          <p:cNvSpPr/>
          <p:nvPr/>
        </p:nvSpPr>
        <p:spPr>
          <a:xfrm>
            <a:off x="1066712" y="2643298"/>
            <a:ext cx="3492500" cy="1891551"/>
          </a:xfrm>
          <a:prstGeom prst="rect">
            <a:avLst/>
          </a:prstGeom>
          <a:solidFill>
            <a:srgbClr val="091221">
              <a:alpha val="85000"/>
            </a:srgbClr>
          </a:solidFill>
          <a:ln w="7056">
            <a:solidFill>
              <a:srgbClr val="22344F"/>
            </a:solidFill>
            <a:prstDash val="solid"/>
          </a:ln>
        </p:spPr>
        <p:txBody>
          <a:bodyPr/>
          <a:lstStyle/>
          <a:p>
            <a:endParaRPr/>
          </a:p>
        </p:txBody>
      </p:sp>
      <p:sp>
        <p:nvSpPr>
          <p:cNvPr id="16" name="Text 13"/>
          <p:cNvSpPr/>
          <p:nvPr/>
        </p:nvSpPr>
        <p:spPr>
          <a:xfrm>
            <a:off x="1151235" y="3206310"/>
            <a:ext cx="3323454" cy="334433"/>
          </a:xfrm>
          <a:prstGeom prst="rect">
            <a:avLst/>
          </a:prstGeom>
          <a:noFill/>
          <a:ln/>
        </p:spPr>
        <p:txBody>
          <a:bodyPr wrap="square" lIns="25400" tIns="25400" rIns="25400" bIns="25400" rtlCol="0" anchor="t">
            <a:normAutofit/>
          </a:bodyPr>
          <a:lstStyle/>
          <a:p>
            <a:pPr marL="0" indent="0" algn="ctr">
              <a:buNone/>
            </a:pPr>
            <a:r>
              <a:rPr lang="en-US" sz="1800" dirty="0">
                <a:solidFill>
                  <a:srgbClr val="6F8098"/>
                </a:solidFill>
                <a:latin typeface="Courier New" pitchFamily="34" charset="0"/>
                <a:ea typeface="Courier New" pitchFamily="34" charset="-122"/>
                <a:cs typeface="Courier New" pitchFamily="34" charset="-120"/>
              </a:rPr>
              <a:t>INPUT</a:t>
            </a:r>
            <a:endParaRPr lang="en-US" sz="1800" dirty="0"/>
          </a:p>
        </p:txBody>
      </p:sp>
      <p:sp>
        <p:nvSpPr>
          <p:cNvPr id="17" name="Text 14"/>
          <p:cNvSpPr/>
          <p:nvPr/>
        </p:nvSpPr>
        <p:spPr>
          <a:xfrm>
            <a:off x="1151235" y="3597783"/>
            <a:ext cx="3323454" cy="412045"/>
          </a:xfrm>
          <a:prstGeom prst="rect">
            <a:avLst/>
          </a:prstGeom>
          <a:noFill/>
          <a:ln/>
        </p:spPr>
        <p:txBody>
          <a:bodyPr wrap="square" lIns="25400" tIns="25400" rIns="25400" bIns="25400" rtlCol="0" anchor="t">
            <a:normAutofit/>
          </a:bodyPr>
          <a:lstStyle/>
          <a:p>
            <a:pPr marL="0" indent="0" algn="ctr">
              <a:buNone/>
            </a:pPr>
            <a:r>
              <a:rPr lang="en-US" sz="2250" dirty="0">
                <a:solidFill>
                  <a:srgbClr val="E6EDF5"/>
                </a:solidFill>
                <a:latin typeface="Arial" pitchFamily="34" charset="0"/>
                <a:ea typeface="Arial" pitchFamily="34" charset="-122"/>
                <a:cs typeface="Arial" pitchFamily="34" charset="-120"/>
              </a:rPr>
              <a:t>AI explanation</a:t>
            </a:r>
            <a:endParaRPr lang="en-US" sz="2250" dirty="0"/>
          </a:p>
        </p:txBody>
      </p:sp>
      <p:sp>
        <p:nvSpPr>
          <p:cNvPr id="18" name="Text 15"/>
          <p:cNvSpPr/>
          <p:nvPr/>
        </p:nvSpPr>
        <p:spPr>
          <a:xfrm>
            <a:off x="4521112" y="2643298"/>
            <a:ext cx="571412" cy="1929651"/>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19" name="Shape 16"/>
          <p:cNvSpPr/>
          <p:nvPr/>
        </p:nvSpPr>
        <p:spPr>
          <a:xfrm>
            <a:off x="5054424" y="2643298"/>
            <a:ext cx="3492611" cy="1891551"/>
          </a:xfrm>
          <a:prstGeom prst="rect">
            <a:avLst/>
          </a:prstGeom>
          <a:solidFill>
            <a:srgbClr val="5CC8F0"/>
          </a:solidFill>
          <a:ln/>
          <a:effectLst>
            <a:outerShdw blurRad="476250" dist="50800" dir="16200000" algn="bl" rotWithShape="0">
              <a:srgbClr val="5CC8F0">
                <a:alpha val="30000"/>
              </a:srgbClr>
            </a:outerShdw>
          </a:effectLst>
        </p:spPr>
        <p:txBody>
          <a:bodyPr/>
          <a:lstStyle/>
          <a:p>
            <a:endParaRPr/>
          </a:p>
        </p:txBody>
      </p:sp>
      <p:sp>
        <p:nvSpPr>
          <p:cNvPr id="20" name="Text 17"/>
          <p:cNvSpPr/>
          <p:nvPr/>
        </p:nvSpPr>
        <p:spPr>
          <a:xfrm>
            <a:off x="5131181" y="3227476"/>
            <a:ext cx="3339097" cy="334433"/>
          </a:xfrm>
          <a:prstGeom prst="rect">
            <a:avLst/>
          </a:prstGeom>
          <a:noFill/>
          <a:ln/>
        </p:spPr>
        <p:txBody>
          <a:bodyPr wrap="square" lIns="25400" tIns="25400" rIns="25400" bIns="25400" rtlCol="0" anchor="t">
            <a:normAutofit/>
          </a:bodyPr>
          <a:lstStyle/>
          <a:p>
            <a:pPr marL="0" indent="0" algn="ctr">
              <a:buNone/>
            </a:pPr>
            <a:r>
              <a:rPr lang="en-US" sz="1800" dirty="0">
                <a:solidFill>
                  <a:srgbClr val="0E3A52"/>
                </a:solidFill>
                <a:latin typeface="Courier New" pitchFamily="34" charset="0"/>
                <a:ea typeface="Courier New" pitchFamily="34" charset="-122"/>
                <a:cs typeface="Courier New" pitchFamily="34" charset="-120"/>
              </a:rPr>
              <a:t>DECIDES</a:t>
            </a:r>
            <a:endParaRPr lang="en-US" sz="1800" dirty="0"/>
          </a:p>
        </p:txBody>
      </p:sp>
      <p:sp>
        <p:nvSpPr>
          <p:cNvPr id="21" name="Text 18"/>
          <p:cNvSpPr/>
          <p:nvPr/>
        </p:nvSpPr>
        <p:spPr>
          <a:xfrm>
            <a:off x="5131181" y="3618949"/>
            <a:ext cx="3339097" cy="369711"/>
          </a:xfrm>
          <a:prstGeom prst="rect">
            <a:avLst/>
          </a:prstGeom>
          <a:noFill/>
          <a:ln/>
        </p:spPr>
        <p:txBody>
          <a:bodyPr wrap="square" lIns="25400" tIns="25400" rIns="25400" bIns="25400" rtlCol="0" anchor="t">
            <a:normAutofit/>
          </a:bodyPr>
          <a:lstStyle/>
          <a:p>
            <a:pPr marL="0" indent="0" algn="ctr">
              <a:buNone/>
            </a:pPr>
            <a:r>
              <a:rPr lang="en-US" sz="2250" b="1" dirty="0">
                <a:solidFill>
                  <a:srgbClr val="050A14"/>
                </a:solidFill>
                <a:latin typeface="Arial" pitchFamily="34" charset="0"/>
                <a:ea typeface="Arial" pitchFamily="34" charset="-122"/>
                <a:cs typeface="Arial" pitchFamily="34" charset="-120"/>
              </a:rPr>
              <a:t>Analyst / operator</a:t>
            </a:r>
            <a:endParaRPr lang="en-US" sz="2250" dirty="0"/>
          </a:p>
        </p:txBody>
      </p:sp>
      <p:sp>
        <p:nvSpPr>
          <p:cNvPr id="22" name="Text 19"/>
          <p:cNvSpPr/>
          <p:nvPr/>
        </p:nvSpPr>
        <p:spPr>
          <a:xfrm>
            <a:off x="8508935" y="2643298"/>
            <a:ext cx="571412" cy="1929651"/>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23" name="Shape 20"/>
          <p:cNvSpPr/>
          <p:nvPr/>
        </p:nvSpPr>
        <p:spPr>
          <a:xfrm>
            <a:off x="9042247" y="2643298"/>
            <a:ext cx="4191111" cy="567090"/>
          </a:xfrm>
          <a:prstGeom prst="rect">
            <a:avLst/>
          </a:prstGeom>
          <a:solidFill>
            <a:srgbClr val="091221">
              <a:alpha val="85000"/>
            </a:srgbClr>
          </a:solidFill>
          <a:ln w="7056">
            <a:solidFill>
              <a:srgbClr val="2A5C78"/>
            </a:solidFill>
            <a:prstDash val="solid"/>
          </a:ln>
        </p:spPr>
        <p:txBody>
          <a:bodyPr/>
          <a:lstStyle/>
          <a:p>
            <a:endParaRPr/>
          </a:p>
        </p:txBody>
      </p:sp>
      <p:sp>
        <p:nvSpPr>
          <p:cNvPr id="24" name="Text 21"/>
          <p:cNvSpPr/>
          <p:nvPr/>
        </p:nvSpPr>
        <p:spPr>
          <a:xfrm>
            <a:off x="9176936" y="2764654"/>
            <a:ext cx="3921733" cy="362479"/>
          </a:xfrm>
          <a:prstGeom prst="rect">
            <a:avLst/>
          </a:prstGeom>
          <a:noFill/>
          <a:ln/>
        </p:spPr>
        <p:txBody>
          <a:bodyPr wrap="square" lIns="25400" tIns="25400" rIns="25400" bIns="25400" rtlCol="0" anchor="t">
            <a:normAutofit/>
          </a:bodyPr>
          <a:lstStyle/>
          <a:p>
            <a:pPr marL="0" indent="0" algn="ctr">
              <a:buNone/>
            </a:pPr>
            <a:r>
              <a:rPr lang="en-US" sz="1950" dirty="0">
                <a:solidFill>
                  <a:srgbClr val="E6EDF5"/>
                </a:solidFill>
                <a:latin typeface="Courier New" pitchFamily="34" charset="0"/>
                <a:ea typeface="Courier New" pitchFamily="34" charset="-122"/>
                <a:cs typeface="Courier New" pitchFamily="34" charset="-120"/>
              </a:rPr>
              <a:t>APPROVE</a:t>
            </a:r>
            <a:endParaRPr lang="en-US" sz="1950" dirty="0"/>
          </a:p>
        </p:txBody>
      </p:sp>
      <p:sp>
        <p:nvSpPr>
          <p:cNvPr id="25" name="Shape 22"/>
          <p:cNvSpPr/>
          <p:nvPr/>
        </p:nvSpPr>
        <p:spPr>
          <a:xfrm>
            <a:off x="9042247" y="3305528"/>
            <a:ext cx="4191111" cy="567090"/>
          </a:xfrm>
          <a:prstGeom prst="rect">
            <a:avLst/>
          </a:prstGeom>
          <a:solidFill>
            <a:srgbClr val="091221">
              <a:alpha val="85000"/>
            </a:srgbClr>
          </a:solidFill>
          <a:ln w="7056">
            <a:solidFill>
              <a:srgbClr val="2A5C78"/>
            </a:solidFill>
            <a:prstDash val="solid"/>
          </a:ln>
        </p:spPr>
        <p:txBody>
          <a:bodyPr/>
          <a:lstStyle/>
          <a:p>
            <a:endParaRPr/>
          </a:p>
        </p:txBody>
      </p:sp>
      <p:sp>
        <p:nvSpPr>
          <p:cNvPr id="26" name="Text 23"/>
          <p:cNvSpPr/>
          <p:nvPr/>
        </p:nvSpPr>
        <p:spPr>
          <a:xfrm>
            <a:off x="9176936" y="3426884"/>
            <a:ext cx="3921733" cy="362479"/>
          </a:xfrm>
          <a:prstGeom prst="rect">
            <a:avLst/>
          </a:prstGeom>
          <a:noFill/>
          <a:ln/>
        </p:spPr>
        <p:txBody>
          <a:bodyPr wrap="square" lIns="25400" tIns="25400" rIns="25400" bIns="25400" rtlCol="0" anchor="t">
            <a:normAutofit/>
          </a:bodyPr>
          <a:lstStyle/>
          <a:p>
            <a:pPr marL="0" indent="0" algn="ctr">
              <a:buNone/>
            </a:pPr>
            <a:r>
              <a:rPr lang="en-US" sz="1950" dirty="0">
                <a:solidFill>
                  <a:srgbClr val="E6EDF5"/>
                </a:solidFill>
                <a:latin typeface="Courier New" pitchFamily="34" charset="0"/>
                <a:ea typeface="Courier New" pitchFamily="34" charset="-122"/>
                <a:cs typeface="Courier New" pitchFamily="34" charset="-120"/>
              </a:rPr>
              <a:t>DISMISS</a:t>
            </a:r>
            <a:endParaRPr lang="en-US" sz="1950" dirty="0"/>
          </a:p>
        </p:txBody>
      </p:sp>
      <p:sp>
        <p:nvSpPr>
          <p:cNvPr id="27" name="Shape 24"/>
          <p:cNvSpPr/>
          <p:nvPr/>
        </p:nvSpPr>
        <p:spPr>
          <a:xfrm>
            <a:off x="9042247" y="3967758"/>
            <a:ext cx="4191111" cy="567090"/>
          </a:xfrm>
          <a:prstGeom prst="rect">
            <a:avLst/>
          </a:prstGeom>
          <a:solidFill>
            <a:srgbClr val="091221">
              <a:alpha val="85000"/>
            </a:srgbClr>
          </a:solidFill>
          <a:ln w="7056">
            <a:solidFill>
              <a:srgbClr val="2A5C78"/>
            </a:solidFill>
            <a:prstDash val="solid"/>
          </a:ln>
        </p:spPr>
        <p:txBody>
          <a:bodyPr/>
          <a:lstStyle/>
          <a:p>
            <a:endParaRPr/>
          </a:p>
        </p:txBody>
      </p:sp>
      <p:sp>
        <p:nvSpPr>
          <p:cNvPr id="28" name="Text 25"/>
          <p:cNvSpPr/>
          <p:nvPr/>
        </p:nvSpPr>
        <p:spPr>
          <a:xfrm>
            <a:off x="9176936" y="4089114"/>
            <a:ext cx="3921733" cy="362479"/>
          </a:xfrm>
          <a:prstGeom prst="rect">
            <a:avLst/>
          </a:prstGeom>
          <a:noFill/>
          <a:ln/>
        </p:spPr>
        <p:txBody>
          <a:bodyPr wrap="square" lIns="25400" tIns="25400" rIns="25400" bIns="25400" rtlCol="0" anchor="t">
            <a:normAutofit/>
          </a:bodyPr>
          <a:lstStyle/>
          <a:p>
            <a:pPr marL="0" indent="0" algn="ctr">
              <a:buNone/>
            </a:pPr>
            <a:r>
              <a:rPr lang="en-US" sz="1950" dirty="0">
                <a:solidFill>
                  <a:srgbClr val="E6EDF5"/>
                </a:solidFill>
                <a:latin typeface="Courier New" pitchFamily="34" charset="0"/>
                <a:ea typeface="Courier New" pitchFamily="34" charset="-122"/>
                <a:cs typeface="Courier New" pitchFamily="34" charset="-120"/>
              </a:rPr>
              <a:t>ACKNOWLEDGE</a:t>
            </a:r>
            <a:endParaRPr lang="en-US" sz="1950" dirty="0"/>
          </a:p>
        </p:txBody>
      </p:sp>
      <p:sp>
        <p:nvSpPr>
          <p:cNvPr id="29" name="Text 26"/>
          <p:cNvSpPr/>
          <p:nvPr/>
        </p:nvSpPr>
        <p:spPr>
          <a:xfrm>
            <a:off x="13195257" y="2643298"/>
            <a:ext cx="571412" cy="1929651"/>
          </a:xfrm>
          <a:prstGeom prst="rect">
            <a:avLst/>
          </a:prstGeom>
          <a:noFill/>
          <a:ln/>
        </p:spPr>
        <p:txBody>
          <a:bodyPr wrap="square" lIns="25400" tIns="25400" rIns="25400" bIns="25400" rtlCol="0" anchor="ctr">
            <a:normAutofit/>
          </a:bodyPr>
          <a:lstStyle/>
          <a:p>
            <a:pPr marL="0" indent="0" algn="ctr">
              <a:buNone/>
            </a:pPr>
            <a:r>
              <a:rPr lang="en-US" sz="2700" dirty="0">
                <a:solidFill>
                  <a:srgbClr val="5CC8F0"/>
                </a:solidFill>
                <a:latin typeface="Courier New" pitchFamily="34" charset="0"/>
                <a:ea typeface="Courier New" pitchFamily="34" charset="-122"/>
                <a:cs typeface="Courier New" pitchFamily="34" charset="-120"/>
              </a:rPr>
              <a:t>→</a:t>
            </a:r>
            <a:endParaRPr lang="en-US" sz="2700" dirty="0"/>
          </a:p>
        </p:txBody>
      </p:sp>
      <p:sp>
        <p:nvSpPr>
          <p:cNvPr id="30" name="Shape 27"/>
          <p:cNvSpPr/>
          <p:nvPr/>
        </p:nvSpPr>
        <p:spPr>
          <a:xfrm>
            <a:off x="13728569" y="2643298"/>
            <a:ext cx="3492611" cy="1891551"/>
          </a:xfrm>
          <a:prstGeom prst="rect">
            <a:avLst/>
          </a:prstGeom>
          <a:solidFill>
            <a:srgbClr val="091221">
              <a:alpha val="85000"/>
            </a:srgbClr>
          </a:solidFill>
          <a:ln w="7056">
            <a:solidFill>
              <a:srgbClr val="22344F"/>
            </a:solidFill>
            <a:prstDash val="solid"/>
          </a:ln>
        </p:spPr>
        <p:txBody>
          <a:bodyPr/>
          <a:lstStyle/>
          <a:p>
            <a:endParaRPr/>
          </a:p>
        </p:txBody>
      </p:sp>
      <p:sp>
        <p:nvSpPr>
          <p:cNvPr id="31" name="Text 28"/>
          <p:cNvSpPr/>
          <p:nvPr/>
        </p:nvSpPr>
        <p:spPr>
          <a:xfrm>
            <a:off x="13813088" y="3206310"/>
            <a:ext cx="3323575" cy="334433"/>
          </a:xfrm>
          <a:prstGeom prst="rect">
            <a:avLst/>
          </a:prstGeom>
          <a:noFill/>
          <a:ln/>
        </p:spPr>
        <p:txBody>
          <a:bodyPr wrap="square" lIns="25400" tIns="25400" rIns="25400" bIns="25400" rtlCol="0" anchor="t">
            <a:normAutofit/>
          </a:bodyPr>
          <a:lstStyle/>
          <a:p>
            <a:pPr marL="0" indent="0" algn="ctr">
              <a:buNone/>
            </a:pPr>
            <a:r>
              <a:rPr lang="en-US" sz="1800" dirty="0">
                <a:solidFill>
                  <a:srgbClr val="6F8098"/>
                </a:solidFill>
                <a:latin typeface="Courier New" pitchFamily="34" charset="0"/>
                <a:ea typeface="Courier New" pitchFamily="34" charset="-122"/>
                <a:cs typeface="Courier New" pitchFamily="34" charset="-120"/>
              </a:rPr>
              <a:t>RECORDED</a:t>
            </a:r>
            <a:endParaRPr lang="en-US" sz="1800" dirty="0"/>
          </a:p>
        </p:txBody>
      </p:sp>
      <p:sp>
        <p:nvSpPr>
          <p:cNvPr id="32" name="Text 29"/>
          <p:cNvSpPr/>
          <p:nvPr/>
        </p:nvSpPr>
        <p:spPr>
          <a:xfrm>
            <a:off x="13813088" y="3597783"/>
            <a:ext cx="3323575" cy="412045"/>
          </a:xfrm>
          <a:prstGeom prst="rect">
            <a:avLst/>
          </a:prstGeom>
          <a:noFill/>
          <a:ln/>
        </p:spPr>
        <p:txBody>
          <a:bodyPr wrap="square" lIns="25400" tIns="25400" rIns="25400" bIns="25400" rtlCol="0" anchor="t">
            <a:normAutofit/>
          </a:bodyPr>
          <a:lstStyle/>
          <a:p>
            <a:pPr marL="0" indent="0" algn="ctr">
              <a:buNone/>
            </a:pPr>
            <a:r>
              <a:rPr lang="en-US" sz="2250" dirty="0">
                <a:solidFill>
                  <a:srgbClr val="E6EDF5"/>
                </a:solidFill>
                <a:latin typeface="Arial" pitchFamily="34" charset="0"/>
                <a:ea typeface="Arial" pitchFamily="34" charset="-122"/>
                <a:cs typeface="Arial" pitchFamily="34" charset="-120"/>
              </a:rPr>
              <a:t>Persistent audit trail</a:t>
            </a:r>
            <a:endParaRPr lang="en-US" sz="2250" dirty="0"/>
          </a:p>
        </p:txBody>
      </p:sp>
      <p:sp>
        <p:nvSpPr>
          <p:cNvPr id="33" name="Shape 30"/>
          <p:cNvSpPr/>
          <p:nvPr/>
        </p:nvSpPr>
        <p:spPr>
          <a:xfrm>
            <a:off x="1066712" y="5762185"/>
            <a:ext cx="16154469" cy="1247290"/>
          </a:xfrm>
          <a:prstGeom prst="rect">
            <a:avLst/>
          </a:prstGeom>
          <a:solidFill>
            <a:srgbClr val="F2B661">
              <a:alpha val="7000"/>
            </a:srgbClr>
          </a:solidFill>
          <a:ln w="7056">
            <a:solidFill>
              <a:srgbClr val="F2B661"/>
            </a:solidFill>
            <a:prstDash val="solid"/>
          </a:ln>
        </p:spPr>
        <p:txBody>
          <a:bodyPr/>
          <a:lstStyle/>
          <a:p>
            <a:endParaRPr/>
          </a:p>
        </p:txBody>
      </p:sp>
      <p:sp>
        <p:nvSpPr>
          <p:cNvPr id="34" name="Text 31"/>
          <p:cNvSpPr/>
          <p:nvPr/>
        </p:nvSpPr>
        <p:spPr>
          <a:xfrm>
            <a:off x="1492801" y="6093024"/>
            <a:ext cx="9569330" cy="623711"/>
          </a:xfrm>
          <a:prstGeom prst="rect">
            <a:avLst/>
          </a:prstGeom>
          <a:noFill/>
          <a:ln/>
        </p:spPr>
        <p:txBody>
          <a:bodyPr wrap="none" lIns="25400" tIns="25400" rIns="25400" bIns="25400" rtlCol="0" anchor="t">
            <a:normAutofit/>
          </a:bodyPr>
          <a:lstStyle/>
          <a:p>
            <a:pPr marL="0" indent="0" algn="l">
              <a:buNone/>
            </a:pPr>
            <a:r>
              <a:rPr lang="en-US" sz="4050" b="1" kern="0" spc="-40" dirty="0">
                <a:solidFill>
                  <a:srgbClr val="E6EDF5"/>
                </a:solidFill>
                <a:latin typeface="Arial" pitchFamily="34" charset="0"/>
                <a:ea typeface="Arial" pitchFamily="34" charset="-122"/>
                <a:cs typeface="Arial" pitchFamily="34" charset="-120"/>
              </a:rPr>
              <a:t>No command is sent to any spacecraft.</a:t>
            </a:r>
            <a:endParaRPr lang="en-US" sz="4050" dirty="0"/>
          </a:p>
        </p:txBody>
      </p:sp>
      <p:sp>
        <p:nvSpPr>
          <p:cNvPr id="35" name="Text 32"/>
          <p:cNvSpPr/>
          <p:nvPr/>
        </p:nvSpPr>
        <p:spPr>
          <a:xfrm>
            <a:off x="14326749" y="6237663"/>
            <a:ext cx="2715177" cy="334433"/>
          </a:xfrm>
          <a:prstGeom prst="rect">
            <a:avLst/>
          </a:prstGeom>
          <a:noFill/>
          <a:ln/>
        </p:spPr>
        <p:txBody>
          <a:bodyPr wrap="none" lIns="25400" tIns="25400" rIns="25400" bIns="25400" rtlCol="0" anchor="t">
            <a:normAutofit/>
          </a:bodyPr>
          <a:lstStyle/>
          <a:p>
            <a:pPr marL="0" indent="0" algn="l">
              <a:buNone/>
            </a:pPr>
            <a:r>
              <a:rPr lang="en-US" sz="1800" kern="0" spc="216" dirty="0">
                <a:solidFill>
                  <a:srgbClr val="F2B661"/>
                </a:solidFill>
                <a:latin typeface="Courier New" pitchFamily="34" charset="0"/>
                <a:ea typeface="Courier New" pitchFamily="34" charset="-122"/>
                <a:cs typeface="Courier New" pitchFamily="34" charset="-120"/>
              </a:rPr>
              <a:t>DESIGN BOUNDARY</a:t>
            </a:r>
            <a:endParaRPr lang="en-US" sz="1800" dirty="0"/>
          </a:p>
        </p:txBody>
      </p:sp>
      <p:sp>
        <p:nvSpPr>
          <p:cNvPr id="36" name="Text 33"/>
          <p:cNvSpPr/>
          <p:nvPr/>
        </p:nvSpPr>
        <p:spPr>
          <a:xfrm>
            <a:off x="1066712" y="8236701"/>
            <a:ext cx="1835966" cy="754900"/>
          </a:xfrm>
          <a:prstGeom prst="rect">
            <a:avLst/>
          </a:prstGeom>
          <a:noFill/>
          <a:ln/>
        </p:spPr>
        <p:txBody>
          <a:bodyPr wrap="none" lIns="25400" tIns="25400" rIns="25400" bIns="25400" rtlCol="0" anchor="ctr">
            <a:normAutofit/>
          </a:bodyPr>
          <a:lstStyle/>
          <a:p>
            <a:pPr marL="0" indent="0" algn="l">
              <a:lnSpc>
                <a:spcPct val="122595"/>
              </a:lnSpc>
              <a:buNone/>
            </a:pPr>
            <a:r>
              <a:rPr lang="en-US" sz="1800" kern="0" spc="180" dirty="0">
                <a:solidFill>
                  <a:srgbClr val="9AAABF"/>
                </a:solidFill>
                <a:latin typeface="Courier New" pitchFamily="34" charset="0"/>
                <a:ea typeface="Courier New" pitchFamily="34" charset="-122"/>
                <a:cs typeface="Courier New" pitchFamily="34" charset="-120"/>
              </a:rPr>
              <a:t>AUTH + RBAC</a:t>
            </a:r>
            <a:endParaRPr lang="en-US" sz="1800" dirty="0"/>
          </a:p>
        </p:txBody>
      </p:sp>
      <p:sp>
        <p:nvSpPr>
          <p:cNvPr id="37" name="Shape 34"/>
          <p:cNvSpPr/>
          <p:nvPr/>
        </p:nvSpPr>
        <p:spPr>
          <a:xfrm>
            <a:off x="3131234" y="8236701"/>
            <a:ext cx="3408165" cy="716800"/>
          </a:xfrm>
          <a:prstGeom prst="rect">
            <a:avLst/>
          </a:prstGeom>
          <a:solidFill>
            <a:srgbClr val="091221">
              <a:alpha val="85000"/>
            </a:srgbClr>
          </a:solidFill>
          <a:ln w="7056">
            <a:solidFill>
              <a:srgbClr val="22344F"/>
            </a:solidFill>
            <a:prstDash val="solid"/>
          </a:ln>
        </p:spPr>
        <p:txBody>
          <a:bodyPr/>
          <a:lstStyle/>
          <a:p>
            <a:endParaRPr/>
          </a:p>
        </p:txBody>
      </p:sp>
      <p:sp>
        <p:nvSpPr>
          <p:cNvPr id="38" name="Text 35"/>
          <p:cNvSpPr/>
          <p:nvPr/>
        </p:nvSpPr>
        <p:spPr>
          <a:xfrm>
            <a:off x="3347839" y="8415206"/>
            <a:ext cx="3077198" cy="397889"/>
          </a:xfrm>
          <a:prstGeom prst="rect">
            <a:avLst/>
          </a:prstGeom>
          <a:noFill/>
          <a:ln/>
        </p:spPr>
        <p:txBody>
          <a:bodyPr wrap="square" lIns="25400" tIns="25400" rIns="25400" bIns="25400" rtlCol="0" anchor="t">
            <a:normAutofit/>
          </a:bodyPr>
          <a:lstStyle/>
          <a:p>
            <a:pPr marL="0" indent="0" algn="l">
              <a:buNone/>
            </a:pPr>
            <a:r>
              <a:rPr lang="en-US" sz="2175" dirty="0">
                <a:solidFill>
                  <a:srgbClr val="E6EDF5"/>
                </a:solidFill>
                <a:latin typeface="Arial" pitchFamily="34" charset="0"/>
                <a:ea typeface="Arial" pitchFamily="34" charset="-122"/>
                <a:cs typeface="Arial" pitchFamily="34" charset="-120"/>
              </a:rPr>
              <a:t>Viewer</a:t>
            </a:r>
            <a:endParaRPr lang="en-US" sz="2175" dirty="0"/>
          </a:p>
        </p:txBody>
      </p:sp>
      <p:sp>
        <p:nvSpPr>
          <p:cNvPr id="39" name="Shape 36"/>
          <p:cNvSpPr/>
          <p:nvPr/>
        </p:nvSpPr>
        <p:spPr>
          <a:xfrm>
            <a:off x="6691754" y="8236701"/>
            <a:ext cx="3408275" cy="716800"/>
          </a:xfrm>
          <a:prstGeom prst="rect">
            <a:avLst/>
          </a:prstGeom>
          <a:solidFill>
            <a:srgbClr val="091221">
              <a:alpha val="85000"/>
            </a:srgbClr>
          </a:solidFill>
          <a:ln w="7056">
            <a:solidFill>
              <a:srgbClr val="22344F"/>
            </a:solidFill>
            <a:prstDash val="solid"/>
          </a:ln>
        </p:spPr>
        <p:txBody>
          <a:bodyPr/>
          <a:lstStyle/>
          <a:p>
            <a:endParaRPr/>
          </a:p>
        </p:txBody>
      </p:sp>
      <p:sp>
        <p:nvSpPr>
          <p:cNvPr id="40" name="Text 37"/>
          <p:cNvSpPr/>
          <p:nvPr/>
        </p:nvSpPr>
        <p:spPr>
          <a:xfrm>
            <a:off x="6908360" y="8415206"/>
            <a:ext cx="3077312" cy="397889"/>
          </a:xfrm>
          <a:prstGeom prst="rect">
            <a:avLst/>
          </a:prstGeom>
          <a:noFill/>
          <a:ln/>
        </p:spPr>
        <p:txBody>
          <a:bodyPr wrap="square" lIns="25400" tIns="25400" rIns="25400" bIns="25400" rtlCol="0" anchor="t">
            <a:normAutofit/>
          </a:bodyPr>
          <a:lstStyle/>
          <a:p>
            <a:pPr marL="0" indent="0" algn="l">
              <a:buNone/>
            </a:pPr>
            <a:r>
              <a:rPr lang="en-US" sz="2175" dirty="0">
                <a:solidFill>
                  <a:srgbClr val="E6EDF5"/>
                </a:solidFill>
                <a:latin typeface="Arial" pitchFamily="34" charset="0"/>
                <a:ea typeface="Arial" pitchFamily="34" charset="-122"/>
                <a:cs typeface="Arial" pitchFamily="34" charset="-120"/>
              </a:rPr>
              <a:t>Operator</a:t>
            </a:r>
            <a:endParaRPr lang="en-US" sz="2175" dirty="0"/>
          </a:p>
        </p:txBody>
      </p:sp>
      <p:sp>
        <p:nvSpPr>
          <p:cNvPr id="41" name="Shape 38"/>
          <p:cNvSpPr/>
          <p:nvPr/>
        </p:nvSpPr>
        <p:spPr>
          <a:xfrm>
            <a:off x="10252385" y="8236701"/>
            <a:ext cx="3408165" cy="716800"/>
          </a:xfrm>
          <a:prstGeom prst="rect">
            <a:avLst/>
          </a:prstGeom>
          <a:solidFill>
            <a:srgbClr val="091221">
              <a:alpha val="85000"/>
            </a:srgbClr>
          </a:solidFill>
          <a:ln w="7056">
            <a:solidFill>
              <a:srgbClr val="22344F"/>
            </a:solidFill>
            <a:prstDash val="solid"/>
          </a:ln>
        </p:spPr>
        <p:txBody>
          <a:bodyPr/>
          <a:lstStyle/>
          <a:p>
            <a:endParaRPr/>
          </a:p>
        </p:txBody>
      </p:sp>
      <p:sp>
        <p:nvSpPr>
          <p:cNvPr id="42" name="Text 39"/>
          <p:cNvSpPr/>
          <p:nvPr/>
        </p:nvSpPr>
        <p:spPr>
          <a:xfrm>
            <a:off x="10468990" y="8415206"/>
            <a:ext cx="3077198" cy="397889"/>
          </a:xfrm>
          <a:prstGeom prst="rect">
            <a:avLst/>
          </a:prstGeom>
          <a:noFill/>
          <a:ln/>
        </p:spPr>
        <p:txBody>
          <a:bodyPr wrap="square" lIns="25400" tIns="25400" rIns="25400" bIns="25400" rtlCol="0" anchor="t">
            <a:normAutofit/>
          </a:bodyPr>
          <a:lstStyle/>
          <a:p>
            <a:pPr marL="0" indent="0" algn="l">
              <a:buNone/>
            </a:pPr>
            <a:r>
              <a:rPr lang="en-US" sz="2175" dirty="0">
                <a:solidFill>
                  <a:srgbClr val="E6EDF5"/>
                </a:solidFill>
                <a:latin typeface="Arial" pitchFamily="34" charset="0"/>
                <a:ea typeface="Arial" pitchFamily="34" charset="-122"/>
                <a:cs typeface="Arial" pitchFamily="34" charset="-120"/>
              </a:rPr>
              <a:t>Asset Manager</a:t>
            </a:r>
            <a:endParaRPr lang="en-US" sz="2175" dirty="0"/>
          </a:p>
        </p:txBody>
      </p:sp>
      <p:sp>
        <p:nvSpPr>
          <p:cNvPr id="43" name="Shape 40"/>
          <p:cNvSpPr/>
          <p:nvPr/>
        </p:nvSpPr>
        <p:spPr>
          <a:xfrm>
            <a:off x="13812906" y="8236701"/>
            <a:ext cx="3408275" cy="716800"/>
          </a:xfrm>
          <a:prstGeom prst="rect">
            <a:avLst/>
          </a:prstGeom>
          <a:solidFill>
            <a:srgbClr val="091221">
              <a:alpha val="85000"/>
            </a:srgbClr>
          </a:solidFill>
          <a:ln w="7056">
            <a:solidFill>
              <a:srgbClr val="22344F"/>
            </a:solidFill>
            <a:prstDash val="solid"/>
          </a:ln>
        </p:spPr>
        <p:txBody>
          <a:bodyPr/>
          <a:lstStyle/>
          <a:p>
            <a:endParaRPr/>
          </a:p>
        </p:txBody>
      </p:sp>
      <p:sp>
        <p:nvSpPr>
          <p:cNvPr id="44" name="Text 41"/>
          <p:cNvSpPr/>
          <p:nvPr/>
        </p:nvSpPr>
        <p:spPr>
          <a:xfrm>
            <a:off x="14029511" y="8415206"/>
            <a:ext cx="3077312" cy="397889"/>
          </a:xfrm>
          <a:prstGeom prst="rect">
            <a:avLst/>
          </a:prstGeom>
          <a:noFill/>
          <a:ln/>
        </p:spPr>
        <p:txBody>
          <a:bodyPr wrap="square" lIns="25400" tIns="25400" rIns="25400" bIns="25400" rtlCol="0" anchor="t">
            <a:normAutofit/>
          </a:bodyPr>
          <a:lstStyle/>
          <a:p>
            <a:pPr marL="0" indent="0" algn="l">
              <a:buNone/>
            </a:pPr>
            <a:r>
              <a:rPr lang="en-US" sz="2175" dirty="0">
                <a:solidFill>
                  <a:srgbClr val="E6EDF5"/>
                </a:solidFill>
                <a:latin typeface="Arial" pitchFamily="34" charset="0"/>
                <a:ea typeface="Arial" pitchFamily="34" charset="-122"/>
                <a:cs typeface="Arial" pitchFamily="34" charset="-120"/>
              </a:rPr>
              <a:t>Administrator</a:t>
            </a:r>
            <a:endParaRPr lang="en-US" sz="2175" dirty="0"/>
          </a:p>
        </p:txBody>
      </p:sp>
      <p:sp>
        <p:nvSpPr>
          <p:cNvPr id="45" name="Shape 42"/>
          <p:cNvSpPr/>
          <p:nvPr/>
        </p:nvSpPr>
        <p:spPr>
          <a:xfrm>
            <a:off x="1066712" y="9629181"/>
            <a:ext cx="190390" cy="28553"/>
          </a:xfrm>
          <a:prstGeom prst="rect">
            <a:avLst/>
          </a:prstGeom>
          <a:solidFill>
            <a:srgbClr val="FF9933"/>
          </a:solidFill>
          <a:ln/>
        </p:spPr>
        <p:txBody>
          <a:bodyPr/>
          <a:lstStyle/>
          <a:p>
            <a:endParaRPr/>
          </a:p>
        </p:txBody>
      </p:sp>
      <p:sp>
        <p:nvSpPr>
          <p:cNvPr id="46" name="Shape 43"/>
          <p:cNvSpPr/>
          <p:nvPr/>
        </p:nvSpPr>
        <p:spPr>
          <a:xfrm>
            <a:off x="1257102" y="9629181"/>
            <a:ext cx="190390" cy="28553"/>
          </a:xfrm>
          <a:prstGeom prst="rect">
            <a:avLst/>
          </a:prstGeom>
          <a:solidFill>
            <a:srgbClr val="F2F2F2"/>
          </a:solidFill>
          <a:ln/>
        </p:spPr>
        <p:txBody>
          <a:bodyPr/>
          <a:lstStyle/>
          <a:p>
            <a:endParaRPr/>
          </a:p>
        </p:txBody>
      </p:sp>
      <p:sp>
        <p:nvSpPr>
          <p:cNvPr id="47" name="Shape 44"/>
          <p:cNvSpPr/>
          <p:nvPr/>
        </p:nvSpPr>
        <p:spPr>
          <a:xfrm>
            <a:off x="1447491" y="9629181"/>
            <a:ext cx="190390" cy="28553"/>
          </a:xfrm>
          <a:prstGeom prst="rect">
            <a:avLst/>
          </a:prstGeom>
          <a:solidFill>
            <a:srgbClr val="1FA84A"/>
          </a:solidFill>
          <a:ln/>
        </p:spPr>
        <p:txBody>
          <a:bodyPr/>
          <a:lstStyle/>
          <a:p>
            <a:endParaRPr/>
          </a:p>
        </p:txBody>
      </p:sp>
      <p:sp>
        <p:nvSpPr>
          <p:cNvPr id="48" name="Text 45"/>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49" name="Text 46"/>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10 / 15</a:t>
            </a:r>
            <a:endParaRPr lang="en-US" sz="1800" dirty="0"/>
          </a:p>
        </p:txBody>
      </p:sp>
      <p:sp>
        <p:nvSpPr>
          <p:cNvPr id="50" name="Telegram note"/>
          <p:cNvSpPr/>
          <p:nvPr/>
        </p:nvSpPr>
        <p:spPr>
          <a:xfrm>
            <a:off x="1069848" y="7360920"/>
            <a:ext cx="16184880" cy="411480"/>
          </a:xfrm>
          <a:prstGeom prst="rect">
            <a:avLst/>
          </a:prstGeom>
          <a:noFill/>
          <a:ln/>
        </p:spPr>
        <p:txBody>
          <a:bodyPr wrap="square" lIns="25400" tIns="25400" rIns="25400" bIns="25400" rtlCol="0" anchor="ctr">
            <a:normAutofit/>
          </a:bodyPr>
          <a:lstStyle/>
          <a:p>
            <a:pPr marL="0" indent="0" algn="l">
              <a:lnSpc>
                <a:spcPct val="122595"/>
              </a:lnSpc>
              <a:buNone/>
            </a:pPr>
            <a:r>
              <a:rPr lang="en-US" sz="1800" kern="0" spc="180" dirty="0">
                <a:solidFill>
                  <a:srgbClr val="5CC8F0"/>
                </a:solidFill>
                <a:latin typeface="Courier New" pitchFamily="34" charset="0"/>
                <a:ea typeface="Courier New" pitchFamily="34" charset="-122"/>
                <a:cs typeface="Courier New" pitchFamily="34" charset="-120"/>
              </a:rPr>
              <a:t>TELEGRAM = NOTIFICATION ONLY</a:t>
            </a:r>
            <a:r>
              <a:rPr lang="en-US" sz="1800" kern="0" spc="180" dirty="0">
                <a:solidFill>
                  <a:srgbClr val="9AAABF"/>
                </a:solidFill>
                <a:latin typeface="Courier New" pitchFamily="34" charset="0"/>
                <a:ea typeface="Courier New" pitchFamily="34" charset="-122"/>
                <a:cs typeface="Courier New" pitchFamily="34" charset="-120"/>
              </a:rPr>
              <a:t>  ·  ALERTS REACH THE OPERATOR; DECISIONS STAY IN THE CONSOLE</a:t>
            </a:r>
            <a:endParaRPr lang="en-US" sz="1800" dirty="0"/>
          </a:p>
        </p:txBody>
      </p:sp>
      <p:pic>
        <p:nvPicPr>
          <p:cNvPr id="51" name="Narration slide 10">
            <a:hlinkClick r:id="" action="ppaction://media"/>
            <a:extLst>
              <a:ext uri="{FF2B5EF4-FFF2-40B4-BE49-F238E27FC236}">
                <a16:creationId xmlns:a16="http://schemas.microsoft.com/office/drawing/2014/main" id="{4F997A92-C3EF-9B68-F748-B16793A1DEE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216" fill="hold"/>
                                        <p:tgtEl>
                                          <p:spTgt spid="5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11</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3162653"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WORKING PROTOTYPE</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5CC8F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1E335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585736"/>
            <a:ext cx="5412406" cy="737592"/>
          </a:xfrm>
          <a:prstGeom prst="rect">
            <a:avLst/>
          </a:prstGeom>
          <a:noFill/>
          <a:ln/>
        </p:spPr>
        <p:txBody>
          <a:bodyPr wrap="non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What runs today?</a:t>
            </a:r>
            <a:endParaRPr lang="en-US" sz="5100" dirty="0"/>
          </a:p>
        </p:txBody>
      </p:sp>
      <p:sp>
        <p:nvSpPr>
          <p:cNvPr id="15" name="Shape 12"/>
          <p:cNvSpPr/>
          <p:nvPr/>
        </p:nvSpPr>
        <p:spPr>
          <a:xfrm>
            <a:off x="8596754" y="1486628"/>
            <a:ext cx="8624425" cy="897820"/>
          </a:xfrm>
          <a:prstGeom prst="rect">
            <a:avLst/>
          </a:prstGeom>
          <a:solidFill>
            <a:srgbClr val="F2B661">
              <a:alpha val="7000"/>
            </a:srgbClr>
          </a:solidFill>
          <a:ln w="7056">
            <a:solidFill>
              <a:srgbClr val="F2B661"/>
            </a:solidFill>
            <a:prstDash val="solid"/>
          </a:ln>
        </p:spPr>
        <p:txBody>
          <a:bodyPr/>
          <a:lstStyle/>
          <a:p>
            <a:endParaRPr/>
          </a:p>
        </p:txBody>
      </p:sp>
      <p:sp>
        <p:nvSpPr>
          <p:cNvPr id="16" name="Text 13"/>
          <p:cNvSpPr/>
          <p:nvPr/>
        </p:nvSpPr>
        <p:spPr>
          <a:xfrm>
            <a:off x="8813360" y="1627033"/>
            <a:ext cx="8449947" cy="655108"/>
          </a:xfrm>
          <a:prstGeom prst="rect">
            <a:avLst/>
          </a:prstGeom>
          <a:noFill/>
          <a:ln/>
        </p:spPr>
        <p:txBody>
          <a:bodyPr wrap="square" lIns="25400" tIns="25400" rIns="25400" bIns="25400" rtlCol="0" anchor="t">
            <a:normAutofit/>
          </a:bodyPr>
          <a:lstStyle/>
          <a:p>
            <a:pPr marL="0" indent="0" algn="l">
              <a:lnSpc>
                <a:spcPct val="118216"/>
              </a:lnSpc>
              <a:buNone/>
            </a:pPr>
            <a:r>
              <a:rPr lang="en-US" sz="1800" dirty="0">
                <a:solidFill>
                  <a:srgbClr val="F2B661"/>
                </a:solidFill>
                <a:latin typeface="Courier New" pitchFamily="34" charset="0"/>
                <a:ea typeface="Courier New" pitchFamily="34" charset="-122"/>
                <a:cs typeface="Courier New" pitchFamily="34" charset="-120"/>
              </a:rPr>
              <a:t>DEMO SCENARIO — controlled geometry derived from ingested orbital data; not an operational warning.</a:t>
            </a:r>
            <a:endParaRPr lang="en-US" sz="1800" dirty="0"/>
          </a:p>
        </p:txBody>
      </p:sp>
      <p:sp>
        <p:nvSpPr>
          <p:cNvPr id="17" name="Shape 14"/>
          <p:cNvSpPr/>
          <p:nvPr/>
        </p:nvSpPr>
        <p:spPr>
          <a:xfrm>
            <a:off x="1066712" y="2651125"/>
            <a:ext cx="4953001" cy="5815653"/>
          </a:xfrm>
          <a:prstGeom prst="rect">
            <a:avLst/>
          </a:prstGeom>
          <a:solidFill>
            <a:srgbClr val="091221">
              <a:alpha val="85000"/>
            </a:srgbClr>
          </a:solidFill>
          <a:ln w="7056">
            <a:solidFill>
              <a:srgbClr val="2A3B55"/>
            </a:solidFill>
            <a:prstDash val="solid"/>
          </a:ln>
        </p:spPr>
        <p:txBody>
          <a:bodyPr/>
          <a:lstStyle/>
          <a:p>
            <a:endParaRPr/>
          </a:p>
        </p:txBody>
      </p:sp>
      <p:sp>
        <p:nvSpPr>
          <p:cNvPr id="18" name="Shape 15"/>
          <p:cNvSpPr/>
          <p:nvPr/>
        </p:nvSpPr>
        <p:spPr>
          <a:xfrm>
            <a:off x="1073768" y="3144794"/>
            <a:ext cx="4938889" cy="9525"/>
          </a:xfrm>
          <a:prstGeom prst="rect">
            <a:avLst/>
          </a:prstGeom>
          <a:solidFill>
            <a:srgbClr val="2A3B55"/>
          </a:solidFill>
          <a:ln/>
        </p:spPr>
        <p:txBody>
          <a:bodyPr/>
          <a:lstStyle/>
          <a:p>
            <a:endParaRPr/>
          </a:p>
        </p:txBody>
      </p:sp>
      <p:sp>
        <p:nvSpPr>
          <p:cNvPr id="19" name="Text 16"/>
          <p:cNvSpPr/>
          <p:nvPr/>
        </p:nvSpPr>
        <p:spPr>
          <a:xfrm>
            <a:off x="1245218" y="2753431"/>
            <a:ext cx="4744156" cy="334213"/>
          </a:xfrm>
          <a:prstGeom prst="rect">
            <a:avLst/>
          </a:prstGeom>
          <a:noFill/>
          <a:ln/>
        </p:spPr>
        <p:txBody>
          <a:bodyPr wrap="squar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01 · 3D ORBITAL VIEW</a:t>
            </a:r>
            <a:endParaRPr lang="en-US" sz="1800" dirty="0"/>
          </a:p>
        </p:txBody>
      </p:sp>
      <p:sp>
        <p:nvSpPr>
          <p:cNvPr id="20" name="Shape 17"/>
          <p:cNvSpPr/>
          <p:nvPr/>
        </p:nvSpPr>
        <p:spPr>
          <a:xfrm>
            <a:off x="1073768" y="3151849"/>
            <a:ext cx="4938889" cy="5307873"/>
          </a:xfrm>
          <a:prstGeom prst="rect">
            <a:avLst/>
          </a:prstGeom>
          <a:solidFill>
            <a:srgbClr val="0B1628"/>
          </a:solidFill>
          <a:ln/>
        </p:spPr>
        <p:txBody>
          <a:bodyPr/>
          <a:lstStyle/>
          <a:p>
            <a:endParaRPr/>
          </a:p>
        </p:txBody>
      </p:sp>
      <p:pic>
        <p:nvPicPr>
          <p:cNvPr id="21" name="Image 1" descr="preencoded.png"/>
          <p:cNvPicPr>
            <a:picLocks noChangeAspect="1"/>
          </p:cNvPicPr>
          <p:nvPr/>
        </p:nvPicPr>
        <p:blipFill>
          <a:blip r:embed="rId6"/>
          <a:srcRect t="-21632" b="-21632"/>
          <a:stretch/>
        </p:blipFill>
        <p:spPr>
          <a:xfrm>
            <a:off x="1073768" y="3151849"/>
            <a:ext cx="4938889" cy="5307873"/>
          </a:xfrm>
          <a:prstGeom prst="rect">
            <a:avLst/>
          </a:prstGeom>
        </p:spPr>
      </p:pic>
      <p:sp>
        <p:nvSpPr>
          <p:cNvPr id="22" name="Shape 18"/>
          <p:cNvSpPr/>
          <p:nvPr/>
        </p:nvSpPr>
        <p:spPr>
          <a:xfrm>
            <a:off x="6172069" y="2651125"/>
            <a:ext cx="5448323" cy="2831593"/>
          </a:xfrm>
          <a:prstGeom prst="rect">
            <a:avLst/>
          </a:prstGeom>
          <a:solidFill>
            <a:srgbClr val="091221">
              <a:alpha val="85000"/>
            </a:srgbClr>
          </a:solidFill>
          <a:ln w="7056">
            <a:solidFill>
              <a:srgbClr val="2A3B55"/>
            </a:solidFill>
            <a:prstDash val="solid"/>
          </a:ln>
        </p:spPr>
        <p:txBody>
          <a:bodyPr/>
          <a:lstStyle/>
          <a:p>
            <a:endParaRPr/>
          </a:p>
        </p:txBody>
      </p:sp>
      <p:sp>
        <p:nvSpPr>
          <p:cNvPr id="23" name="Shape 19"/>
          <p:cNvSpPr/>
          <p:nvPr/>
        </p:nvSpPr>
        <p:spPr>
          <a:xfrm>
            <a:off x="6179124" y="3144794"/>
            <a:ext cx="5434212" cy="9525"/>
          </a:xfrm>
          <a:prstGeom prst="rect">
            <a:avLst/>
          </a:prstGeom>
          <a:solidFill>
            <a:srgbClr val="2A3B55"/>
          </a:solidFill>
          <a:ln/>
        </p:spPr>
        <p:txBody>
          <a:bodyPr/>
          <a:lstStyle/>
          <a:p>
            <a:endParaRPr/>
          </a:p>
        </p:txBody>
      </p:sp>
      <p:sp>
        <p:nvSpPr>
          <p:cNvPr id="24" name="Text 20"/>
          <p:cNvSpPr/>
          <p:nvPr/>
        </p:nvSpPr>
        <p:spPr>
          <a:xfrm>
            <a:off x="6350574" y="2753431"/>
            <a:ext cx="5254338" cy="334213"/>
          </a:xfrm>
          <a:prstGeom prst="rect">
            <a:avLst/>
          </a:prstGeom>
          <a:noFill/>
          <a:ln/>
        </p:spPr>
        <p:txBody>
          <a:bodyPr wrap="squar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02 · LIVE DATA + EVENT FEED</a:t>
            </a:r>
            <a:endParaRPr lang="en-US" sz="1800" dirty="0"/>
          </a:p>
        </p:txBody>
      </p:sp>
      <p:sp>
        <p:nvSpPr>
          <p:cNvPr id="25" name="Shape 21"/>
          <p:cNvSpPr/>
          <p:nvPr/>
        </p:nvSpPr>
        <p:spPr>
          <a:xfrm>
            <a:off x="6179124" y="3151849"/>
            <a:ext cx="5434212" cy="2323814"/>
          </a:xfrm>
          <a:prstGeom prst="rect">
            <a:avLst/>
          </a:prstGeom>
          <a:solidFill>
            <a:srgbClr val="0B1628"/>
          </a:solidFill>
          <a:ln/>
        </p:spPr>
        <p:txBody>
          <a:bodyPr/>
          <a:lstStyle/>
          <a:p>
            <a:endParaRPr/>
          </a:p>
        </p:txBody>
      </p:sp>
      <p:pic>
        <p:nvPicPr>
          <p:cNvPr id="26" name="Image 2" descr="preencoded.png"/>
          <p:cNvPicPr>
            <a:picLocks noChangeAspect="1"/>
          </p:cNvPicPr>
          <p:nvPr/>
        </p:nvPicPr>
        <p:blipFill>
          <a:blip r:embed="rId7"/>
          <a:srcRect l="-18264" r="-18264"/>
          <a:stretch/>
        </p:blipFill>
        <p:spPr>
          <a:xfrm>
            <a:off x="6179124" y="3151849"/>
            <a:ext cx="5434212" cy="2323814"/>
          </a:xfrm>
          <a:prstGeom prst="rect">
            <a:avLst/>
          </a:prstGeom>
        </p:spPr>
      </p:pic>
      <p:sp>
        <p:nvSpPr>
          <p:cNvPr id="27" name="Shape 22"/>
          <p:cNvSpPr/>
          <p:nvPr/>
        </p:nvSpPr>
        <p:spPr>
          <a:xfrm>
            <a:off x="11772748" y="2651125"/>
            <a:ext cx="5448433" cy="2831593"/>
          </a:xfrm>
          <a:prstGeom prst="rect">
            <a:avLst/>
          </a:prstGeom>
          <a:solidFill>
            <a:srgbClr val="091221">
              <a:alpha val="85000"/>
            </a:srgbClr>
          </a:solidFill>
          <a:ln w="7056">
            <a:solidFill>
              <a:srgbClr val="2A3B55"/>
            </a:solidFill>
            <a:prstDash val="solid"/>
          </a:ln>
        </p:spPr>
        <p:txBody>
          <a:bodyPr/>
          <a:lstStyle/>
          <a:p>
            <a:endParaRPr/>
          </a:p>
        </p:txBody>
      </p:sp>
      <p:sp>
        <p:nvSpPr>
          <p:cNvPr id="28" name="Shape 23"/>
          <p:cNvSpPr/>
          <p:nvPr/>
        </p:nvSpPr>
        <p:spPr>
          <a:xfrm>
            <a:off x="11779803" y="3144794"/>
            <a:ext cx="5434322" cy="9525"/>
          </a:xfrm>
          <a:prstGeom prst="rect">
            <a:avLst/>
          </a:prstGeom>
          <a:solidFill>
            <a:srgbClr val="2A3B55"/>
          </a:solidFill>
          <a:ln/>
        </p:spPr>
        <p:txBody>
          <a:bodyPr/>
          <a:lstStyle/>
          <a:p>
            <a:endParaRPr/>
          </a:p>
        </p:txBody>
      </p:sp>
      <p:sp>
        <p:nvSpPr>
          <p:cNvPr id="29" name="Text 24"/>
          <p:cNvSpPr/>
          <p:nvPr/>
        </p:nvSpPr>
        <p:spPr>
          <a:xfrm>
            <a:off x="11951253" y="2753431"/>
            <a:ext cx="5254451" cy="334213"/>
          </a:xfrm>
          <a:prstGeom prst="rect">
            <a:avLst/>
          </a:prstGeom>
          <a:noFill/>
          <a:ln/>
        </p:spPr>
        <p:txBody>
          <a:bodyPr wrap="squar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03 · CONJUNCTION RISK</a:t>
            </a:r>
            <a:endParaRPr lang="en-US" sz="1800" dirty="0"/>
          </a:p>
        </p:txBody>
      </p:sp>
      <p:sp>
        <p:nvSpPr>
          <p:cNvPr id="30" name="Shape 25"/>
          <p:cNvSpPr/>
          <p:nvPr/>
        </p:nvSpPr>
        <p:spPr>
          <a:xfrm>
            <a:off x="11779803" y="3151849"/>
            <a:ext cx="5434322" cy="2323814"/>
          </a:xfrm>
          <a:prstGeom prst="rect">
            <a:avLst/>
          </a:prstGeom>
          <a:solidFill>
            <a:srgbClr val="0B1628"/>
          </a:solidFill>
          <a:ln/>
        </p:spPr>
        <p:txBody>
          <a:bodyPr/>
          <a:lstStyle/>
          <a:p>
            <a:endParaRPr/>
          </a:p>
        </p:txBody>
      </p:sp>
      <p:pic>
        <p:nvPicPr>
          <p:cNvPr id="31" name="Image 3" descr="preencoded.png"/>
          <p:cNvPicPr>
            <a:picLocks noChangeAspect="1"/>
          </p:cNvPicPr>
          <p:nvPr/>
        </p:nvPicPr>
        <p:blipFill>
          <a:blip r:embed="rId8"/>
          <a:srcRect l="-5235" r="-5235"/>
          <a:stretch/>
        </p:blipFill>
        <p:spPr>
          <a:xfrm>
            <a:off x="11779803" y="3151849"/>
            <a:ext cx="5434322" cy="2323814"/>
          </a:xfrm>
          <a:prstGeom prst="rect">
            <a:avLst/>
          </a:prstGeom>
        </p:spPr>
      </p:pic>
      <p:sp>
        <p:nvSpPr>
          <p:cNvPr id="32" name="Shape 26"/>
          <p:cNvSpPr/>
          <p:nvPr/>
        </p:nvSpPr>
        <p:spPr>
          <a:xfrm>
            <a:off x="6172069" y="5635075"/>
            <a:ext cx="5448323" cy="2831704"/>
          </a:xfrm>
          <a:prstGeom prst="rect">
            <a:avLst/>
          </a:prstGeom>
          <a:solidFill>
            <a:srgbClr val="091221">
              <a:alpha val="85000"/>
            </a:srgbClr>
          </a:solidFill>
          <a:ln w="7056">
            <a:solidFill>
              <a:srgbClr val="2A3B55"/>
            </a:solidFill>
            <a:prstDash val="solid"/>
          </a:ln>
        </p:spPr>
        <p:txBody>
          <a:bodyPr/>
          <a:lstStyle/>
          <a:p>
            <a:endParaRPr/>
          </a:p>
        </p:txBody>
      </p:sp>
      <p:sp>
        <p:nvSpPr>
          <p:cNvPr id="33" name="Shape 27"/>
          <p:cNvSpPr/>
          <p:nvPr/>
        </p:nvSpPr>
        <p:spPr>
          <a:xfrm>
            <a:off x="6179124" y="6128743"/>
            <a:ext cx="5434212" cy="9525"/>
          </a:xfrm>
          <a:prstGeom prst="rect">
            <a:avLst/>
          </a:prstGeom>
          <a:solidFill>
            <a:srgbClr val="2A3B55"/>
          </a:solidFill>
          <a:ln/>
        </p:spPr>
        <p:txBody>
          <a:bodyPr/>
          <a:lstStyle/>
          <a:p>
            <a:endParaRPr/>
          </a:p>
        </p:txBody>
      </p:sp>
      <p:sp>
        <p:nvSpPr>
          <p:cNvPr id="34" name="Text 28"/>
          <p:cNvSpPr/>
          <p:nvPr/>
        </p:nvSpPr>
        <p:spPr>
          <a:xfrm>
            <a:off x="6350574" y="5737380"/>
            <a:ext cx="5254338" cy="334213"/>
          </a:xfrm>
          <a:prstGeom prst="rect">
            <a:avLst/>
          </a:prstGeom>
          <a:noFill/>
          <a:ln/>
        </p:spPr>
        <p:txBody>
          <a:bodyPr wrap="squar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04 · EVIDENCE-BASED BRIEF</a:t>
            </a:r>
            <a:endParaRPr lang="en-US" sz="1800" dirty="0"/>
          </a:p>
        </p:txBody>
      </p:sp>
      <p:sp>
        <p:nvSpPr>
          <p:cNvPr id="35" name="Shape 29"/>
          <p:cNvSpPr/>
          <p:nvPr/>
        </p:nvSpPr>
        <p:spPr>
          <a:xfrm>
            <a:off x="6179124" y="6135799"/>
            <a:ext cx="5434212" cy="2323924"/>
          </a:xfrm>
          <a:prstGeom prst="rect">
            <a:avLst/>
          </a:prstGeom>
          <a:solidFill>
            <a:srgbClr val="0B1628"/>
          </a:solidFill>
          <a:ln/>
        </p:spPr>
        <p:txBody>
          <a:bodyPr/>
          <a:lstStyle/>
          <a:p>
            <a:endParaRPr/>
          </a:p>
        </p:txBody>
      </p:sp>
      <p:pic>
        <p:nvPicPr>
          <p:cNvPr id="36" name="Image 4" descr="preencoded.png"/>
          <p:cNvPicPr>
            <a:picLocks noChangeAspect="1"/>
          </p:cNvPicPr>
          <p:nvPr/>
        </p:nvPicPr>
        <p:blipFill>
          <a:blip r:embed="rId9"/>
          <a:srcRect t="-15130" b="-15130"/>
          <a:stretch/>
        </p:blipFill>
        <p:spPr>
          <a:xfrm>
            <a:off x="6179124" y="6135799"/>
            <a:ext cx="5434212" cy="2323924"/>
          </a:xfrm>
          <a:prstGeom prst="rect">
            <a:avLst/>
          </a:prstGeom>
        </p:spPr>
      </p:pic>
      <p:sp>
        <p:nvSpPr>
          <p:cNvPr id="37" name="Shape 30"/>
          <p:cNvSpPr/>
          <p:nvPr/>
        </p:nvSpPr>
        <p:spPr>
          <a:xfrm>
            <a:off x="11772748" y="5635075"/>
            <a:ext cx="5448433" cy="2831704"/>
          </a:xfrm>
          <a:prstGeom prst="rect">
            <a:avLst/>
          </a:prstGeom>
          <a:solidFill>
            <a:srgbClr val="091221">
              <a:alpha val="85000"/>
            </a:srgbClr>
          </a:solidFill>
          <a:ln w="7056">
            <a:solidFill>
              <a:srgbClr val="2A3B55"/>
            </a:solidFill>
            <a:prstDash val="solid"/>
          </a:ln>
        </p:spPr>
        <p:txBody>
          <a:bodyPr/>
          <a:lstStyle/>
          <a:p>
            <a:endParaRPr/>
          </a:p>
        </p:txBody>
      </p:sp>
      <p:sp>
        <p:nvSpPr>
          <p:cNvPr id="38" name="Shape 31"/>
          <p:cNvSpPr/>
          <p:nvPr/>
        </p:nvSpPr>
        <p:spPr>
          <a:xfrm>
            <a:off x="11779803" y="6128743"/>
            <a:ext cx="5434322" cy="9525"/>
          </a:xfrm>
          <a:prstGeom prst="rect">
            <a:avLst/>
          </a:prstGeom>
          <a:solidFill>
            <a:srgbClr val="2A3B55"/>
          </a:solidFill>
          <a:ln/>
        </p:spPr>
        <p:txBody>
          <a:bodyPr/>
          <a:lstStyle/>
          <a:p>
            <a:endParaRPr/>
          </a:p>
        </p:txBody>
      </p:sp>
      <p:sp>
        <p:nvSpPr>
          <p:cNvPr id="39" name="Text 32"/>
          <p:cNvSpPr/>
          <p:nvPr/>
        </p:nvSpPr>
        <p:spPr>
          <a:xfrm>
            <a:off x="11951253" y="5737380"/>
            <a:ext cx="5254451" cy="334213"/>
          </a:xfrm>
          <a:prstGeom prst="rect">
            <a:avLst/>
          </a:prstGeom>
          <a:noFill/>
          <a:ln/>
        </p:spPr>
        <p:txBody>
          <a:bodyPr wrap="square" lIns="25400" tIns="25400" rIns="25400" bIns="25400" rtlCol="0" anchor="t">
            <a:normAutofit/>
          </a:bodyPr>
          <a:lstStyle/>
          <a:p>
            <a:pPr marL="0" indent="0" algn="l">
              <a:buNone/>
            </a:pPr>
            <a:r>
              <a:rPr lang="en-US" sz="1800" dirty="0">
                <a:solidFill>
                  <a:srgbClr val="9AAABF"/>
                </a:solidFill>
                <a:latin typeface="Courier New" pitchFamily="34" charset="0"/>
                <a:ea typeface="Courier New" pitchFamily="34" charset="-122"/>
                <a:cs typeface="Courier New" pitchFamily="34" charset="-120"/>
              </a:rPr>
              <a:t>05 · HUMAN DECISION + AUDIT</a:t>
            </a:r>
            <a:endParaRPr lang="en-US" sz="1800" dirty="0"/>
          </a:p>
        </p:txBody>
      </p:sp>
      <p:sp>
        <p:nvSpPr>
          <p:cNvPr id="40" name="Shape 33"/>
          <p:cNvSpPr/>
          <p:nvPr/>
        </p:nvSpPr>
        <p:spPr>
          <a:xfrm>
            <a:off x="11779803" y="6135799"/>
            <a:ext cx="5434322" cy="2323924"/>
          </a:xfrm>
          <a:prstGeom prst="rect">
            <a:avLst/>
          </a:prstGeom>
          <a:solidFill>
            <a:srgbClr val="0B1628"/>
          </a:solidFill>
          <a:ln/>
        </p:spPr>
        <p:txBody>
          <a:bodyPr/>
          <a:lstStyle/>
          <a:p>
            <a:endParaRPr/>
          </a:p>
        </p:txBody>
      </p:sp>
      <p:pic>
        <p:nvPicPr>
          <p:cNvPr id="41" name="Image 5" descr="preencoded.png"/>
          <p:cNvPicPr>
            <a:picLocks noChangeAspect="1"/>
          </p:cNvPicPr>
          <p:nvPr/>
        </p:nvPicPr>
        <p:blipFill>
          <a:blip r:embed="rId10"/>
          <a:srcRect l="-7059" r="-7059"/>
          <a:stretch/>
        </p:blipFill>
        <p:spPr>
          <a:xfrm>
            <a:off x="11779803" y="6135799"/>
            <a:ext cx="5434322" cy="2323924"/>
          </a:xfrm>
          <a:prstGeom prst="rect">
            <a:avLst/>
          </a:prstGeom>
        </p:spPr>
      </p:pic>
      <p:sp>
        <p:nvSpPr>
          <p:cNvPr id="42" name="Text 34"/>
          <p:cNvSpPr/>
          <p:nvPr/>
        </p:nvSpPr>
        <p:spPr>
          <a:xfrm>
            <a:off x="1066712" y="8657168"/>
            <a:ext cx="2551587"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Vercel frontend</a:t>
            </a:r>
            <a:endParaRPr lang="en-US" sz="1800" dirty="0"/>
          </a:p>
        </p:txBody>
      </p:sp>
      <p:sp>
        <p:nvSpPr>
          <p:cNvPr id="43" name="Text 35"/>
          <p:cNvSpPr/>
          <p:nvPr/>
        </p:nvSpPr>
        <p:spPr>
          <a:xfrm>
            <a:off x="3671976" y="8657168"/>
            <a:ext cx="2551587"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Railway backend</a:t>
            </a:r>
            <a:endParaRPr lang="en-US" sz="1800" dirty="0"/>
          </a:p>
        </p:txBody>
      </p:sp>
      <p:sp>
        <p:nvSpPr>
          <p:cNvPr id="44" name="Text 36"/>
          <p:cNvSpPr/>
          <p:nvPr/>
        </p:nvSpPr>
        <p:spPr>
          <a:xfrm>
            <a:off x="6277240" y="8657168"/>
            <a:ext cx="3154892"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Persistent database</a:t>
            </a:r>
            <a:endParaRPr lang="en-US" sz="1800" dirty="0"/>
          </a:p>
        </p:txBody>
      </p:sp>
      <p:sp>
        <p:nvSpPr>
          <p:cNvPr id="45" name="Text 37"/>
          <p:cNvSpPr/>
          <p:nvPr/>
        </p:nvSpPr>
        <p:spPr>
          <a:xfrm>
            <a:off x="9430964" y="8657168"/>
            <a:ext cx="2702444"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2-hour scheduler</a:t>
            </a:r>
            <a:endParaRPr lang="en-US" sz="1800" dirty="0"/>
          </a:p>
        </p:txBody>
      </p:sp>
      <p:sp>
        <p:nvSpPr>
          <p:cNvPr id="46" name="Text 38"/>
          <p:cNvSpPr/>
          <p:nvPr/>
        </p:nvSpPr>
        <p:spPr>
          <a:xfrm>
            <a:off x="12173371" y="8657168"/>
            <a:ext cx="1948282"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Auth + RBAC</a:t>
            </a:r>
            <a:endParaRPr lang="en-US" sz="1800" dirty="0"/>
          </a:p>
        </p:txBody>
      </p:sp>
      <p:sp>
        <p:nvSpPr>
          <p:cNvPr id="47" name="Text 39"/>
          <p:cNvSpPr/>
          <p:nvPr/>
        </p:nvSpPr>
        <p:spPr>
          <a:xfrm>
            <a:off x="14230176" y="8657168"/>
            <a:ext cx="3154892" cy="334433"/>
          </a:xfrm>
          <a:prstGeom prst="rect">
            <a:avLst/>
          </a:prstGeom>
          <a:noFill/>
          <a:ln/>
        </p:spPr>
        <p:txBody>
          <a:bodyPr wrap="non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 </a:t>
            </a:r>
            <a:r>
              <a:rPr lang="en-US" sz="1800" dirty="0">
                <a:solidFill>
                  <a:srgbClr val="C9D4E2"/>
                </a:solidFill>
                <a:latin typeface="Courier New" pitchFamily="34" charset="0"/>
                <a:ea typeface="Courier New" pitchFamily="34" charset="-122"/>
                <a:cs typeface="Courier New" pitchFamily="34" charset="-120"/>
              </a:rPr>
              <a:t>Public data refresh</a:t>
            </a:r>
            <a:endParaRPr lang="en-US" sz="1800" dirty="0"/>
          </a:p>
        </p:txBody>
      </p:sp>
      <p:sp>
        <p:nvSpPr>
          <p:cNvPr id="48" name="Shape 40"/>
          <p:cNvSpPr/>
          <p:nvPr/>
        </p:nvSpPr>
        <p:spPr>
          <a:xfrm>
            <a:off x="1066712" y="9629181"/>
            <a:ext cx="190390" cy="28553"/>
          </a:xfrm>
          <a:prstGeom prst="rect">
            <a:avLst/>
          </a:prstGeom>
          <a:solidFill>
            <a:srgbClr val="FF9933"/>
          </a:solidFill>
          <a:ln/>
        </p:spPr>
        <p:txBody>
          <a:bodyPr/>
          <a:lstStyle/>
          <a:p>
            <a:endParaRPr/>
          </a:p>
        </p:txBody>
      </p:sp>
      <p:sp>
        <p:nvSpPr>
          <p:cNvPr id="49" name="Shape 41"/>
          <p:cNvSpPr/>
          <p:nvPr/>
        </p:nvSpPr>
        <p:spPr>
          <a:xfrm>
            <a:off x="1257102" y="9629181"/>
            <a:ext cx="190390" cy="28553"/>
          </a:xfrm>
          <a:prstGeom prst="rect">
            <a:avLst/>
          </a:prstGeom>
          <a:solidFill>
            <a:srgbClr val="F2F2F2"/>
          </a:solidFill>
          <a:ln/>
        </p:spPr>
        <p:txBody>
          <a:bodyPr/>
          <a:lstStyle/>
          <a:p>
            <a:endParaRPr/>
          </a:p>
        </p:txBody>
      </p:sp>
      <p:sp>
        <p:nvSpPr>
          <p:cNvPr id="50" name="Shape 42"/>
          <p:cNvSpPr/>
          <p:nvPr/>
        </p:nvSpPr>
        <p:spPr>
          <a:xfrm>
            <a:off x="1447491" y="9629181"/>
            <a:ext cx="190390" cy="28553"/>
          </a:xfrm>
          <a:prstGeom prst="rect">
            <a:avLst/>
          </a:prstGeom>
          <a:solidFill>
            <a:srgbClr val="1FA84A"/>
          </a:solidFill>
          <a:ln/>
        </p:spPr>
        <p:txBody>
          <a:bodyPr/>
          <a:lstStyle/>
          <a:p>
            <a:endParaRPr/>
          </a:p>
        </p:txBody>
      </p:sp>
      <p:sp>
        <p:nvSpPr>
          <p:cNvPr id="51" name="Text 43"/>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2" name="Text 44"/>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11 / 15</a:t>
            </a:r>
            <a:endParaRPr lang="en-US" sz="1800" dirty="0"/>
          </a:p>
        </p:txBody>
      </p:sp>
      <p:pic>
        <p:nvPicPr>
          <p:cNvPr id="53" name="Narration slide 11">
            <a:hlinkClick r:id="" action="ppaction://media"/>
            <a:extLst>
              <a:ext uri="{FF2B5EF4-FFF2-40B4-BE49-F238E27FC236}">
                <a16:creationId xmlns:a16="http://schemas.microsoft.com/office/drawing/2014/main" id="{80DEB37C-76B6-3C30-7F36-D1A1782CFA21}"/>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04" fill="hold"/>
                                        <p:tgtEl>
                                          <p:spTgt spid="5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12</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502301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SOVEREIGN + STRATEGIC VALUE</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5CC8F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Where does it fit in India's space capability?</a:t>
            </a:r>
            <a:endParaRPr lang="en-US" sz="5100" dirty="0"/>
          </a:p>
        </p:txBody>
      </p:sp>
      <p:sp>
        <p:nvSpPr>
          <p:cNvPr id="15" name="Shape 12"/>
          <p:cNvSpPr/>
          <p:nvPr/>
        </p:nvSpPr>
        <p:spPr>
          <a:xfrm>
            <a:off x="1066712" y="2624116"/>
            <a:ext cx="57106" cy="361928"/>
          </a:xfrm>
          <a:prstGeom prst="rect">
            <a:avLst/>
          </a:prstGeom>
          <a:solidFill>
            <a:srgbClr val="FF9933"/>
          </a:solidFill>
          <a:ln/>
        </p:spPr>
        <p:txBody>
          <a:bodyPr/>
          <a:lstStyle/>
          <a:p>
            <a:endParaRPr/>
          </a:p>
        </p:txBody>
      </p:sp>
      <p:sp>
        <p:nvSpPr>
          <p:cNvPr id="16" name="Shape 13"/>
          <p:cNvSpPr/>
          <p:nvPr/>
        </p:nvSpPr>
        <p:spPr>
          <a:xfrm>
            <a:off x="1066712" y="2986044"/>
            <a:ext cx="57106" cy="361928"/>
          </a:xfrm>
          <a:prstGeom prst="rect">
            <a:avLst/>
          </a:prstGeom>
          <a:solidFill>
            <a:srgbClr val="F2F2F2"/>
          </a:solidFill>
          <a:ln/>
        </p:spPr>
        <p:txBody>
          <a:bodyPr/>
          <a:lstStyle/>
          <a:p>
            <a:endParaRPr/>
          </a:p>
        </p:txBody>
      </p:sp>
      <p:sp>
        <p:nvSpPr>
          <p:cNvPr id="17" name="Shape 14"/>
          <p:cNvSpPr/>
          <p:nvPr/>
        </p:nvSpPr>
        <p:spPr>
          <a:xfrm>
            <a:off x="1066712" y="3347972"/>
            <a:ext cx="57106" cy="361928"/>
          </a:xfrm>
          <a:prstGeom prst="rect">
            <a:avLst/>
          </a:prstGeom>
          <a:solidFill>
            <a:srgbClr val="1FA84A"/>
          </a:solidFill>
          <a:ln/>
        </p:spPr>
        <p:txBody>
          <a:bodyPr/>
          <a:lstStyle/>
          <a:p>
            <a:endParaRPr/>
          </a:p>
        </p:txBody>
      </p:sp>
      <p:sp>
        <p:nvSpPr>
          <p:cNvPr id="18" name="Text 15"/>
          <p:cNvSpPr/>
          <p:nvPr/>
        </p:nvSpPr>
        <p:spPr>
          <a:xfrm>
            <a:off x="1390496" y="2528976"/>
            <a:ext cx="15304659" cy="1471370"/>
          </a:xfrm>
          <a:prstGeom prst="rect">
            <a:avLst/>
          </a:prstGeom>
          <a:noFill/>
          <a:ln/>
        </p:spPr>
        <p:txBody>
          <a:bodyPr wrap="square" lIns="25400" tIns="25400" rIns="25400" bIns="25400" rtlCol="0" anchor="t">
            <a:normAutofit/>
          </a:bodyPr>
          <a:lstStyle/>
          <a:p>
            <a:pPr marL="0" indent="0" algn="l">
              <a:lnSpc>
                <a:spcPct val="119764"/>
              </a:lnSpc>
              <a:buNone/>
            </a:pPr>
            <a:r>
              <a:rPr lang="en-US" sz="2700" dirty="0">
                <a:solidFill>
                  <a:srgbClr val="E6EDF5"/>
                </a:solidFill>
                <a:latin typeface="Arial" pitchFamily="34" charset="0"/>
                <a:ea typeface="Arial" pitchFamily="34" charset="-122"/>
                <a:cs typeface="Arial" pitchFamily="34" charset="-120"/>
              </a:rPr>
              <a:t>India already has significant space surveillance and tracking capabilities. ANTARIKSHA-RAKSHA is a </a:t>
            </a:r>
            <a:r>
              <a:rPr lang="en-US" sz="2700" dirty="0">
                <a:solidFill>
                  <a:srgbClr val="5CC8F0"/>
                </a:solidFill>
                <a:latin typeface="Arial" pitchFamily="34" charset="0"/>
                <a:ea typeface="Arial" pitchFamily="34" charset="-122"/>
                <a:cs typeface="Arial" pitchFamily="34" charset="-120"/>
              </a:rPr>
              <a:t>complementary software-layer prototype </a:t>
            </a:r>
            <a:r>
              <a:rPr lang="en-US" sz="2700" dirty="0">
                <a:solidFill>
                  <a:srgbClr val="E6EDF5"/>
                </a:solidFill>
                <a:latin typeface="Arial" pitchFamily="34" charset="0"/>
                <a:ea typeface="Arial" pitchFamily="34" charset="-122"/>
                <a:cs typeface="Arial" pitchFamily="34" charset="-120"/>
              </a:rPr>
              <a:t>that turns orbital evidence into prioritised, explainable and auditable decision support.</a:t>
            </a:r>
            <a:endParaRPr lang="en-US" sz="2700" dirty="0"/>
          </a:p>
        </p:txBody>
      </p:sp>
      <p:sp>
        <p:nvSpPr>
          <p:cNvPr id="19" name="Shape 16"/>
          <p:cNvSpPr/>
          <p:nvPr/>
        </p:nvSpPr>
        <p:spPr>
          <a:xfrm>
            <a:off x="1066712" y="5745648"/>
            <a:ext cx="3924323" cy="2113360"/>
          </a:xfrm>
          <a:prstGeom prst="rect">
            <a:avLst/>
          </a:prstGeom>
          <a:solidFill>
            <a:srgbClr val="091221">
              <a:alpha val="85000"/>
            </a:srgbClr>
          </a:solidFill>
          <a:ln/>
        </p:spPr>
        <p:txBody>
          <a:bodyPr/>
          <a:lstStyle/>
          <a:p>
            <a:endParaRPr/>
          </a:p>
        </p:txBody>
      </p:sp>
      <p:sp>
        <p:nvSpPr>
          <p:cNvPr id="20" name="Shape 17"/>
          <p:cNvSpPr/>
          <p:nvPr/>
        </p:nvSpPr>
        <p:spPr>
          <a:xfrm>
            <a:off x="1066712" y="7851952"/>
            <a:ext cx="3924323" cy="9525"/>
          </a:xfrm>
          <a:prstGeom prst="rect">
            <a:avLst/>
          </a:prstGeom>
          <a:solidFill>
            <a:srgbClr val="22344F"/>
          </a:solidFill>
          <a:ln/>
        </p:spPr>
        <p:txBody>
          <a:bodyPr/>
          <a:lstStyle/>
          <a:p>
            <a:endParaRPr/>
          </a:p>
        </p:txBody>
      </p:sp>
      <p:sp>
        <p:nvSpPr>
          <p:cNvPr id="21" name="Shape 18"/>
          <p:cNvSpPr/>
          <p:nvPr/>
        </p:nvSpPr>
        <p:spPr>
          <a:xfrm>
            <a:off x="1066712" y="5745648"/>
            <a:ext cx="3924323" cy="28222"/>
          </a:xfrm>
          <a:prstGeom prst="rect">
            <a:avLst/>
          </a:prstGeom>
          <a:solidFill>
            <a:srgbClr val="5CC8F0"/>
          </a:solidFill>
          <a:ln/>
        </p:spPr>
        <p:txBody>
          <a:bodyPr/>
          <a:lstStyle/>
          <a:p>
            <a:endParaRPr/>
          </a:p>
        </p:txBody>
      </p:sp>
      <p:sp>
        <p:nvSpPr>
          <p:cNvPr id="22" name="Shape 19"/>
          <p:cNvSpPr/>
          <p:nvPr/>
        </p:nvSpPr>
        <p:spPr>
          <a:xfrm>
            <a:off x="1066712" y="5745648"/>
            <a:ext cx="9525" cy="2113360"/>
          </a:xfrm>
          <a:prstGeom prst="rect">
            <a:avLst/>
          </a:prstGeom>
          <a:solidFill>
            <a:srgbClr val="22344F"/>
          </a:solidFill>
          <a:ln/>
        </p:spPr>
        <p:txBody>
          <a:bodyPr/>
          <a:lstStyle/>
          <a:p>
            <a:endParaRPr/>
          </a:p>
        </p:txBody>
      </p:sp>
      <p:sp>
        <p:nvSpPr>
          <p:cNvPr id="23" name="Shape 20"/>
          <p:cNvSpPr/>
          <p:nvPr/>
        </p:nvSpPr>
        <p:spPr>
          <a:xfrm>
            <a:off x="4983979" y="5745648"/>
            <a:ext cx="9525" cy="2113360"/>
          </a:xfrm>
          <a:prstGeom prst="rect">
            <a:avLst/>
          </a:prstGeom>
          <a:solidFill>
            <a:srgbClr val="22344F"/>
          </a:solidFill>
          <a:ln/>
        </p:spPr>
        <p:txBody>
          <a:bodyPr/>
          <a:lstStyle/>
          <a:p>
            <a:endParaRPr/>
          </a:p>
        </p:txBody>
      </p:sp>
      <p:sp>
        <p:nvSpPr>
          <p:cNvPr id="24" name="Text 21"/>
          <p:cNvSpPr/>
          <p:nvPr/>
        </p:nvSpPr>
        <p:spPr>
          <a:xfrm>
            <a:off x="1359407"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MODULAR</a:t>
            </a:r>
            <a:endParaRPr lang="en-US" sz="1800" dirty="0"/>
          </a:p>
        </p:txBody>
      </p:sp>
      <p:sp>
        <p:nvSpPr>
          <p:cNvPr id="25" name="Text 22"/>
          <p:cNvSpPr/>
          <p:nvPr/>
        </p:nvSpPr>
        <p:spPr>
          <a:xfrm>
            <a:off x="1359407" y="6489128"/>
            <a:ext cx="3439100" cy="756223"/>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Software layer that can sit alongside existing systems</a:t>
            </a:r>
            <a:endParaRPr lang="en-US" sz="2175" dirty="0"/>
          </a:p>
        </p:txBody>
      </p:sp>
      <p:sp>
        <p:nvSpPr>
          <p:cNvPr id="26" name="Shape 23"/>
          <p:cNvSpPr/>
          <p:nvPr/>
        </p:nvSpPr>
        <p:spPr>
          <a:xfrm>
            <a:off x="5143391" y="5745648"/>
            <a:ext cx="3924323" cy="2113360"/>
          </a:xfrm>
          <a:prstGeom prst="rect">
            <a:avLst/>
          </a:prstGeom>
          <a:solidFill>
            <a:srgbClr val="091221">
              <a:alpha val="85000"/>
            </a:srgbClr>
          </a:solidFill>
          <a:ln/>
        </p:spPr>
        <p:txBody>
          <a:bodyPr/>
          <a:lstStyle/>
          <a:p>
            <a:endParaRPr/>
          </a:p>
        </p:txBody>
      </p:sp>
      <p:sp>
        <p:nvSpPr>
          <p:cNvPr id="27" name="Shape 24"/>
          <p:cNvSpPr/>
          <p:nvPr/>
        </p:nvSpPr>
        <p:spPr>
          <a:xfrm>
            <a:off x="5143391" y="7851952"/>
            <a:ext cx="3924323" cy="9525"/>
          </a:xfrm>
          <a:prstGeom prst="rect">
            <a:avLst/>
          </a:prstGeom>
          <a:solidFill>
            <a:srgbClr val="22344F"/>
          </a:solidFill>
          <a:ln/>
        </p:spPr>
        <p:txBody>
          <a:bodyPr/>
          <a:lstStyle/>
          <a:p>
            <a:endParaRPr/>
          </a:p>
        </p:txBody>
      </p:sp>
      <p:sp>
        <p:nvSpPr>
          <p:cNvPr id="28" name="Shape 25"/>
          <p:cNvSpPr/>
          <p:nvPr/>
        </p:nvSpPr>
        <p:spPr>
          <a:xfrm>
            <a:off x="5143391" y="5745648"/>
            <a:ext cx="3924323" cy="28222"/>
          </a:xfrm>
          <a:prstGeom prst="rect">
            <a:avLst/>
          </a:prstGeom>
          <a:solidFill>
            <a:srgbClr val="5CC8F0"/>
          </a:solidFill>
          <a:ln/>
        </p:spPr>
        <p:txBody>
          <a:bodyPr/>
          <a:lstStyle/>
          <a:p>
            <a:endParaRPr/>
          </a:p>
        </p:txBody>
      </p:sp>
      <p:sp>
        <p:nvSpPr>
          <p:cNvPr id="29" name="Shape 26"/>
          <p:cNvSpPr/>
          <p:nvPr/>
        </p:nvSpPr>
        <p:spPr>
          <a:xfrm>
            <a:off x="5143391" y="5745648"/>
            <a:ext cx="9525" cy="2113360"/>
          </a:xfrm>
          <a:prstGeom prst="rect">
            <a:avLst/>
          </a:prstGeom>
          <a:solidFill>
            <a:srgbClr val="22344F"/>
          </a:solidFill>
          <a:ln/>
        </p:spPr>
        <p:txBody>
          <a:bodyPr/>
          <a:lstStyle/>
          <a:p>
            <a:endParaRPr/>
          </a:p>
        </p:txBody>
      </p:sp>
      <p:sp>
        <p:nvSpPr>
          <p:cNvPr id="30" name="Shape 27"/>
          <p:cNvSpPr/>
          <p:nvPr/>
        </p:nvSpPr>
        <p:spPr>
          <a:xfrm>
            <a:off x="9060658" y="5745648"/>
            <a:ext cx="9525" cy="2113360"/>
          </a:xfrm>
          <a:prstGeom prst="rect">
            <a:avLst/>
          </a:prstGeom>
          <a:solidFill>
            <a:srgbClr val="22344F"/>
          </a:solidFill>
          <a:ln/>
        </p:spPr>
        <p:txBody>
          <a:bodyPr/>
          <a:lstStyle/>
          <a:p>
            <a:endParaRPr/>
          </a:p>
        </p:txBody>
      </p:sp>
      <p:sp>
        <p:nvSpPr>
          <p:cNvPr id="31" name="Text 28"/>
          <p:cNvSpPr/>
          <p:nvPr/>
        </p:nvSpPr>
        <p:spPr>
          <a:xfrm>
            <a:off x="5436086"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OPTIONAL LOCAL AI</a:t>
            </a:r>
            <a:endParaRPr lang="en-US" sz="1800" dirty="0"/>
          </a:p>
        </p:txBody>
      </p:sp>
      <p:sp>
        <p:nvSpPr>
          <p:cNvPr id="32" name="Text 29"/>
          <p:cNvSpPr/>
          <p:nvPr/>
        </p:nvSpPr>
        <p:spPr>
          <a:xfrm>
            <a:off x="5436086" y="6489128"/>
            <a:ext cx="3439100"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Explanations from a local model when enabled, with deterministic fallback</a:t>
            </a:r>
            <a:endParaRPr lang="en-US" sz="2175" dirty="0"/>
          </a:p>
        </p:txBody>
      </p:sp>
      <p:sp>
        <p:nvSpPr>
          <p:cNvPr id="33" name="Shape 30"/>
          <p:cNvSpPr/>
          <p:nvPr/>
        </p:nvSpPr>
        <p:spPr>
          <a:xfrm>
            <a:off x="9220069" y="5745648"/>
            <a:ext cx="3924323" cy="2113360"/>
          </a:xfrm>
          <a:prstGeom prst="rect">
            <a:avLst/>
          </a:prstGeom>
          <a:solidFill>
            <a:srgbClr val="091221">
              <a:alpha val="85000"/>
            </a:srgbClr>
          </a:solidFill>
          <a:ln/>
        </p:spPr>
        <p:txBody>
          <a:bodyPr/>
          <a:lstStyle/>
          <a:p>
            <a:endParaRPr/>
          </a:p>
        </p:txBody>
      </p:sp>
      <p:sp>
        <p:nvSpPr>
          <p:cNvPr id="34" name="Shape 31"/>
          <p:cNvSpPr/>
          <p:nvPr/>
        </p:nvSpPr>
        <p:spPr>
          <a:xfrm>
            <a:off x="9220069" y="7851952"/>
            <a:ext cx="3924323" cy="9525"/>
          </a:xfrm>
          <a:prstGeom prst="rect">
            <a:avLst/>
          </a:prstGeom>
          <a:solidFill>
            <a:srgbClr val="22344F"/>
          </a:solidFill>
          <a:ln/>
        </p:spPr>
        <p:txBody>
          <a:bodyPr/>
          <a:lstStyle/>
          <a:p>
            <a:endParaRPr/>
          </a:p>
        </p:txBody>
      </p:sp>
      <p:sp>
        <p:nvSpPr>
          <p:cNvPr id="35" name="Shape 32"/>
          <p:cNvSpPr/>
          <p:nvPr/>
        </p:nvSpPr>
        <p:spPr>
          <a:xfrm>
            <a:off x="9220069" y="5745648"/>
            <a:ext cx="3924323" cy="28222"/>
          </a:xfrm>
          <a:prstGeom prst="rect">
            <a:avLst/>
          </a:prstGeom>
          <a:solidFill>
            <a:srgbClr val="5CC8F0"/>
          </a:solidFill>
          <a:ln/>
        </p:spPr>
        <p:txBody>
          <a:bodyPr/>
          <a:lstStyle/>
          <a:p>
            <a:endParaRPr/>
          </a:p>
        </p:txBody>
      </p:sp>
      <p:sp>
        <p:nvSpPr>
          <p:cNvPr id="36" name="Shape 33"/>
          <p:cNvSpPr/>
          <p:nvPr/>
        </p:nvSpPr>
        <p:spPr>
          <a:xfrm>
            <a:off x="9220069" y="5745648"/>
            <a:ext cx="9525" cy="2113360"/>
          </a:xfrm>
          <a:prstGeom prst="rect">
            <a:avLst/>
          </a:prstGeom>
          <a:solidFill>
            <a:srgbClr val="22344F"/>
          </a:solidFill>
          <a:ln/>
        </p:spPr>
        <p:txBody>
          <a:bodyPr/>
          <a:lstStyle/>
          <a:p>
            <a:endParaRPr/>
          </a:p>
        </p:txBody>
      </p:sp>
      <p:sp>
        <p:nvSpPr>
          <p:cNvPr id="37" name="Shape 34"/>
          <p:cNvSpPr/>
          <p:nvPr/>
        </p:nvSpPr>
        <p:spPr>
          <a:xfrm>
            <a:off x="13137336" y="5745648"/>
            <a:ext cx="9525" cy="2113360"/>
          </a:xfrm>
          <a:prstGeom prst="rect">
            <a:avLst/>
          </a:prstGeom>
          <a:solidFill>
            <a:srgbClr val="22344F"/>
          </a:solidFill>
          <a:ln/>
        </p:spPr>
        <p:txBody>
          <a:bodyPr/>
          <a:lstStyle/>
          <a:p>
            <a:endParaRPr/>
          </a:p>
        </p:txBody>
      </p:sp>
      <p:sp>
        <p:nvSpPr>
          <p:cNvPr id="38" name="Text 35"/>
          <p:cNvSpPr/>
          <p:nvPr/>
        </p:nvSpPr>
        <p:spPr>
          <a:xfrm>
            <a:off x="9512764"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GOVERNED</a:t>
            </a:r>
            <a:endParaRPr lang="en-US" sz="1800" dirty="0"/>
          </a:p>
        </p:txBody>
      </p:sp>
      <p:sp>
        <p:nvSpPr>
          <p:cNvPr id="39" name="Text 36"/>
          <p:cNvSpPr/>
          <p:nvPr/>
        </p:nvSpPr>
        <p:spPr>
          <a:xfrm>
            <a:off x="9512764" y="6489128"/>
            <a:ext cx="3439100"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Human-in-the-loop decisions with a persistent audit trail</a:t>
            </a:r>
            <a:endParaRPr lang="en-US" sz="2175" dirty="0"/>
          </a:p>
        </p:txBody>
      </p:sp>
      <p:sp>
        <p:nvSpPr>
          <p:cNvPr id="40" name="Shape 37"/>
          <p:cNvSpPr/>
          <p:nvPr/>
        </p:nvSpPr>
        <p:spPr>
          <a:xfrm>
            <a:off x="13296748" y="5745648"/>
            <a:ext cx="3924433" cy="2113360"/>
          </a:xfrm>
          <a:prstGeom prst="rect">
            <a:avLst/>
          </a:prstGeom>
          <a:solidFill>
            <a:srgbClr val="091221">
              <a:alpha val="85000"/>
            </a:srgbClr>
          </a:solidFill>
          <a:ln/>
        </p:spPr>
        <p:txBody>
          <a:bodyPr/>
          <a:lstStyle/>
          <a:p>
            <a:endParaRPr/>
          </a:p>
        </p:txBody>
      </p:sp>
      <p:sp>
        <p:nvSpPr>
          <p:cNvPr id="41" name="Shape 38"/>
          <p:cNvSpPr/>
          <p:nvPr/>
        </p:nvSpPr>
        <p:spPr>
          <a:xfrm>
            <a:off x="13296748" y="7851952"/>
            <a:ext cx="3924433" cy="9525"/>
          </a:xfrm>
          <a:prstGeom prst="rect">
            <a:avLst/>
          </a:prstGeom>
          <a:solidFill>
            <a:srgbClr val="22344F"/>
          </a:solidFill>
          <a:ln/>
        </p:spPr>
        <p:txBody>
          <a:bodyPr/>
          <a:lstStyle/>
          <a:p>
            <a:endParaRPr/>
          </a:p>
        </p:txBody>
      </p:sp>
      <p:sp>
        <p:nvSpPr>
          <p:cNvPr id="42" name="Shape 39"/>
          <p:cNvSpPr/>
          <p:nvPr/>
        </p:nvSpPr>
        <p:spPr>
          <a:xfrm>
            <a:off x="13296748" y="5745648"/>
            <a:ext cx="3924433" cy="28222"/>
          </a:xfrm>
          <a:prstGeom prst="rect">
            <a:avLst/>
          </a:prstGeom>
          <a:solidFill>
            <a:srgbClr val="5CC8F0"/>
          </a:solidFill>
          <a:ln/>
        </p:spPr>
        <p:txBody>
          <a:bodyPr/>
          <a:lstStyle/>
          <a:p>
            <a:endParaRPr/>
          </a:p>
        </p:txBody>
      </p:sp>
      <p:sp>
        <p:nvSpPr>
          <p:cNvPr id="43" name="Shape 40"/>
          <p:cNvSpPr/>
          <p:nvPr/>
        </p:nvSpPr>
        <p:spPr>
          <a:xfrm>
            <a:off x="13296748" y="5745648"/>
            <a:ext cx="9525" cy="2113360"/>
          </a:xfrm>
          <a:prstGeom prst="rect">
            <a:avLst/>
          </a:prstGeom>
          <a:solidFill>
            <a:srgbClr val="22344F"/>
          </a:solidFill>
          <a:ln/>
        </p:spPr>
        <p:txBody>
          <a:bodyPr/>
          <a:lstStyle/>
          <a:p>
            <a:endParaRPr/>
          </a:p>
        </p:txBody>
      </p:sp>
      <p:sp>
        <p:nvSpPr>
          <p:cNvPr id="44" name="Shape 41"/>
          <p:cNvSpPr/>
          <p:nvPr/>
        </p:nvSpPr>
        <p:spPr>
          <a:xfrm>
            <a:off x="17214125" y="5745648"/>
            <a:ext cx="9525" cy="2113360"/>
          </a:xfrm>
          <a:prstGeom prst="rect">
            <a:avLst/>
          </a:prstGeom>
          <a:solidFill>
            <a:srgbClr val="22344F"/>
          </a:solidFill>
          <a:ln/>
        </p:spPr>
        <p:txBody>
          <a:bodyPr/>
          <a:lstStyle/>
          <a:p>
            <a:endParaRPr/>
          </a:p>
        </p:txBody>
      </p:sp>
      <p:sp>
        <p:nvSpPr>
          <p:cNvPr id="45" name="Text 42"/>
          <p:cNvSpPr/>
          <p:nvPr/>
        </p:nvSpPr>
        <p:spPr>
          <a:xfrm>
            <a:off x="13589443" y="6059510"/>
            <a:ext cx="3672946"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EXTENSIBLE</a:t>
            </a:r>
            <a:endParaRPr lang="en-US" sz="1800" dirty="0"/>
          </a:p>
        </p:txBody>
      </p:sp>
      <p:sp>
        <p:nvSpPr>
          <p:cNvPr id="46" name="Text 43"/>
          <p:cNvSpPr/>
          <p:nvPr/>
        </p:nvSpPr>
        <p:spPr>
          <a:xfrm>
            <a:off x="13589443" y="6489128"/>
            <a:ext cx="3439213"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Scalable architecture, ready for authoritative data sources</a:t>
            </a:r>
            <a:endParaRPr lang="en-US" sz="2175" dirty="0"/>
          </a:p>
        </p:txBody>
      </p:sp>
      <p:sp>
        <p:nvSpPr>
          <p:cNvPr id="47" name="Shape 44"/>
          <p:cNvSpPr/>
          <p:nvPr/>
        </p:nvSpPr>
        <p:spPr>
          <a:xfrm>
            <a:off x="1066712" y="8087542"/>
            <a:ext cx="16154469" cy="9525"/>
          </a:xfrm>
          <a:prstGeom prst="rect">
            <a:avLst/>
          </a:prstGeom>
          <a:solidFill>
            <a:srgbClr val="1A2A42"/>
          </a:solidFill>
          <a:ln/>
        </p:spPr>
        <p:txBody>
          <a:bodyPr/>
          <a:lstStyle/>
          <a:p>
            <a:endParaRPr/>
          </a:p>
        </p:txBody>
      </p:sp>
      <p:sp>
        <p:nvSpPr>
          <p:cNvPr id="48" name="Text 45"/>
          <p:cNvSpPr/>
          <p:nvPr/>
        </p:nvSpPr>
        <p:spPr>
          <a:xfrm>
            <a:off x="1066712" y="8284987"/>
            <a:ext cx="8633347" cy="706614"/>
          </a:xfrm>
          <a:prstGeom prst="rect">
            <a:avLst/>
          </a:prstGeom>
          <a:noFill/>
          <a:ln/>
        </p:spPr>
        <p:txBody>
          <a:bodyPr wrap="square" lIns="25400" tIns="25400" rIns="25400" bIns="25400" rtlCol="0" anchor="t">
            <a:normAutofit/>
          </a:bodyPr>
          <a:lstStyle/>
          <a:p>
            <a:pPr marL="0" indent="0" algn="l">
              <a:lnSpc>
                <a:spcPct val="118462"/>
              </a:lnSpc>
              <a:buNone/>
            </a:pPr>
            <a:r>
              <a:rPr lang="en-US" sz="1950" dirty="0">
                <a:solidFill>
                  <a:srgbClr val="9AAABF"/>
                </a:solidFill>
                <a:latin typeface="Arial" pitchFamily="34" charset="0"/>
                <a:ea typeface="Arial" pitchFamily="34" charset="-122"/>
                <a:cs typeface="Arial" pitchFamily="34" charset="-120"/>
              </a:rPr>
              <a:t>NASA, ESA and commercial SDA providers already run sophisticated conjunction assessment. Our contribution is the integrated workflow.</a:t>
            </a:r>
            <a:endParaRPr lang="en-US" sz="1950" dirty="0"/>
          </a:p>
        </p:txBody>
      </p:sp>
      <p:sp>
        <p:nvSpPr>
          <p:cNvPr id="49" name="Text 46"/>
          <p:cNvSpPr/>
          <p:nvPr/>
        </p:nvSpPr>
        <p:spPr>
          <a:xfrm>
            <a:off x="10959594" y="8471078"/>
            <a:ext cx="6887744" cy="334433"/>
          </a:xfrm>
          <a:prstGeom prst="rect">
            <a:avLst/>
          </a:prstGeom>
          <a:noFill/>
          <a:ln/>
        </p:spPr>
        <p:txBody>
          <a:bodyPr wrap="none" lIns="25400" tIns="25400" rIns="25400" bIns="25400" rtlCol="0" anchor="t">
            <a:normAutofit/>
          </a:bodyPr>
          <a:lstStyle/>
          <a:p>
            <a:pPr marL="0" indent="0" algn="l">
              <a:buNone/>
            </a:pPr>
            <a:r>
              <a:rPr lang="en-US" sz="1800" dirty="0">
                <a:solidFill>
                  <a:srgbClr val="E6EDF5"/>
                </a:solidFill>
                <a:latin typeface="Courier New" pitchFamily="34" charset="0"/>
                <a:ea typeface="Courier New" pitchFamily="34" charset="-122"/>
                <a:cs typeface="Courier New" pitchFamily="34" charset="-120"/>
              </a:rPr>
              <a:t>EVIDENCE → PRIORITY → LOCAL AI → HUMAN → AUDIT</a:t>
            </a:r>
            <a:endParaRPr lang="en-US" sz="1800" dirty="0"/>
          </a:p>
        </p:txBody>
      </p:sp>
      <p:sp>
        <p:nvSpPr>
          <p:cNvPr id="50" name="Shape 47"/>
          <p:cNvSpPr/>
          <p:nvPr/>
        </p:nvSpPr>
        <p:spPr>
          <a:xfrm>
            <a:off x="1066712" y="9629181"/>
            <a:ext cx="190390" cy="28553"/>
          </a:xfrm>
          <a:prstGeom prst="rect">
            <a:avLst/>
          </a:prstGeom>
          <a:solidFill>
            <a:srgbClr val="FF9933"/>
          </a:solidFill>
          <a:ln/>
        </p:spPr>
        <p:txBody>
          <a:bodyPr/>
          <a:lstStyle/>
          <a:p>
            <a:endParaRPr/>
          </a:p>
        </p:txBody>
      </p:sp>
      <p:sp>
        <p:nvSpPr>
          <p:cNvPr id="51" name="Shape 48"/>
          <p:cNvSpPr/>
          <p:nvPr/>
        </p:nvSpPr>
        <p:spPr>
          <a:xfrm>
            <a:off x="1257102" y="9629181"/>
            <a:ext cx="190390" cy="28553"/>
          </a:xfrm>
          <a:prstGeom prst="rect">
            <a:avLst/>
          </a:prstGeom>
          <a:solidFill>
            <a:srgbClr val="F2F2F2"/>
          </a:solidFill>
          <a:ln/>
        </p:spPr>
        <p:txBody>
          <a:bodyPr/>
          <a:lstStyle/>
          <a:p>
            <a:endParaRPr/>
          </a:p>
        </p:txBody>
      </p:sp>
      <p:sp>
        <p:nvSpPr>
          <p:cNvPr id="52" name="Shape 49"/>
          <p:cNvSpPr/>
          <p:nvPr/>
        </p:nvSpPr>
        <p:spPr>
          <a:xfrm>
            <a:off x="1447491" y="9629181"/>
            <a:ext cx="190390" cy="28553"/>
          </a:xfrm>
          <a:prstGeom prst="rect">
            <a:avLst/>
          </a:prstGeom>
          <a:solidFill>
            <a:srgbClr val="1FA84A"/>
          </a:solidFill>
          <a:ln/>
        </p:spPr>
        <p:txBody>
          <a:bodyPr/>
          <a:lstStyle/>
          <a:p>
            <a:endParaRPr/>
          </a:p>
        </p:txBody>
      </p:sp>
      <p:sp>
        <p:nvSpPr>
          <p:cNvPr id="53" name="Text 50"/>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4" name="Text 51"/>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12 / 15</a:t>
            </a:r>
            <a:endParaRPr lang="en-US" sz="1800" dirty="0"/>
          </a:p>
        </p:txBody>
      </p:sp>
      <p:pic>
        <p:nvPicPr>
          <p:cNvPr id="55" name="Narration slide 12">
            <a:hlinkClick r:id="" action="ppaction://media"/>
            <a:extLst>
              <a:ext uri="{FF2B5EF4-FFF2-40B4-BE49-F238E27FC236}">
                <a16:creationId xmlns:a16="http://schemas.microsoft.com/office/drawing/2014/main" id="{81AAC5A6-4E52-E0ED-3D0C-D378794F266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04"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13</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502301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WHAT COULD THIS ENABLE?</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5CC8F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What could this enable?</a:t>
            </a:r>
            <a:endParaRPr lang="en-US" sz="5100" dirty="0"/>
          </a:p>
        </p:txBody>
      </p:sp>
      <p:sp>
        <p:nvSpPr>
          <p:cNvPr id="15" name="Shape 12"/>
          <p:cNvSpPr/>
          <p:nvPr/>
        </p:nvSpPr>
        <p:spPr>
          <a:xfrm>
            <a:off x="1066712" y="2624116"/>
            <a:ext cx="57106" cy="361928"/>
          </a:xfrm>
          <a:prstGeom prst="rect">
            <a:avLst/>
          </a:prstGeom>
          <a:solidFill>
            <a:srgbClr val="FF9933"/>
          </a:solidFill>
          <a:ln/>
        </p:spPr>
        <p:txBody>
          <a:bodyPr/>
          <a:lstStyle/>
          <a:p>
            <a:endParaRPr/>
          </a:p>
        </p:txBody>
      </p:sp>
      <p:sp>
        <p:nvSpPr>
          <p:cNvPr id="16" name="Shape 13"/>
          <p:cNvSpPr/>
          <p:nvPr/>
        </p:nvSpPr>
        <p:spPr>
          <a:xfrm>
            <a:off x="1066712" y="2986044"/>
            <a:ext cx="57106" cy="361928"/>
          </a:xfrm>
          <a:prstGeom prst="rect">
            <a:avLst/>
          </a:prstGeom>
          <a:solidFill>
            <a:srgbClr val="F2F2F2"/>
          </a:solidFill>
          <a:ln/>
        </p:spPr>
        <p:txBody>
          <a:bodyPr/>
          <a:lstStyle/>
          <a:p>
            <a:endParaRPr/>
          </a:p>
        </p:txBody>
      </p:sp>
      <p:sp>
        <p:nvSpPr>
          <p:cNvPr id="17" name="Shape 14"/>
          <p:cNvSpPr/>
          <p:nvPr/>
        </p:nvSpPr>
        <p:spPr>
          <a:xfrm>
            <a:off x="1066712" y="3347972"/>
            <a:ext cx="57106" cy="361928"/>
          </a:xfrm>
          <a:prstGeom prst="rect">
            <a:avLst/>
          </a:prstGeom>
          <a:solidFill>
            <a:srgbClr val="1FA84A"/>
          </a:solidFill>
          <a:ln/>
        </p:spPr>
        <p:txBody>
          <a:bodyPr/>
          <a:lstStyle/>
          <a:p>
            <a:endParaRPr/>
          </a:p>
        </p:txBody>
      </p:sp>
      <p:sp>
        <p:nvSpPr>
          <p:cNvPr id="18" name="Text 15"/>
          <p:cNvSpPr/>
          <p:nvPr/>
        </p:nvSpPr>
        <p:spPr>
          <a:xfrm>
            <a:off x="1390496" y="2528976"/>
            <a:ext cx="15304659" cy="1471370"/>
          </a:xfrm>
          <a:prstGeom prst="rect">
            <a:avLst/>
          </a:prstGeom>
          <a:noFill/>
          <a:ln/>
        </p:spPr>
        <p:txBody>
          <a:bodyPr wrap="square" lIns="25400" tIns="25400" rIns="25400" bIns="25400" rtlCol="0" anchor="t">
            <a:normAutofit/>
          </a:bodyPr>
          <a:lstStyle/>
          <a:p>
            <a:pPr marL="0" indent="0" algn="l">
              <a:lnSpc>
                <a:spcPct val="119764"/>
              </a:lnSpc>
              <a:buNone/>
            </a:pPr>
            <a:r>
              <a:rPr lang="en-US" sz="2700" dirty="0">
                <a:solidFill>
                  <a:srgbClr val="E6EDF5"/>
                </a:solidFill>
                <a:latin typeface="Arial" pitchFamily="34" charset="0"/>
                <a:ea typeface="Arial" pitchFamily="34" charset="-122"/>
                <a:cs typeface="Arial" pitchFamily="34" charset="-120"/>
              </a:rPr>
              <a:t>Potential future value, </a:t>
            </a:r>
            <a:r>
              <a:rPr lang="en-US" sz="2700" dirty="0">
                <a:solidFill>
                  <a:srgbClr val="5CC8F0"/>
                </a:solidFill>
                <a:latin typeface="Arial" pitchFamily="34" charset="0"/>
                <a:ea typeface="Arial" pitchFamily="34" charset="-122"/>
                <a:cs typeface="Arial" pitchFamily="34" charset="-120"/>
              </a:rPr>
              <a:t>not implemented capability</a:t>
            </a:r>
            <a:r>
              <a:rPr lang="en-US" sz="2700" dirty="0">
                <a:solidFill>
                  <a:srgbClr val="E6EDF5"/>
                </a:solidFill>
                <a:latin typeface="Arial" pitchFamily="34" charset="0"/>
                <a:ea typeface="Arial" pitchFamily="34" charset="-122"/>
                <a:cs typeface="Arial" pitchFamily="34" charset="-120"/>
              </a:rPr>
              <a:t>: what an explainable, human-gated decision-support layer could enable as orbital activity grows.</a:t>
            </a:r>
            <a:endParaRPr lang="en-US" sz="2700" dirty="0"/>
          </a:p>
        </p:txBody>
      </p:sp>
      <p:sp>
        <p:nvSpPr>
          <p:cNvPr id="19" name="Shape 16"/>
          <p:cNvSpPr/>
          <p:nvPr/>
        </p:nvSpPr>
        <p:spPr>
          <a:xfrm>
            <a:off x="1066712" y="5745648"/>
            <a:ext cx="3924323" cy="2113360"/>
          </a:xfrm>
          <a:prstGeom prst="rect">
            <a:avLst/>
          </a:prstGeom>
          <a:solidFill>
            <a:srgbClr val="091221">
              <a:alpha val="85000"/>
            </a:srgbClr>
          </a:solidFill>
          <a:ln/>
        </p:spPr>
        <p:txBody>
          <a:bodyPr/>
          <a:lstStyle/>
          <a:p>
            <a:endParaRPr/>
          </a:p>
        </p:txBody>
      </p:sp>
      <p:sp>
        <p:nvSpPr>
          <p:cNvPr id="20" name="Shape 17"/>
          <p:cNvSpPr/>
          <p:nvPr/>
        </p:nvSpPr>
        <p:spPr>
          <a:xfrm>
            <a:off x="1066712" y="7851952"/>
            <a:ext cx="3924323" cy="9525"/>
          </a:xfrm>
          <a:prstGeom prst="rect">
            <a:avLst/>
          </a:prstGeom>
          <a:solidFill>
            <a:srgbClr val="22344F"/>
          </a:solidFill>
          <a:ln/>
        </p:spPr>
        <p:txBody>
          <a:bodyPr/>
          <a:lstStyle/>
          <a:p>
            <a:endParaRPr/>
          </a:p>
        </p:txBody>
      </p:sp>
      <p:sp>
        <p:nvSpPr>
          <p:cNvPr id="21" name="Shape 18"/>
          <p:cNvSpPr/>
          <p:nvPr/>
        </p:nvSpPr>
        <p:spPr>
          <a:xfrm>
            <a:off x="1066712" y="5745648"/>
            <a:ext cx="3924323" cy="28222"/>
          </a:xfrm>
          <a:prstGeom prst="rect">
            <a:avLst/>
          </a:prstGeom>
          <a:solidFill>
            <a:srgbClr val="5CC8F0"/>
          </a:solidFill>
          <a:ln/>
        </p:spPr>
        <p:txBody>
          <a:bodyPr/>
          <a:lstStyle/>
          <a:p>
            <a:endParaRPr/>
          </a:p>
        </p:txBody>
      </p:sp>
      <p:sp>
        <p:nvSpPr>
          <p:cNvPr id="22" name="Shape 19"/>
          <p:cNvSpPr/>
          <p:nvPr/>
        </p:nvSpPr>
        <p:spPr>
          <a:xfrm>
            <a:off x="1066712" y="5745648"/>
            <a:ext cx="9525" cy="2113360"/>
          </a:xfrm>
          <a:prstGeom prst="rect">
            <a:avLst/>
          </a:prstGeom>
          <a:solidFill>
            <a:srgbClr val="22344F"/>
          </a:solidFill>
          <a:ln/>
        </p:spPr>
        <p:txBody>
          <a:bodyPr/>
          <a:lstStyle/>
          <a:p>
            <a:endParaRPr/>
          </a:p>
        </p:txBody>
      </p:sp>
      <p:sp>
        <p:nvSpPr>
          <p:cNvPr id="23" name="Shape 20"/>
          <p:cNvSpPr/>
          <p:nvPr/>
        </p:nvSpPr>
        <p:spPr>
          <a:xfrm>
            <a:off x="4983979" y="5745648"/>
            <a:ext cx="9525" cy="2113360"/>
          </a:xfrm>
          <a:prstGeom prst="rect">
            <a:avLst/>
          </a:prstGeom>
          <a:solidFill>
            <a:srgbClr val="22344F"/>
          </a:solidFill>
          <a:ln/>
        </p:spPr>
        <p:txBody>
          <a:bodyPr/>
          <a:lstStyle/>
          <a:p>
            <a:endParaRPr/>
          </a:p>
        </p:txBody>
      </p:sp>
      <p:sp>
        <p:nvSpPr>
          <p:cNvPr id="24" name="Text 21"/>
          <p:cNvSpPr/>
          <p:nvPr/>
        </p:nvSpPr>
        <p:spPr>
          <a:xfrm>
            <a:off x="1359407"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01 · PRIORITISE</a:t>
            </a:r>
            <a:endParaRPr lang="en-US" sz="1800" dirty="0"/>
          </a:p>
        </p:txBody>
      </p:sp>
      <p:sp>
        <p:nvSpPr>
          <p:cNvPr id="25" name="Text 22"/>
          <p:cNvSpPr/>
          <p:nvPr/>
        </p:nvSpPr>
        <p:spPr>
          <a:xfrm>
            <a:off x="1359407" y="6489128"/>
            <a:ext cx="3439100" cy="756223"/>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Focus analyst attention on the most important conjunctions</a:t>
            </a:r>
            <a:endParaRPr lang="en-US" sz="2175" dirty="0"/>
          </a:p>
        </p:txBody>
      </p:sp>
      <p:sp>
        <p:nvSpPr>
          <p:cNvPr id="26" name="Shape 23"/>
          <p:cNvSpPr/>
          <p:nvPr/>
        </p:nvSpPr>
        <p:spPr>
          <a:xfrm>
            <a:off x="5143391" y="5745648"/>
            <a:ext cx="3924323" cy="2113360"/>
          </a:xfrm>
          <a:prstGeom prst="rect">
            <a:avLst/>
          </a:prstGeom>
          <a:solidFill>
            <a:srgbClr val="091221">
              <a:alpha val="85000"/>
            </a:srgbClr>
          </a:solidFill>
          <a:ln/>
        </p:spPr>
        <p:txBody>
          <a:bodyPr/>
          <a:lstStyle/>
          <a:p>
            <a:endParaRPr/>
          </a:p>
        </p:txBody>
      </p:sp>
      <p:sp>
        <p:nvSpPr>
          <p:cNvPr id="27" name="Shape 24"/>
          <p:cNvSpPr/>
          <p:nvPr/>
        </p:nvSpPr>
        <p:spPr>
          <a:xfrm>
            <a:off x="5143391" y="7851952"/>
            <a:ext cx="3924323" cy="9525"/>
          </a:xfrm>
          <a:prstGeom prst="rect">
            <a:avLst/>
          </a:prstGeom>
          <a:solidFill>
            <a:srgbClr val="22344F"/>
          </a:solidFill>
          <a:ln/>
        </p:spPr>
        <p:txBody>
          <a:bodyPr/>
          <a:lstStyle/>
          <a:p>
            <a:endParaRPr/>
          </a:p>
        </p:txBody>
      </p:sp>
      <p:sp>
        <p:nvSpPr>
          <p:cNvPr id="28" name="Shape 25"/>
          <p:cNvSpPr/>
          <p:nvPr/>
        </p:nvSpPr>
        <p:spPr>
          <a:xfrm>
            <a:off x="5143391" y="5745648"/>
            <a:ext cx="3924323" cy="28222"/>
          </a:xfrm>
          <a:prstGeom prst="rect">
            <a:avLst/>
          </a:prstGeom>
          <a:solidFill>
            <a:srgbClr val="5CC8F0"/>
          </a:solidFill>
          <a:ln/>
        </p:spPr>
        <p:txBody>
          <a:bodyPr/>
          <a:lstStyle/>
          <a:p>
            <a:endParaRPr/>
          </a:p>
        </p:txBody>
      </p:sp>
      <p:sp>
        <p:nvSpPr>
          <p:cNvPr id="29" name="Shape 26"/>
          <p:cNvSpPr/>
          <p:nvPr/>
        </p:nvSpPr>
        <p:spPr>
          <a:xfrm>
            <a:off x="5143391" y="5745648"/>
            <a:ext cx="9525" cy="2113360"/>
          </a:xfrm>
          <a:prstGeom prst="rect">
            <a:avLst/>
          </a:prstGeom>
          <a:solidFill>
            <a:srgbClr val="22344F"/>
          </a:solidFill>
          <a:ln/>
        </p:spPr>
        <p:txBody>
          <a:bodyPr/>
          <a:lstStyle/>
          <a:p>
            <a:endParaRPr/>
          </a:p>
        </p:txBody>
      </p:sp>
      <p:sp>
        <p:nvSpPr>
          <p:cNvPr id="30" name="Shape 27"/>
          <p:cNvSpPr/>
          <p:nvPr/>
        </p:nvSpPr>
        <p:spPr>
          <a:xfrm>
            <a:off x="9060658" y="5745648"/>
            <a:ext cx="9525" cy="2113360"/>
          </a:xfrm>
          <a:prstGeom prst="rect">
            <a:avLst/>
          </a:prstGeom>
          <a:solidFill>
            <a:srgbClr val="22344F"/>
          </a:solidFill>
          <a:ln/>
        </p:spPr>
        <p:txBody>
          <a:bodyPr/>
          <a:lstStyle/>
          <a:p>
            <a:endParaRPr/>
          </a:p>
        </p:txBody>
      </p:sp>
      <p:sp>
        <p:nvSpPr>
          <p:cNvPr id="31" name="Text 28"/>
          <p:cNvSpPr/>
          <p:nvPr/>
        </p:nvSpPr>
        <p:spPr>
          <a:xfrm>
            <a:off x="5436086"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02 · EXPLAIN</a:t>
            </a:r>
            <a:endParaRPr lang="en-US" sz="1800" dirty="0"/>
          </a:p>
        </p:txBody>
      </p:sp>
      <p:sp>
        <p:nvSpPr>
          <p:cNvPr id="32" name="Text 29"/>
          <p:cNvSpPr/>
          <p:nvPr/>
        </p:nvSpPr>
        <p:spPr>
          <a:xfrm>
            <a:off x="5436086" y="6489128"/>
            <a:ext cx="3439100"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Turn complex orbital evidence into concise, traceable assessments</a:t>
            </a:r>
            <a:endParaRPr lang="en-US" sz="2175" dirty="0"/>
          </a:p>
        </p:txBody>
      </p:sp>
      <p:sp>
        <p:nvSpPr>
          <p:cNvPr id="33" name="Shape 30"/>
          <p:cNvSpPr/>
          <p:nvPr/>
        </p:nvSpPr>
        <p:spPr>
          <a:xfrm>
            <a:off x="9220069" y="5745648"/>
            <a:ext cx="3924323" cy="2113360"/>
          </a:xfrm>
          <a:prstGeom prst="rect">
            <a:avLst/>
          </a:prstGeom>
          <a:solidFill>
            <a:srgbClr val="091221">
              <a:alpha val="85000"/>
            </a:srgbClr>
          </a:solidFill>
          <a:ln/>
        </p:spPr>
        <p:txBody>
          <a:bodyPr/>
          <a:lstStyle/>
          <a:p>
            <a:endParaRPr/>
          </a:p>
        </p:txBody>
      </p:sp>
      <p:sp>
        <p:nvSpPr>
          <p:cNvPr id="34" name="Shape 31"/>
          <p:cNvSpPr/>
          <p:nvPr/>
        </p:nvSpPr>
        <p:spPr>
          <a:xfrm>
            <a:off x="9220069" y="7851952"/>
            <a:ext cx="3924323" cy="9525"/>
          </a:xfrm>
          <a:prstGeom prst="rect">
            <a:avLst/>
          </a:prstGeom>
          <a:solidFill>
            <a:srgbClr val="22344F"/>
          </a:solidFill>
          <a:ln/>
        </p:spPr>
        <p:txBody>
          <a:bodyPr/>
          <a:lstStyle/>
          <a:p>
            <a:endParaRPr/>
          </a:p>
        </p:txBody>
      </p:sp>
      <p:sp>
        <p:nvSpPr>
          <p:cNvPr id="35" name="Shape 32"/>
          <p:cNvSpPr/>
          <p:nvPr/>
        </p:nvSpPr>
        <p:spPr>
          <a:xfrm>
            <a:off x="9220069" y="5745648"/>
            <a:ext cx="3924323" cy="28222"/>
          </a:xfrm>
          <a:prstGeom prst="rect">
            <a:avLst/>
          </a:prstGeom>
          <a:solidFill>
            <a:srgbClr val="5CC8F0"/>
          </a:solidFill>
          <a:ln/>
        </p:spPr>
        <p:txBody>
          <a:bodyPr/>
          <a:lstStyle/>
          <a:p>
            <a:endParaRPr/>
          </a:p>
        </p:txBody>
      </p:sp>
      <p:sp>
        <p:nvSpPr>
          <p:cNvPr id="36" name="Shape 33"/>
          <p:cNvSpPr/>
          <p:nvPr/>
        </p:nvSpPr>
        <p:spPr>
          <a:xfrm>
            <a:off x="9220069" y="5745648"/>
            <a:ext cx="9525" cy="2113360"/>
          </a:xfrm>
          <a:prstGeom prst="rect">
            <a:avLst/>
          </a:prstGeom>
          <a:solidFill>
            <a:srgbClr val="22344F"/>
          </a:solidFill>
          <a:ln/>
        </p:spPr>
        <p:txBody>
          <a:bodyPr/>
          <a:lstStyle/>
          <a:p>
            <a:endParaRPr/>
          </a:p>
        </p:txBody>
      </p:sp>
      <p:sp>
        <p:nvSpPr>
          <p:cNvPr id="37" name="Shape 34"/>
          <p:cNvSpPr/>
          <p:nvPr/>
        </p:nvSpPr>
        <p:spPr>
          <a:xfrm>
            <a:off x="13137336" y="5745648"/>
            <a:ext cx="9525" cy="2113360"/>
          </a:xfrm>
          <a:prstGeom prst="rect">
            <a:avLst/>
          </a:prstGeom>
          <a:solidFill>
            <a:srgbClr val="22344F"/>
          </a:solidFill>
          <a:ln/>
        </p:spPr>
        <p:txBody>
          <a:bodyPr/>
          <a:lstStyle/>
          <a:p>
            <a:endParaRPr/>
          </a:p>
        </p:txBody>
      </p:sp>
      <p:sp>
        <p:nvSpPr>
          <p:cNvPr id="38" name="Text 35"/>
          <p:cNvSpPr/>
          <p:nvPr/>
        </p:nvSpPr>
        <p:spPr>
          <a:xfrm>
            <a:off x="9512764" y="6059510"/>
            <a:ext cx="3672825"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03 · SCALE</a:t>
            </a:r>
            <a:endParaRPr lang="en-US" sz="1800" dirty="0"/>
          </a:p>
        </p:txBody>
      </p:sp>
      <p:sp>
        <p:nvSpPr>
          <p:cNvPr id="39" name="Text 36"/>
          <p:cNvSpPr/>
          <p:nvPr/>
        </p:nvSpPr>
        <p:spPr>
          <a:xfrm>
            <a:off x="9512764" y="6489128"/>
            <a:ext cx="3439100"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Support analysts as object populations and event volumes grow</a:t>
            </a:r>
            <a:endParaRPr lang="en-US" sz="2175" dirty="0"/>
          </a:p>
        </p:txBody>
      </p:sp>
      <p:sp>
        <p:nvSpPr>
          <p:cNvPr id="40" name="Shape 37"/>
          <p:cNvSpPr/>
          <p:nvPr/>
        </p:nvSpPr>
        <p:spPr>
          <a:xfrm>
            <a:off x="13296748" y="5745648"/>
            <a:ext cx="3924433" cy="2113360"/>
          </a:xfrm>
          <a:prstGeom prst="rect">
            <a:avLst/>
          </a:prstGeom>
          <a:solidFill>
            <a:srgbClr val="091221">
              <a:alpha val="85000"/>
            </a:srgbClr>
          </a:solidFill>
          <a:ln/>
        </p:spPr>
        <p:txBody>
          <a:bodyPr/>
          <a:lstStyle/>
          <a:p>
            <a:endParaRPr/>
          </a:p>
        </p:txBody>
      </p:sp>
      <p:sp>
        <p:nvSpPr>
          <p:cNvPr id="41" name="Shape 38"/>
          <p:cNvSpPr/>
          <p:nvPr/>
        </p:nvSpPr>
        <p:spPr>
          <a:xfrm>
            <a:off x="13296748" y="7851952"/>
            <a:ext cx="3924433" cy="9525"/>
          </a:xfrm>
          <a:prstGeom prst="rect">
            <a:avLst/>
          </a:prstGeom>
          <a:solidFill>
            <a:srgbClr val="22344F"/>
          </a:solidFill>
          <a:ln/>
        </p:spPr>
        <p:txBody>
          <a:bodyPr/>
          <a:lstStyle/>
          <a:p>
            <a:endParaRPr/>
          </a:p>
        </p:txBody>
      </p:sp>
      <p:sp>
        <p:nvSpPr>
          <p:cNvPr id="42" name="Shape 39"/>
          <p:cNvSpPr/>
          <p:nvPr/>
        </p:nvSpPr>
        <p:spPr>
          <a:xfrm>
            <a:off x="13296748" y="5745648"/>
            <a:ext cx="3924433" cy="28222"/>
          </a:xfrm>
          <a:prstGeom prst="rect">
            <a:avLst/>
          </a:prstGeom>
          <a:solidFill>
            <a:srgbClr val="5CC8F0"/>
          </a:solidFill>
          <a:ln/>
        </p:spPr>
        <p:txBody>
          <a:bodyPr/>
          <a:lstStyle/>
          <a:p>
            <a:endParaRPr/>
          </a:p>
        </p:txBody>
      </p:sp>
      <p:sp>
        <p:nvSpPr>
          <p:cNvPr id="43" name="Shape 40"/>
          <p:cNvSpPr/>
          <p:nvPr/>
        </p:nvSpPr>
        <p:spPr>
          <a:xfrm>
            <a:off x="13296748" y="5745648"/>
            <a:ext cx="9525" cy="2113360"/>
          </a:xfrm>
          <a:prstGeom prst="rect">
            <a:avLst/>
          </a:prstGeom>
          <a:solidFill>
            <a:srgbClr val="22344F"/>
          </a:solidFill>
          <a:ln/>
        </p:spPr>
        <p:txBody>
          <a:bodyPr/>
          <a:lstStyle/>
          <a:p>
            <a:endParaRPr/>
          </a:p>
        </p:txBody>
      </p:sp>
      <p:sp>
        <p:nvSpPr>
          <p:cNvPr id="44" name="Shape 41"/>
          <p:cNvSpPr/>
          <p:nvPr/>
        </p:nvSpPr>
        <p:spPr>
          <a:xfrm>
            <a:off x="17214125" y="5745648"/>
            <a:ext cx="9525" cy="2113360"/>
          </a:xfrm>
          <a:prstGeom prst="rect">
            <a:avLst/>
          </a:prstGeom>
          <a:solidFill>
            <a:srgbClr val="22344F"/>
          </a:solidFill>
          <a:ln/>
        </p:spPr>
        <p:txBody>
          <a:bodyPr/>
          <a:lstStyle/>
          <a:p>
            <a:endParaRPr/>
          </a:p>
        </p:txBody>
      </p:sp>
      <p:sp>
        <p:nvSpPr>
          <p:cNvPr id="45" name="Text 42"/>
          <p:cNvSpPr/>
          <p:nvPr/>
        </p:nvSpPr>
        <p:spPr>
          <a:xfrm>
            <a:off x="13589443" y="6059510"/>
            <a:ext cx="3672946" cy="334433"/>
          </a:xfrm>
          <a:prstGeom prst="rect">
            <a:avLst/>
          </a:prstGeom>
          <a:noFill/>
          <a:ln/>
        </p:spPr>
        <p:txBody>
          <a:bodyPr wrap="square" lIns="25400" tIns="25400" rIns="25400" bIns="25400" rtlCol="0" anchor="t">
            <a:normAutofit/>
          </a:bodyPr>
          <a:lstStyle/>
          <a:p>
            <a:pPr marL="0" indent="0" algn="l">
              <a:buNone/>
            </a:pPr>
            <a:r>
              <a:rPr lang="en-US" sz="1800" dirty="0">
                <a:solidFill>
                  <a:srgbClr val="5CC8F0"/>
                </a:solidFill>
                <a:latin typeface="Courier New" pitchFamily="34" charset="0"/>
                <a:ea typeface="Courier New" pitchFamily="34" charset="-122"/>
                <a:cs typeface="Courier New" pitchFamily="34" charset="-120"/>
              </a:rPr>
              <a:t>04 · GOVERN</a:t>
            </a:r>
            <a:endParaRPr lang="en-US" sz="1800" dirty="0"/>
          </a:p>
        </p:txBody>
      </p:sp>
      <p:sp>
        <p:nvSpPr>
          <p:cNvPr id="46" name="Text 43"/>
          <p:cNvSpPr/>
          <p:nvPr/>
        </p:nvSpPr>
        <p:spPr>
          <a:xfrm>
            <a:off x="13589443" y="6489128"/>
            <a:ext cx="3439213" cy="1115285"/>
          </a:xfrm>
          <a:prstGeom prst="rect">
            <a:avLst/>
          </a:prstGeom>
          <a:noFill/>
          <a:ln/>
        </p:spPr>
        <p:txBody>
          <a:bodyPr wrap="square" lIns="25400" tIns="25400" rIns="25400" bIns="25400" rtlCol="0" anchor="t">
            <a:normAutofit/>
          </a:bodyPr>
          <a:lstStyle/>
          <a:p>
            <a:pPr marL="0" indent="0" algn="l">
              <a:lnSpc>
                <a:spcPct val="115670"/>
              </a:lnSpc>
              <a:buNone/>
            </a:pPr>
            <a:r>
              <a:rPr lang="en-US" sz="2175" dirty="0">
                <a:solidFill>
                  <a:srgbClr val="E6EDF5"/>
                </a:solidFill>
                <a:latin typeface="Arial" pitchFamily="34" charset="0"/>
                <a:ea typeface="Arial" pitchFamily="34" charset="-122"/>
                <a:cs typeface="Arial" pitchFamily="34" charset="-120"/>
              </a:rPr>
              <a:t>Keep AI bounded by deterministic evidence and human approval</a:t>
            </a:r>
            <a:endParaRPr lang="en-US" sz="2175" dirty="0"/>
          </a:p>
        </p:txBody>
      </p:sp>
      <p:sp>
        <p:nvSpPr>
          <p:cNvPr id="47" name="Shape 44"/>
          <p:cNvSpPr/>
          <p:nvPr/>
        </p:nvSpPr>
        <p:spPr>
          <a:xfrm>
            <a:off x="1066712" y="8087542"/>
            <a:ext cx="16154469" cy="9525"/>
          </a:xfrm>
          <a:prstGeom prst="rect">
            <a:avLst/>
          </a:prstGeom>
          <a:solidFill>
            <a:srgbClr val="1A2A42"/>
          </a:solidFill>
          <a:ln/>
        </p:spPr>
        <p:txBody>
          <a:bodyPr/>
          <a:lstStyle/>
          <a:p>
            <a:endParaRPr/>
          </a:p>
        </p:txBody>
      </p:sp>
      <p:sp>
        <p:nvSpPr>
          <p:cNvPr id="48" name="Text 45"/>
          <p:cNvSpPr/>
          <p:nvPr/>
        </p:nvSpPr>
        <p:spPr>
          <a:xfrm>
            <a:off x="1066712" y="8284987"/>
            <a:ext cx="8633347" cy="706614"/>
          </a:xfrm>
          <a:prstGeom prst="rect">
            <a:avLst/>
          </a:prstGeom>
          <a:noFill/>
          <a:ln/>
        </p:spPr>
        <p:txBody>
          <a:bodyPr wrap="square" lIns="25400" tIns="25400" rIns="25400" bIns="25400" rtlCol="0" anchor="t">
            <a:normAutofit/>
          </a:bodyPr>
          <a:lstStyle/>
          <a:p>
            <a:pPr marL="0" indent="0" algn="l">
              <a:lnSpc>
                <a:spcPct val="118462"/>
              </a:lnSpc>
              <a:buNone/>
            </a:pPr>
            <a:r>
              <a:rPr lang="en-US" sz="1950" dirty="0">
                <a:solidFill>
                  <a:srgbClr val="5CC8F0"/>
                </a:solidFill>
                <a:latin typeface="Arial" pitchFamily="34" charset="0"/>
                <a:ea typeface="Arial" pitchFamily="34" charset="-122"/>
                <a:cs typeface="Arial" pitchFamily="34" charset="-120"/>
              </a:rPr>
              <a:t>Future foundation: </a:t>
            </a:r>
            <a:r>
              <a:rPr lang="en-US" sz="1950" dirty="0">
                <a:solidFill>
                  <a:srgbClr val="9AAABF"/>
                </a:solidFill>
                <a:latin typeface="Arial" pitchFamily="34" charset="0"/>
                <a:ea typeface="Arial" pitchFamily="34" charset="-122"/>
                <a:cs typeface="Arial" pitchFamily="34" charset="-120"/>
              </a:rPr>
              <a:t>authoritative ephemerides + covariance / CDM integration + institutional analyst workflows.</a:t>
            </a:r>
            <a:endParaRPr lang="en-US" sz="1950" dirty="0"/>
          </a:p>
        </p:txBody>
      </p:sp>
      <p:sp>
        <p:nvSpPr>
          <p:cNvPr id="49" name="Text 46"/>
          <p:cNvSpPr/>
          <p:nvPr/>
        </p:nvSpPr>
        <p:spPr>
          <a:xfrm>
            <a:off x="10959594" y="8471078"/>
            <a:ext cx="6887744" cy="334433"/>
          </a:xfrm>
          <a:prstGeom prst="rect">
            <a:avLst/>
          </a:prstGeom>
          <a:noFill/>
          <a:ln/>
        </p:spPr>
        <p:txBody>
          <a:bodyPr wrap="none" lIns="25400" tIns="25400" rIns="25400" bIns="25400" rtlCol="0" anchor="t">
            <a:normAutofit/>
          </a:bodyPr>
          <a:lstStyle/>
          <a:p>
            <a:pPr marL="0" indent="0" algn="l">
              <a:buNone/>
            </a:pPr>
            <a:r>
              <a:rPr lang="en-US" sz="1800" dirty="0">
                <a:solidFill>
                  <a:srgbClr val="E6EDF5"/>
                </a:solidFill>
                <a:latin typeface="Courier New" pitchFamily="34" charset="0"/>
                <a:ea typeface="Courier New" pitchFamily="34" charset="-122"/>
                <a:cs typeface="Courier New" pitchFamily="34" charset="-120"/>
              </a:rPr>
              <a:t>FUTURE FOUNDATION · POTENTIAL, NOT BUILT</a:t>
            </a:r>
            <a:endParaRPr lang="en-US" sz="1800" dirty="0"/>
          </a:p>
        </p:txBody>
      </p:sp>
      <p:sp>
        <p:nvSpPr>
          <p:cNvPr id="50" name="Shape 47"/>
          <p:cNvSpPr/>
          <p:nvPr/>
        </p:nvSpPr>
        <p:spPr>
          <a:xfrm>
            <a:off x="1066712" y="9629181"/>
            <a:ext cx="190390" cy="28553"/>
          </a:xfrm>
          <a:prstGeom prst="rect">
            <a:avLst/>
          </a:prstGeom>
          <a:solidFill>
            <a:srgbClr val="FF9933"/>
          </a:solidFill>
          <a:ln/>
        </p:spPr>
        <p:txBody>
          <a:bodyPr/>
          <a:lstStyle/>
          <a:p>
            <a:endParaRPr/>
          </a:p>
        </p:txBody>
      </p:sp>
      <p:sp>
        <p:nvSpPr>
          <p:cNvPr id="51" name="Shape 48"/>
          <p:cNvSpPr/>
          <p:nvPr/>
        </p:nvSpPr>
        <p:spPr>
          <a:xfrm>
            <a:off x="1257102" y="9629181"/>
            <a:ext cx="190390" cy="28553"/>
          </a:xfrm>
          <a:prstGeom prst="rect">
            <a:avLst/>
          </a:prstGeom>
          <a:solidFill>
            <a:srgbClr val="F2F2F2"/>
          </a:solidFill>
          <a:ln/>
        </p:spPr>
        <p:txBody>
          <a:bodyPr/>
          <a:lstStyle/>
          <a:p>
            <a:endParaRPr/>
          </a:p>
        </p:txBody>
      </p:sp>
      <p:sp>
        <p:nvSpPr>
          <p:cNvPr id="52" name="Shape 49"/>
          <p:cNvSpPr/>
          <p:nvPr/>
        </p:nvSpPr>
        <p:spPr>
          <a:xfrm>
            <a:off x="1447491" y="9629181"/>
            <a:ext cx="190390" cy="28553"/>
          </a:xfrm>
          <a:prstGeom prst="rect">
            <a:avLst/>
          </a:prstGeom>
          <a:solidFill>
            <a:srgbClr val="1FA84A"/>
          </a:solidFill>
          <a:ln/>
        </p:spPr>
        <p:txBody>
          <a:bodyPr/>
          <a:lstStyle/>
          <a:p>
            <a:endParaRPr/>
          </a:p>
        </p:txBody>
      </p:sp>
      <p:sp>
        <p:nvSpPr>
          <p:cNvPr id="53" name="Text 50"/>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54" name="Text 51"/>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13 / 15</a:t>
            </a:r>
            <a:endParaRPr lang="en-US" sz="1800" dirty="0"/>
          </a:p>
        </p:txBody>
      </p:sp>
      <p:pic>
        <p:nvPicPr>
          <p:cNvPr id="55" name="Narration slide 13">
            <a:hlinkClick r:id="" action="ppaction://media"/>
            <a:extLst>
              <a:ext uri="{FF2B5EF4-FFF2-40B4-BE49-F238E27FC236}">
                <a16:creationId xmlns:a16="http://schemas.microsoft.com/office/drawing/2014/main" id="{8AFE9D3C-F525-4D2B-4F2F-AA497AF6DD3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568"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Text 0"/>
          <p:cNvSpPr/>
          <p:nvPr/>
        </p:nvSpPr>
        <p:spPr>
          <a:xfrm>
            <a:off x="1066712" y="809405"/>
            <a:ext cx="414536"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E6EDF5"/>
                </a:solidFill>
                <a:latin typeface="Courier New" pitchFamily="34" charset="0"/>
                <a:ea typeface="Courier New" pitchFamily="34" charset="-122"/>
                <a:cs typeface="Courier New" pitchFamily="34" charset="-120"/>
              </a:rPr>
              <a:t>14</a:t>
            </a:r>
            <a:endParaRPr lang="en-US" sz="1800" dirty="0"/>
          </a:p>
        </p:txBody>
      </p:sp>
      <p:sp>
        <p:nvSpPr>
          <p:cNvPr id="4" name="Shape 1"/>
          <p:cNvSpPr/>
          <p:nvPr/>
        </p:nvSpPr>
        <p:spPr>
          <a:xfrm>
            <a:off x="1576476" y="952831"/>
            <a:ext cx="380890" cy="9525"/>
          </a:xfrm>
          <a:prstGeom prst="rect">
            <a:avLst/>
          </a:prstGeom>
          <a:solidFill>
            <a:srgbClr val="5CC8F0"/>
          </a:solidFill>
          <a:ln/>
        </p:spPr>
        <p:txBody>
          <a:bodyPr/>
          <a:lstStyle/>
          <a:p>
            <a:endParaRPr/>
          </a:p>
        </p:txBody>
      </p:sp>
      <p:sp>
        <p:nvSpPr>
          <p:cNvPr id="5" name="Text 2"/>
          <p:cNvSpPr/>
          <p:nvPr/>
        </p:nvSpPr>
        <p:spPr>
          <a:xfrm>
            <a:off x="2128794" y="809405"/>
            <a:ext cx="3906750" cy="334433"/>
          </a:xfrm>
          <a:prstGeom prst="rect">
            <a:avLst/>
          </a:prstGeom>
          <a:noFill/>
          <a:ln/>
        </p:spPr>
        <p:txBody>
          <a:bodyPr wrap="none" lIns="25400" tIns="25400" rIns="25400" bIns="25400" rtlCol="0" anchor="t">
            <a:normAutofit/>
          </a:bodyPr>
          <a:lstStyle/>
          <a:p>
            <a:pPr marL="0" indent="0" algn="l">
              <a:buNone/>
            </a:pPr>
            <a:r>
              <a:rPr lang="en-US" sz="1800" kern="0" spc="252" dirty="0">
                <a:solidFill>
                  <a:srgbClr val="5CC8F0"/>
                </a:solidFill>
                <a:latin typeface="Courier New" pitchFamily="34" charset="0"/>
                <a:ea typeface="Courier New" pitchFamily="34" charset="-122"/>
                <a:cs typeface="Courier New" pitchFamily="34" charset="-120"/>
              </a:rPr>
              <a:t>LIMITATIONS + PATHWAY</a:t>
            </a:r>
            <a:endParaRPr lang="en-US" sz="1800" dirty="0"/>
          </a:p>
        </p:txBody>
      </p:sp>
      <p:sp>
        <p:nvSpPr>
          <p:cNvPr id="6" name="Shape 3"/>
          <p:cNvSpPr/>
          <p:nvPr/>
        </p:nvSpPr>
        <p:spPr>
          <a:xfrm>
            <a:off x="9944586" y="685712"/>
            <a:ext cx="1676356" cy="28553"/>
          </a:xfrm>
          <a:prstGeom prst="rect">
            <a:avLst/>
          </a:prstGeom>
          <a:solidFill>
            <a:srgbClr val="1E3350"/>
          </a:solidFill>
          <a:ln/>
        </p:spPr>
        <p:txBody>
          <a:bodyPr/>
          <a:lstStyle/>
          <a:p>
            <a:endParaRPr/>
          </a:p>
        </p:txBody>
      </p:sp>
      <p:sp>
        <p:nvSpPr>
          <p:cNvPr id="7" name="Text 4"/>
          <p:cNvSpPr/>
          <p:nvPr/>
        </p:nvSpPr>
        <p:spPr>
          <a:xfrm>
            <a:off x="9944586"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PROBLEM</a:t>
            </a:r>
            <a:endParaRPr lang="en-US" sz="1800" dirty="0"/>
          </a:p>
        </p:txBody>
      </p:sp>
      <p:sp>
        <p:nvSpPr>
          <p:cNvPr id="8" name="Shape 5"/>
          <p:cNvSpPr/>
          <p:nvPr/>
        </p:nvSpPr>
        <p:spPr>
          <a:xfrm>
            <a:off x="11811333" y="685712"/>
            <a:ext cx="1676356" cy="28553"/>
          </a:xfrm>
          <a:prstGeom prst="rect">
            <a:avLst/>
          </a:prstGeom>
          <a:solidFill>
            <a:srgbClr val="1E3350"/>
          </a:solidFill>
          <a:ln/>
        </p:spPr>
        <p:txBody>
          <a:bodyPr/>
          <a:lstStyle/>
          <a:p>
            <a:endParaRPr/>
          </a:p>
        </p:txBody>
      </p:sp>
      <p:sp>
        <p:nvSpPr>
          <p:cNvPr id="9" name="Text 6"/>
          <p:cNvSpPr/>
          <p:nvPr/>
        </p:nvSpPr>
        <p:spPr>
          <a:xfrm>
            <a:off x="11811333"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SOLUTION</a:t>
            </a:r>
            <a:endParaRPr lang="en-US" sz="1800" dirty="0"/>
          </a:p>
        </p:txBody>
      </p:sp>
      <p:sp>
        <p:nvSpPr>
          <p:cNvPr id="10" name="Shape 7"/>
          <p:cNvSpPr/>
          <p:nvPr/>
        </p:nvSpPr>
        <p:spPr>
          <a:xfrm>
            <a:off x="13678078" y="685712"/>
            <a:ext cx="1676356" cy="28553"/>
          </a:xfrm>
          <a:prstGeom prst="rect">
            <a:avLst/>
          </a:prstGeom>
          <a:solidFill>
            <a:srgbClr val="1E3350"/>
          </a:solidFill>
          <a:ln/>
        </p:spPr>
        <p:txBody>
          <a:bodyPr/>
          <a:lstStyle/>
          <a:p>
            <a:endParaRPr/>
          </a:p>
        </p:txBody>
      </p:sp>
      <p:sp>
        <p:nvSpPr>
          <p:cNvPr id="11" name="Text 8"/>
          <p:cNvSpPr/>
          <p:nvPr/>
        </p:nvSpPr>
        <p:spPr>
          <a:xfrm>
            <a:off x="13678078"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PROTOTYPE</a:t>
            </a:r>
            <a:endParaRPr lang="en-US" sz="1800" dirty="0"/>
          </a:p>
        </p:txBody>
      </p:sp>
      <p:sp>
        <p:nvSpPr>
          <p:cNvPr id="12" name="Shape 9"/>
          <p:cNvSpPr/>
          <p:nvPr/>
        </p:nvSpPr>
        <p:spPr>
          <a:xfrm>
            <a:off x="15544824" y="685712"/>
            <a:ext cx="1676356" cy="28553"/>
          </a:xfrm>
          <a:prstGeom prst="rect">
            <a:avLst/>
          </a:prstGeom>
          <a:solidFill>
            <a:srgbClr val="5CC8F0"/>
          </a:solidFill>
          <a:ln/>
        </p:spPr>
        <p:txBody>
          <a:bodyPr/>
          <a:lstStyle/>
          <a:p>
            <a:endParaRPr/>
          </a:p>
        </p:txBody>
      </p:sp>
      <p:sp>
        <p:nvSpPr>
          <p:cNvPr id="13" name="Text 10"/>
          <p:cNvSpPr/>
          <p:nvPr/>
        </p:nvSpPr>
        <p:spPr>
          <a:xfrm>
            <a:off x="15544824" y="809405"/>
            <a:ext cx="1843992" cy="334433"/>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E6EDF5"/>
                </a:solidFill>
                <a:latin typeface="Courier New" pitchFamily="34" charset="0"/>
                <a:ea typeface="Courier New" pitchFamily="34" charset="-122"/>
                <a:cs typeface="Courier New" pitchFamily="34" charset="-120"/>
              </a:rPr>
              <a:t>VALUE</a:t>
            </a:r>
            <a:endParaRPr lang="en-US" sz="1800" dirty="0"/>
          </a:p>
        </p:txBody>
      </p:sp>
      <p:sp>
        <p:nvSpPr>
          <p:cNvPr id="14" name="Text 11"/>
          <p:cNvSpPr/>
          <p:nvPr/>
        </p:nvSpPr>
        <p:spPr>
          <a:xfrm>
            <a:off x="1066712" y="1486628"/>
            <a:ext cx="17769915" cy="737592"/>
          </a:xfrm>
          <a:prstGeom prst="rect">
            <a:avLst/>
          </a:prstGeom>
          <a:noFill/>
          <a:ln/>
        </p:spPr>
        <p:txBody>
          <a:bodyPr wrap="square" lIns="25400" tIns="25400" rIns="25400" bIns="25400" rtlCol="0" anchor="t">
            <a:normAutofit/>
          </a:bodyPr>
          <a:lstStyle/>
          <a:p>
            <a:pPr marL="0" indent="0" algn="l">
              <a:lnSpc>
                <a:spcPct val="94423"/>
              </a:lnSpc>
              <a:buNone/>
            </a:pPr>
            <a:r>
              <a:rPr lang="en-US" sz="5100" b="1" kern="0" spc="-76" dirty="0">
                <a:solidFill>
                  <a:srgbClr val="E6EDF5"/>
                </a:solidFill>
                <a:latin typeface="Arial" pitchFamily="34" charset="0"/>
                <a:ea typeface="Arial" pitchFamily="34" charset="-122"/>
                <a:cs typeface="Arial" pitchFamily="34" charset="-120"/>
              </a:rPr>
              <a:t>What are the limits, and what comes next?</a:t>
            </a:r>
            <a:endParaRPr lang="en-US" sz="5100" dirty="0"/>
          </a:p>
        </p:txBody>
      </p:sp>
      <p:sp>
        <p:nvSpPr>
          <p:cNvPr id="15" name="Shape 12"/>
          <p:cNvSpPr/>
          <p:nvPr/>
        </p:nvSpPr>
        <p:spPr>
          <a:xfrm>
            <a:off x="1180924" y="2824207"/>
            <a:ext cx="16040257" cy="18962"/>
          </a:xfrm>
          <a:prstGeom prst="rect">
            <a:avLst/>
          </a:prstGeom>
          <a:gradFill rotWithShape="1">
            <a:gsLst>
              <a:gs pos="0">
                <a:srgbClr val="5CC8F0">
                  <a:alpha val="100000"/>
                </a:srgbClr>
              </a:gs>
              <a:gs pos="50000">
                <a:srgbClr val="2A5C78">
                  <a:alpha val="100000"/>
                </a:srgbClr>
              </a:gs>
              <a:gs pos="100000">
                <a:srgbClr val="1A2A42">
                  <a:alpha val="100000"/>
                </a:srgbClr>
              </a:gs>
            </a:gsLst>
            <a:lin ang="0" scaled="0"/>
          </a:gradFill>
          <a:ln/>
        </p:spPr>
        <p:txBody>
          <a:bodyPr/>
          <a:lstStyle/>
          <a:p>
            <a:endParaRPr/>
          </a:p>
        </p:txBody>
      </p:sp>
      <p:sp>
        <p:nvSpPr>
          <p:cNvPr id="16" name="Shape 13"/>
          <p:cNvSpPr/>
          <p:nvPr/>
        </p:nvSpPr>
        <p:spPr>
          <a:xfrm>
            <a:off x="1066712" y="2719476"/>
            <a:ext cx="228534" cy="228534"/>
          </a:xfrm>
          <a:prstGeom prst="ellipse">
            <a:avLst/>
          </a:prstGeom>
          <a:solidFill>
            <a:srgbClr val="5CC8F0"/>
          </a:solidFill>
          <a:ln/>
          <a:effectLst>
            <a:outerShdw blurRad="190500" dist="50800" dir="16200000" algn="bl" rotWithShape="0">
              <a:srgbClr val="5CC8F0">
                <a:alpha val="100000"/>
              </a:srgbClr>
            </a:outerShdw>
          </a:effectLst>
        </p:spPr>
        <p:txBody>
          <a:bodyPr/>
          <a:lstStyle/>
          <a:p>
            <a:endParaRPr/>
          </a:p>
        </p:txBody>
      </p:sp>
      <p:sp>
        <p:nvSpPr>
          <p:cNvPr id="17" name="Text 14"/>
          <p:cNvSpPr/>
          <p:nvPr/>
        </p:nvSpPr>
        <p:spPr>
          <a:xfrm>
            <a:off x="1066712" y="3119438"/>
            <a:ext cx="5643905" cy="334433"/>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5CC8F0"/>
                </a:solidFill>
                <a:latin typeface="Courier New" pitchFamily="34" charset="0"/>
                <a:ea typeface="Courier New" pitchFamily="34" charset="-122"/>
                <a:cs typeface="Courier New" pitchFamily="34" charset="-120"/>
              </a:rPr>
              <a:t>NOW · PROTOTYPE</a:t>
            </a:r>
            <a:endParaRPr lang="en-US" sz="1800" dirty="0"/>
          </a:p>
        </p:txBody>
      </p:sp>
      <p:sp>
        <p:nvSpPr>
          <p:cNvPr id="18" name="Text 15"/>
          <p:cNvSpPr/>
          <p:nvPr/>
        </p:nvSpPr>
        <p:spPr>
          <a:xfrm>
            <a:off x="1066712" y="3587199"/>
            <a:ext cx="5284748" cy="809581"/>
          </a:xfrm>
          <a:prstGeom prst="rect">
            <a:avLst/>
          </a:prstGeom>
          <a:noFill/>
          <a:ln/>
        </p:spPr>
        <p:txBody>
          <a:bodyPr wrap="square" lIns="25400" tIns="25400" rIns="25400" bIns="25400" rtlCol="0" anchor="t">
            <a:normAutofit/>
          </a:bodyPr>
          <a:lstStyle/>
          <a:p>
            <a:pPr marL="0" indent="0" algn="l">
              <a:lnSpc>
                <a:spcPct val="116330"/>
              </a:lnSpc>
              <a:buNone/>
            </a:pPr>
            <a:r>
              <a:rPr lang="en-US" sz="2250" dirty="0">
                <a:solidFill>
                  <a:srgbClr val="E6EDF5"/>
                </a:solidFill>
                <a:latin typeface="Arial" pitchFamily="34" charset="0"/>
                <a:ea typeface="Arial" pitchFamily="34" charset="-122"/>
                <a:cs typeface="Arial" pitchFamily="34" charset="-120"/>
              </a:rPr>
              <a:t>Deployed end-to-end workflow on public orbital data</a:t>
            </a:r>
            <a:endParaRPr lang="en-US" sz="2250" dirty="0"/>
          </a:p>
        </p:txBody>
      </p:sp>
      <p:sp>
        <p:nvSpPr>
          <p:cNvPr id="19" name="Shape 16"/>
          <p:cNvSpPr/>
          <p:nvPr/>
        </p:nvSpPr>
        <p:spPr>
          <a:xfrm>
            <a:off x="6578425" y="2719476"/>
            <a:ext cx="228534" cy="228534"/>
          </a:xfrm>
          <a:prstGeom prst="ellipse">
            <a:avLst/>
          </a:prstGeom>
          <a:solidFill>
            <a:srgbClr val="050A14"/>
          </a:solidFill>
          <a:ln w="14111">
            <a:solidFill>
              <a:srgbClr val="5CC8F0"/>
            </a:solidFill>
            <a:prstDash val="solid"/>
          </a:ln>
        </p:spPr>
        <p:txBody>
          <a:bodyPr/>
          <a:lstStyle/>
          <a:p>
            <a:endParaRPr/>
          </a:p>
        </p:txBody>
      </p:sp>
      <p:sp>
        <p:nvSpPr>
          <p:cNvPr id="20" name="Text 17"/>
          <p:cNvSpPr/>
          <p:nvPr/>
        </p:nvSpPr>
        <p:spPr>
          <a:xfrm>
            <a:off x="6578425" y="3119438"/>
            <a:ext cx="5644026" cy="334433"/>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AABF"/>
                </a:solidFill>
                <a:latin typeface="Courier New" pitchFamily="34" charset="0"/>
                <a:ea typeface="Courier New" pitchFamily="34" charset="-122"/>
                <a:cs typeface="Courier New" pitchFamily="34" charset="-120"/>
              </a:rPr>
              <a:t>NEXT · VALIDATION</a:t>
            </a:r>
            <a:endParaRPr lang="en-US" sz="1800" dirty="0"/>
          </a:p>
        </p:txBody>
      </p:sp>
      <p:sp>
        <p:nvSpPr>
          <p:cNvPr id="21" name="Text 18"/>
          <p:cNvSpPr/>
          <p:nvPr/>
        </p:nvSpPr>
        <p:spPr>
          <a:xfrm>
            <a:off x="6578425" y="3587199"/>
            <a:ext cx="5284861" cy="1195322"/>
          </a:xfrm>
          <a:prstGeom prst="rect">
            <a:avLst/>
          </a:prstGeom>
          <a:noFill/>
          <a:ln/>
        </p:spPr>
        <p:txBody>
          <a:bodyPr wrap="square" lIns="25400" tIns="25400" rIns="25400" bIns="25400" rtlCol="0" anchor="t">
            <a:normAutofit/>
          </a:bodyPr>
          <a:lstStyle/>
          <a:p>
            <a:pPr marL="0" indent="0" algn="l">
              <a:lnSpc>
                <a:spcPct val="116330"/>
              </a:lnSpc>
              <a:buNone/>
            </a:pPr>
            <a:r>
              <a:rPr lang="en-US" sz="2250" dirty="0">
                <a:solidFill>
                  <a:srgbClr val="C9D4E2"/>
                </a:solidFill>
                <a:latin typeface="Arial" pitchFamily="34" charset="0"/>
                <a:ea typeface="Arial" pitchFamily="34" charset="-122"/>
                <a:cs typeface="Arial" pitchFamily="34" charset="-120"/>
              </a:rPr>
              <a:t>Independent validation of screening and TCA; covariance-based Pc where validated data exists</a:t>
            </a:r>
            <a:endParaRPr lang="en-US" sz="2250" dirty="0"/>
          </a:p>
        </p:txBody>
      </p:sp>
      <p:sp>
        <p:nvSpPr>
          <p:cNvPr id="22" name="Shape 19"/>
          <p:cNvSpPr/>
          <p:nvPr/>
        </p:nvSpPr>
        <p:spPr>
          <a:xfrm>
            <a:off x="12090247" y="2719476"/>
            <a:ext cx="228534" cy="228534"/>
          </a:xfrm>
          <a:prstGeom prst="ellipse">
            <a:avLst/>
          </a:prstGeom>
          <a:solidFill>
            <a:srgbClr val="050A14"/>
          </a:solidFill>
          <a:ln w="14111">
            <a:solidFill>
              <a:srgbClr val="2A5C78"/>
            </a:solidFill>
            <a:prstDash val="solid"/>
          </a:ln>
        </p:spPr>
        <p:txBody>
          <a:bodyPr/>
          <a:lstStyle/>
          <a:p>
            <a:endParaRPr/>
          </a:p>
        </p:txBody>
      </p:sp>
      <p:sp>
        <p:nvSpPr>
          <p:cNvPr id="23" name="Text 20"/>
          <p:cNvSpPr/>
          <p:nvPr/>
        </p:nvSpPr>
        <p:spPr>
          <a:xfrm>
            <a:off x="12090247" y="3119438"/>
            <a:ext cx="5644026" cy="334433"/>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AABF"/>
                </a:solidFill>
                <a:latin typeface="Courier New" pitchFamily="34" charset="0"/>
                <a:ea typeface="Courier New" pitchFamily="34" charset="-122"/>
                <a:cs typeface="Courier New" pitchFamily="34" charset="-120"/>
              </a:rPr>
              <a:t>LATER · INTEGRATION</a:t>
            </a:r>
            <a:endParaRPr lang="en-US" sz="1800" dirty="0"/>
          </a:p>
        </p:txBody>
      </p:sp>
      <p:sp>
        <p:nvSpPr>
          <p:cNvPr id="24" name="Text 21"/>
          <p:cNvSpPr/>
          <p:nvPr/>
        </p:nvSpPr>
        <p:spPr>
          <a:xfrm>
            <a:off x="12090247" y="3587199"/>
            <a:ext cx="5284861" cy="809581"/>
          </a:xfrm>
          <a:prstGeom prst="rect">
            <a:avLst/>
          </a:prstGeom>
          <a:noFill/>
          <a:ln/>
        </p:spPr>
        <p:txBody>
          <a:bodyPr wrap="square" lIns="25400" tIns="25400" rIns="25400" bIns="25400" rtlCol="0" anchor="t">
            <a:normAutofit/>
          </a:bodyPr>
          <a:lstStyle/>
          <a:p>
            <a:pPr marL="0" indent="0" algn="l">
              <a:lnSpc>
                <a:spcPct val="116330"/>
              </a:lnSpc>
              <a:buNone/>
            </a:pPr>
            <a:r>
              <a:rPr lang="en-US" sz="2250" dirty="0">
                <a:solidFill>
                  <a:srgbClr val="C9D4E2"/>
                </a:solidFill>
                <a:latin typeface="Arial" pitchFamily="34" charset="0"/>
                <a:ea typeface="Arial" pitchFamily="34" charset="-122"/>
                <a:cs typeface="Arial" pitchFamily="34" charset="-120"/>
              </a:rPr>
              <a:t>Authoritative data sources, analyst workflow integration, hardened security</a:t>
            </a:r>
            <a:endParaRPr lang="en-US" sz="2250" dirty="0"/>
          </a:p>
        </p:txBody>
      </p:sp>
      <p:sp>
        <p:nvSpPr>
          <p:cNvPr id="25" name="Shape 22"/>
          <p:cNvSpPr/>
          <p:nvPr/>
        </p:nvSpPr>
        <p:spPr>
          <a:xfrm>
            <a:off x="1066712" y="6296753"/>
            <a:ext cx="16154469" cy="2656748"/>
          </a:xfrm>
          <a:prstGeom prst="rect">
            <a:avLst/>
          </a:prstGeom>
          <a:solidFill>
            <a:srgbClr val="F2B661">
              <a:alpha val="5000"/>
            </a:srgbClr>
          </a:solidFill>
          <a:ln w="7056">
            <a:solidFill>
              <a:srgbClr val="5A4A30"/>
            </a:solidFill>
            <a:prstDash val="solid"/>
          </a:ln>
        </p:spPr>
        <p:txBody>
          <a:bodyPr/>
          <a:lstStyle/>
          <a:p>
            <a:endParaRPr/>
          </a:p>
        </p:txBody>
      </p:sp>
      <p:sp>
        <p:nvSpPr>
          <p:cNvPr id="26" name="Text 23"/>
          <p:cNvSpPr/>
          <p:nvPr/>
        </p:nvSpPr>
        <p:spPr>
          <a:xfrm>
            <a:off x="1416623" y="6589449"/>
            <a:ext cx="17000110" cy="33443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F2B661"/>
                </a:solidFill>
                <a:latin typeface="Courier New" pitchFamily="34" charset="0"/>
                <a:ea typeface="Courier New" pitchFamily="34" charset="-122"/>
                <a:cs typeface="Courier New" pitchFamily="34" charset="-120"/>
              </a:rPr>
              <a:t>PROTOTYPE LIMITATIONS</a:t>
            </a:r>
            <a:endParaRPr lang="en-US" sz="1800" dirty="0"/>
          </a:p>
        </p:txBody>
      </p:sp>
      <p:sp>
        <p:nvSpPr>
          <p:cNvPr id="27" name="Text 24"/>
          <p:cNvSpPr/>
          <p:nvPr/>
        </p:nvSpPr>
        <p:spPr>
          <a:xfrm>
            <a:off x="1416623" y="7057210"/>
            <a:ext cx="7723696" cy="706614"/>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Current live ingestion uses public CelesTrak GP/TLE data — accuracy bounded by source</a:t>
            </a:r>
            <a:endParaRPr lang="en-US" sz="2025" dirty="0"/>
          </a:p>
        </p:txBody>
      </p:sp>
      <p:sp>
        <p:nvSpPr>
          <p:cNvPr id="28" name="Text 25"/>
          <p:cNvSpPr/>
          <p:nvPr/>
        </p:nvSpPr>
        <p:spPr>
          <a:xfrm>
            <a:off x="9372535" y="7057210"/>
            <a:ext cx="7723696" cy="706614"/>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Simplified indicator, not operational covariance-based Pc</a:t>
            </a:r>
            <a:endParaRPr lang="en-US" sz="2025" dirty="0"/>
          </a:p>
        </p:txBody>
      </p:sp>
      <p:sp>
        <p:nvSpPr>
          <p:cNvPr id="29" name="Text 26"/>
          <p:cNvSpPr/>
          <p:nvPr/>
        </p:nvSpPr>
        <p:spPr>
          <a:xfrm>
            <a:off x="1416623" y="7859008"/>
            <a:ext cx="8248607" cy="372357"/>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Demo scenario uses controlled geometry</a:t>
            </a:r>
            <a:endParaRPr lang="en-US" sz="2025" dirty="0"/>
          </a:p>
        </p:txBody>
      </p:sp>
      <p:sp>
        <p:nvSpPr>
          <p:cNvPr id="30" name="Text 27"/>
          <p:cNvSpPr/>
          <p:nvPr/>
        </p:nvSpPr>
        <p:spPr>
          <a:xfrm>
            <a:off x="9372535" y="7859008"/>
            <a:ext cx="8248607" cy="372357"/>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Not a replacement for ISRO / IS4OM / NETRA / DRDO systems</a:t>
            </a:r>
            <a:endParaRPr lang="en-US" sz="2025" dirty="0"/>
          </a:p>
        </p:txBody>
      </p:sp>
      <p:sp>
        <p:nvSpPr>
          <p:cNvPr id="31" name="Text 28"/>
          <p:cNvSpPr/>
          <p:nvPr/>
        </p:nvSpPr>
        <p:spPr>
          <a:xfrm>
            <a:off x="1416623" y="8326549"/>
            <a:ext cx="8248607" cy="372357"/>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Not a command, autonomous-avoidance or weapon system</a:t>
            </a:r>
            <a:endParaRPr lang="en-US" sz="2025" dirty="0"/>
          </a:p>
        </p:txBody>
      </p:sp>
      <p:sp>
        <p:nvSpPr>
          <p:cNvPr id="32" name="Text 29"/>
          <p:cNvSpPr/>
          <p:nvPr/>
        </p:nvSpPr>
        <p:spPr>
          <a:xfrm>
            <a:off x="9372535" y="8326549"/>
            <a:ext cx="8248607" cy="372357"/>
          </a:xfrm>
          <a:prstGeom prst="rect">
            <a:avLst/>
          </a:prstGeom>
          <a:noFill/>
          <a:ln/>
        </p:spPr>
        <p:txBody>
          <a:bodyPr wrap="square" lIns="25400" tIns="25400" rIns="25400" bIns="25400" rtlCol="0" anchor="t">
            <a:normAutofit/>
          </a:bodyPr>
          <a:lstStyle/>
          <a:p>
            <a:pPr marL="0" indent="0" algn="l">
              <a:lnSpc>
                <a:spcPct val="112821"/>
              </a:lnSpc>
              <a:buNone/>
            </a:pPr>
            <a:r>
              <a:rPr lang="en-US" sz="2025" dirty="0">
                <a:solidFill>
                  <a:srgbClr val="C9D4E2"/>
                </a:solidFill>
                <a:latin typeface="Arial" pitchFamily="34" charset="0"/>
                <a:ea typeface="Arial" pitchFamily="34" charset="-122"/>
                <a:cs typeface="Arial" pitchFamily="34" charset="-120"/>
              </a:rPr>
              <a:t>Pathway above is potential, not committed</a:t>
            </a:r>
            <a:endParaRPr lang="en-US" sz="2025" dirty="0"/>
          </a:p>
        </p:txBody>
      </p:sp>
      <p:sp>
        <p:nvSpPr>
          <p:cNvPr id="33" name="Shape 30"/>
          <p:cNvSpPr/>
          <p:nvPr/>
        </p:nvSpPr>
        <p:spPr>
          <a:xfrm>
            <a:off x="1066712" y="9629181"/>
            <a:ext cx="190390" cy="28553"/>
          </a:xfrm>
          <a:prstGeom prst="rect">
            <a:avLst/>
          </a:prstGeom>
          <a:solidFill>
            <a:srgbClr val="FF9933"/>
          </a:solidFill>
          <a:ln/>
        </p:spPr>
        <p:txBody>
          <a:bodyPr/>
          <a:lstStyle/>
          <a:p>
            <a:endParaRPr/>
          </a:p>
        </p:txBody>
      </p:sp>
      <p:sp>
        <p:nvSpPr>
          <p:cNvPr id="34" name="Shape 31"/>
          <p:cNvSpPr/>
          <p:nvPr/>
        </p:nvSpPr>
        <p:spPr>
          <a:xfrm>
            <a:off x="1257102" y="9629181"/>
            <a:ext cx="190390" cy="28553"/>
          </a:xfrm>
          <a:prstGeom prst="rect">
            <a:avLst/>
          </a:prstGeom>
          <a:solidFill>
            <a:srgbClr val="F2F2F2"/>
          </a:solidFill>
          <a:ln/>
        </p:spPr>
        <p:txBody>
          <a:bodyPr/>
          <a:lstStyle/>
          <a:p>
            <a:endParaRPr/>
          </a:p>
        </p:txBody>
      </p:sp>
      <p:sp>
        <p:nvSpPr>
          <p:cNvPr id="35" name="Shape 32"/>
          <p:cNvSpPr/>
          <p:nvPr/>
        </p:nvSpPr>
        <p:spPr>
          <a:xfrm>
            <a:off x="1447491" y="9629181"/>
            <a:ext cx="190390" cy="28553"/>
          </a:xfrm>
          <a:prstGeom prst="rect">
            <a:avLst/>
          </a:prstGeom>
          <a:solidFill>
            <a:srgbClr val="1FA84A"/>
          </a:solidFill>
          <a:ln/>
        </p:spPr>
        <p:txBody>
          <a:bodyPr/>
          <a:lstStyle/>
          <a:p>
            <a:endParaRPr/>
          </a:p>
        </p:txBody>
      </p:sp>
      <p:sp>
        <p:nvSpPr>
          <p:cNvPr id="36" name="Text 33"/>
          <p:cNvSpPr/>
          <p:nvPr/>
        </p:nvSpPr>
        <p:spPr>
          <a:xfrm>
            <a:off x="1828271" y="9495346"/>
            <a:ext cx="6837903"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ANTARIKSHA-RAKSHA · IDEAS FOR INDIA 2026</a:t>
            </a:r>
            <a:endParaRPr lang="en-US" sz="1800" dirty="0"/>
          </a:p>
        </p:txBody>
      </p:sp>
      <p:sp>
        <p:nvSpPr>
          <p:cNvPr id="37" name="Text 34"/>
          <p:cNvSpPr/>
          <p:nvPr/>
        </p:nvSpPr>
        <p:spPr>
          <a:xfrm>
            <a:off x="16133301" y="9495346"/>
            <a:ext cx="1164079" cy="334433"/>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F8098"/>
                </a:solidFill>
                <a:latin typeface="Courier New" pitchFamily="34" charset="0"/>
                <a:ea typeface="Courier New" pitchFamily="34" charset="-122"/>
                <a:cs typeface="Courier New" pitchFamily="34" charset="-120"/>
              </a:rPr>
              <a:t>14 / 15</a:t>
            </a:r>
            <a:endParaRPr lang="en-US" sz="1800" dirty="0"/>
          </a:p>
        </p:txBody>
      </p:sp>
      <p:pic>
        <p:nvPicPr>
          <p:cNvPr id="38" name="Narration slide 14">
            <a:hlinkClick r:id="" action="ppaction://media"/>
            <a:extLst>
              <a:ext uri="{FF2B5EF4-FFF2-40B4-BE49-F238E27FC236}">
                <a16:creationId xmlns:a16="http://schemas.microsoft.com/office/drawing/2014/main" id="{199E5C1F-78F7-41C2-8229-AFCF136CFCE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296"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8"/>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50A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rcRect/>
          <a:stretch/>
        </p:blipFill>
        <p:spPr>
          <a:xfrm>
            <a:off x="0" y="0"/>
            <a:ext cx="18287892" cy="10286891"/>
          </a:xfrm>
          <a:prstGeom prst="rect">
            <a:avLst/>
          </a:prstGeom>
        </p:spPr>
      </p:pic>
      <p:sp>
        <p:nvSpPr>
          <p:cNvPr id="3" name="Shape 0"/>
          <p:cNvSpPr/>
          <p:nvPr/>
        </p:nvSpPr>
        <p:spPr>
          <a:xfrm>
            <a:off x="1066712" y="2198247"/>
            <a:ext cx="342856" cy="38034"/>
          </a:xfrm>
          <a:prstGeom prst="rect">
            <a:avLst/>
          </a:prstGeom>
          <a:solidFill>
            <a:srgbClr val="FF9933"/>
          </a:solidFill>
          <a:ln/>
        </p:spPr>
        <p:txBody>
          <a:bodyPr/>
          <a:lstStyle/>
          <a:p>
            <a:endParaRPr/>
          </a:p>
        </p:txBody>
      </p:sp>
      <p:sp>
        <p:nvSpPr>
          <p:cNvPr id="4" name="Shape 1"/>
          <p:cNvSpPr/>
          <p:nvPr/>
        </p:nvSpPr>
        <p:spPr>
          <a:xfrm>
            <a:off x="1409568" y="2198247"/>
            <a:ext cx="342856" cy="38034"/>
          </a:xfrm>
          <a:prstGeom prst="rect">
            <a:avLst/>
          </a:prstGeom>
          <a:solidFill>
            <a:srgbClr val="F2F2F2"/>
          </a:solidFill>
          <a:ln/>
        </p:spPr>
        <p:txBody>
          <a:bodyPr/>
          <a:lstStyle/>
          <a:p>
            <a:endParaRPr/>
          </a:p>
        </p:txBody>
      </p:sp>
      <p:sp>
        <p:nvSpPr>
          <p:cNvPr id="5" name="Shape 2"/>
          <p:cNvSpPr/>
          <p:nvPr/>
        </p:nvSpPr>
        <p:spPr>
          <a:xfrm>
            <a:off x="1752424" y="2198247"/>
            <a:ext cx="342856" cy="38034"/>
          </a:xfrm>
          <a:prstGeom prst="rect">
            <a:avLst/>
          </a:prstGeom>
          <a:solidFill>
            <a:srgbClr val="1FA84A"/>
          </a:solidFill>
          <a:ln/>
        </p:spPr>
        <p:txBody>
          <a:bodyPr/>
          <a:lstStyle/>
          <a:p>
            <a:endParaRPr/>
          </a:p>
        </p:txBody>
      </p:sp>
      <p:sp>
        <p:nvSpPr>
          <p:cNvPr id="6" name="Text 3"/>
          <p:cNvSpPr/>
          <p:nvPr/>
        </p:nvSpPr>
        <p:spPr>
          <a:xfrm>
            <a:off x="2285669" y="1991541"/>
            <a:ext cx="1746857" cy="489656"/>
          </a:xfrm>
          <a:prstGeom prst="rect">
            <a:avLst/>
          </a:prstGeom>
          <a:noFill/>
          <a:ln/>
        </p:spPr>
        <p:txBody>
          <a:bodyPr wrap="none" lIns="25400" tIns="25400" rIns="25400" bIns="25400" rtlCol="0" anchor="t">
            <a:normAutofit/>
          </a:bodyPr>
          <a:lstStyle/>
          <a:p>
            <a:pPr marL="0" indent="0" algn="l">
              <a:buNone/>
            </a:pPr>
            <a:r>
              <a:rPr lang="en-US" sz="2700" b="1" dirty="0">
                <a:solidFill>
                  <a:srgbClr val="5CC8F0"/>
                </a:solidFill>
                <a:latin typeface="Arial" pitchFamily="34" charset="0"/>
                <a:ea typeface="Arial" pitchFamily="34" charset="-122"/>
                <a:cs typeface="Arial" pitchFamily="34" charset="-120"/>
              </a:rPr>
              <a:t>अंतरिक्ष रक्षा</a:t>
            </a:r>
            <a:endParaRPr lang="en-US" sz="2700" dirty="0"/>
          </a:p>
        </p:txBody>
      </p:sp>
      <p:sp>
        <p:nvSpPr>
          <p:cNvPr id="7" name="Text 4"/>
          <p:cNvSpPr/>
          <p:nvPr/>
        </p:nvSpPr>
        <p:spPr>
          <a:xfrm>
            <a:off x="1066712" y="2938308"/>
            <a:ext cx="17769915" cy="1203920"/>
          </a:xfrm>
          <a:prstGeom prst="rect">
            <a:avLst/>
          </a:prstGeom>
          <a:noFill/>
          <a:ln/>
        </p:spPr>
        <p:txBody>
          <a:bodyPr wrap="square" lIns="25400" tIns="25400" rIns="25400" bIns="25400" rtlCol="0" anchor="t">
            <a:normAutofit/>
          </a:bodyPr>
          <a:lstStyle/>
          <a:p>
            <a:pPr marL="0" indent="0" algn="l">
              <a:lnSpc>
                <a:spcPct val="88839"/>
              </a:lnSpc>
              <a:buNone/>
            </a:pPr>
            <a:r>
              <a:rPr lang="en-US" sz="9000" b="1" kern="0" spc="-270" dirty="0">
                <a:solidFill>
                  <a:srgbClr val="E6EDF5"/>
                </a:solidFill>
                <a:latin typeface="Arial" pitchFamily="34" charset="0"/>
                <a:ea typeface="Arial" pitchFamily="34" charset="-122"/>
                <a:cs typeface="Arial" pitchFamily="34" charset="-120"/>
              </a:rPr>
              <a:t>Physics first.</a:t>
            </a:r>
            <a:endParaRPr lang="en-US" sz="9000" dirty="0"/>
          </a:p>
        </p:txBody>
      </p:sp>
      <p:sp>
        <p:nvSpPr>
          <p:cNvPr id="8" name="Text 5"/>
          <p:cNvSpPr/>
          <p:nvPr/>
        </p:nvSpPr>
        <p:spPr>
          <a:xfrm>
            <a:off x="1066712" y="4161235"/>
            <a:ext cx="17769915" cy="1203920"/>
          </a:xfrm>
          <a:prstGeom prst="rect">
            <a:avLst/>
          </a:prstGeom>
          <a:noFill/>
          <a:ln/>
        </p:spPr>
        <p:txBody>
          <a:bodyPr wrap="square" lIns="25400" tIns="25400" rIns="25400" bIns="25400" rtlCol="0" anchor="t">
            <a:normAutofit/>
          </a:bodyPr>
          <a:lstStyle/>
          <a:p>
            <a:pPr marL="0" indent="0" algn="l">
              <a:lnSpc>
                <a:spcPct val="88839"/>
              </a:lnSpc>
              <a:buNone/>
            </a:pPr>
            <a:r>
              <a:rPr lang="en-US" sz="9000" b="1" kern="0" spc="-270" dirty="0">
                <a:solidFill>
                  <a:srgbClr val="9AAABF"/>
                </a:solidFill>
                <a:latin typeface="Arial" pitchFamily="34" charset="0"/>
                <a:ea typeface="Arial" pitchFamily="34" charset="-122"/>
                <a:cs typeface="Arial" pitchFamily="34" charset="-120"/>
              </a:rPr>
              <a:t>AI second.</a:t>
            </a:r>
            <a:endParaRPr lang="en-US" sz="9000" dirty="0"/>
          </a:p>
        </p:txBody>
      </p:sp>
      <p:sp>
        <p:nvSpPr>
          <p:cNvPr id="9" name="Text 6"/>
          <p:cNvSpPr/>
          <p:nvPr/>
        </p:nvSpPr>
        <p:spPr>
          <a:xfrm>
            <a:off x="1066712" y="5384161"/>
            <a:ext cx="17769915" cy="1203920"/>
          </a:xfrm>
          <a:prstGeom prst="rect">
            <a:avLst/>
          </a:prstGeom>
          <a:noFill/>
          <a:ln/>
        </p:spPr>
        <p:txBody>
          <a:bodyPr wrap="square" lIns="25400" tIns="25400" rIns="25400" bIns="25400" rtlCol="0" anchor="t">
            <a:normAutofit/>
          </a:bodyPr>
          <a:lstStyle/>
          <a:p>
            <a:pPr marL="0" indent="0" algn="l">
              <a:lnSpc>
                <a:spcPct val="88839"/>
              </a:lnSpc>
              <a:buNone/>
            </a:pPr>
            <a:r>
              <a:rPr lang="en-US" sz="9000" b="1" kern="0" spc="-270" dirty="0">
                <a:solidFill>
                  <a:srgbClr val="5CC8F0"/>
                </a:solidFill>
                <a:latin typeface="Arial" pitchFamily="34" charset="0"/>
                <a:ea typeface="Arial" pitchFamily="34" charset="-122"/>
                <a:cs typeface="Arial" pitchFamily="34" charset="-120"/>
              </a:rPr>
              <a:t>Human decision last.</a:t>
            </a:r>
            <a:endParaRPr lang="en-US" sz="9000" dirty="0"/>
          </a:p>
        </p:txBody>
      </p:sp>
      <p:sp>
        <p:nvSpPr>
          <p:cNvPr id="10" name="Text 7"/>
          <p:cNvSpPr/>
          <p:nvPr/>
        </p:nvSpPr>
        <p:spPr>
          <a:xfrm>
            <a:off x="1066712" y="7045194"/>
            <a:ext cx="17769915" cy="496711"/>
          </a:xfrm>
          <a:prstGeom prst="rect">
            <a:avLst/>
          </a:prstGeom>
          <a:noFill/>
          <a:ln/>
        </p:spPr>
        <p:txBody>
          <a:bodyPr wrap="square" lIns="25400" tIns="25400" rIns="25400" bIns="25400" rtlCol="0" anchor="t">
            <a:normAutofit/>
          </a:bodyPr>
          <a:lstStyle/>
          <a:p>
            <a:pPr marL="0" indent="0" algn="l">
              <a:buNone/>
            </a:pPr>
            <a:r>
              <a:rPr lang="en-US" sz="3150" dirty="0">
                <a:solidFill>
                  <a:srgbClr val="E6EDF5"/>
                </a:solidFill>
                <a:latin typeface="Arial" pitchFamily="34" charset="0"/>
                <a:ea typeface="Arial" pitchFamily="34" charset="-122"/>
                <a:cs typeface="Arial" pitchFamily="34" charset="-120"/>
              </a:rPr>
              <a:t>From orbital data to explainable decision support.</a:t>
            </a:r>
            <a:endParaRPr lang="en-US" sz="3150" dirty="0"/>
          </a:p>
        </p:txBody>
      </p:sp>
      <p:sp>
        <p:nvSpPr>
          <p:cNvPr id="11" name="Text 8"/>
          <p:cNvSpPr/>
          <p:nvPr/>
        </p:nvSpPr>
        <p:spPr>
          <a:xfrm>
            <a:off x="1066712" y="7999016"/>
            <a:ext cx="679560"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C9D4E2"/>
                </a:solidFill>
                <a:latin typeface="Courier New" pitchFamily="34" charset="0"/>
                <a:ea typeface="Courier New" pitchFamily="34" charset="-122"/>
                <a:cs typeface="Courier New" pitchFamily="34" charset="-120"/>
              </a:rPr>
              <a:t>DATA</a:t>
            </a:r>
            <a:endParaRPr lang="en-US" sz="1800" dirty="0"/>
          </a:p>
        </p:txBody>
      </p:sp>
      <p:sp>
        <p:nvSpPr>
          <p:cNvPr id="12" name="Text 9"/>
          <p:cNvSpPr/>
          <p:nvPr/>
        </p:nvSpPr>
        <p:spPr>
          <a:xfrm>
            <a:off x="1803356" y="7999016"/>
            <a:ext cx="215657" cy="334433"/>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a:t>
            </a:r>
            <a:endParaRPr lang="en-US" sz="1800" dirty="0"/>
          </a:p>
        </p:txBody>
      </p:sp>
      <p:sp>
        <p:nvSpPr>
          <p:cNvPr id="13" name="Text 10"/>
          <p:cNvSpPr/>
          <p:nvPr/>
        </p:nvSpPr>
        <p:spPr>
          <a:xfrm>
            <a:off x="2076098" y="7999016"/>
            <a:ext cx="1132108"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C9D4E2"/>
                </a:solidFill>
                <a:latin typeface="Courier New" pitchFamily="34" charset="0"/>
                <a:ea typeface="Courier New" pitchFamily="34" charset="-122"/>
                <a:cs typeface="Courier New" pitchFamily="34" charset="-120"/>
              </a:rPr>
              <a:t>PHYSICS</a:t>
            </a:r>
            <a:endParaRPr lang="en-US" sz="1800" dirty="0"/>
          </a:p>
        </p:txBody>
      </p:sp>
      <p:sp>
        <p:nvSpPr>
          <p:cNvPr id="14" name="Text 11"/>
          <p:cNvSpPr/>
          <p:nvPr/>
        </p:nvSpPr>
        <p:spPr>
          <a:xfrm>
            <a:off x="3265289" y="7999016"/>
            <a:ext cx="215657" cy="334433"/>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a:t>
            </a:r>
            <a:endParaRPr lang="en-US" sz="1800" dirty="0"/>
          </a:p>
        </p:txBody>
      </p:sp>
      <p:sp>
        <p:nvSpPr>
          <p:cNvPr id="15" name="Text 12"/>
          <p:cNvSpPr/>
          <p:nvPr/>
        </p:nvSpPr>
        <p:spPr>
          <a:xfrm>
            <a:off x="3538031" y="7999016"/>
            <a:ext cx="679560"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C9D4E2"/>
                </a:solidFill>
                <a:latin typeface="Courier New" pitchFamily="34" charset="0"/>
                <a:ea typeface="Courier New" pitchFamily="34" charset="-122"/>
                <a:cs typeface="Courier New" pitchFamily="34" charset="-120"/>
              </a:rPr>
              <a:t>RISK</a:t>
            </a:r>
            <a:endParaRPr lang="en-US" sz="1800" dirty="0"/>
          </a:p>
        </p:txBody>
      </p:sp>
      <p:sp>
        <p:nvSpPr>
          <p:cNvPr id="16" name="Text 13"/>
          <p:cNvSpPr/>
          <p:nvPr/>
        </p:nvSpPr>
        <p:spPr>
          <a:xfrm>
            <a:off x="4274675" y="7999016"/>
            <a:ext cx="215657" cy="334433"/>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a:t>
            </a:r>
            <a:endParaRPr lang="en-US" sz="1800" dirty="0"/>
          </a:p>
        </p:txBody>
      </p:sp>
      <p:sp>
        <p:nvSpPr>
          <p:cNvPr id="17" name="Text 14"/>
          <p:cNvSpPr/>
          <p:nvPr/>
        </p:nvSpPr>
        <p:spPr>
          <a:xfrm>
            <a:off x="4547416" y="7999016"/>
            <a:ext cx="2322877"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C9D4E2"/>
                </a:solidFill>
                <a:latin typeface="Courier New" pitchFamily="34" charset="0"/>
                <a:ea typeface="Courier New" pitchFamily="34" charset="-122"/>
                <a:cs typeface="Courier New" pitchFamily="34" charset="-120"/>
              </a:rPr>
              <a:t>AI EXPLANATION</a:t>
            </a:r>
            <a:endParaRPr lang="en-US" sz="1800" dirty="0"/>
          </a:p>
        </p:txBody>
      </p:sp>
      <p:sp>
        <p:nvSpPr>
          <p:cNvPr id="18" name="Text 15"/>
          <p:cNvSpPr/>
          <p:nvPr/>
        </p:nvSpPr>
        <p:spPr>
          <a:xfrm>
            <a:off x="6792406" y="7999016"/>
            <a:ext cx="215657" cy="334433"/>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a:t>
            </a:r>
            <a:endParaRPr lang="en-US" sz="1800" dirty="0"/>
          </a:p>
        </p:txBody>
      </p:sp>
      <p:sp>
        <p:nvSpPr>
          <p:cNvPr id="19" name="Text 16"/>
          <p:cNvSpPr/>
          <p:nvPr/>
        </p:nvSpPr>
        <p:spPr>
          <a:xfrm>
            <a:off x="7065148" y="7999016"/>
            <a:ext cx="2322877"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HUMAN DECISION</a:t>
            </a:r>
            <a:endParaRPr lang="en-US" sz="1800" dirty="0"/>
          </a:p>
        </p:txBody>
      </p:sp>
      <p:sp>
        <p:nvSpPr>
          <p:cNvPr id="20" name="Text 17"/>
          <p:cNvSpPr/>
          <p:nvPr/>
        </p:nvSpPr>
        <p:spPr>
          <a:xfrm>
            <a:off x="9310138" y="7999016"/>
            <a:ext cx="215657" cy="334433"/>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C8F0"/>
                </a:solidFill>
                <a:latin typeface="Courier New" pitchFamily="34" charset="0"/>
                <a:ea typeface="Courier New" pitchFamily="34" charset="-122"/>
                <a:cs typeface="Courier New" pitchFamily="34" charset="-120"/>
              </a:rPr>
              <a:t>→</a:t>
            </a:r>
            <a:endParaRPr lang="en-US" sz="1800" dirty="0"/>
          </a:p>
        </p:txBody>
      </p:sp>
      <p:sp>
        <p:nvSpPr>
          <p:cNvPr id="21" name="Text 18"/>
          <p:cNvSpPr/>
          <p:nvPr/>
        </p:nvSpPr>
        <p:spPr>
          <a:xfrm>
            <a:off x="9582879" y="7999016"/>
            <a:ext cx="830373" cy="334433"/>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C9D4E2"/>
                </a:solidFill>
                <a:latin typeface="Courier New" pitchFamily="34" charset="0"/>
                <a:ea typeface="Courier New" pitchFamily="34" charset="-122"/>
                <a:cs typeface="Courier New" pitchFamily="34" charset="-120"/>
              </a:rPr>
              <a:t>AUDIT</a:t>
            </a:r>
            <a:endParaRPr lang="en-US" sz="1800" dirty="0"/>
          </a:p>
        </p:txBody>
      </p:sp>
      <p:pic>
        <p:nvPicPr>
          <p:cNvPr id="22" name="Narration slide 15">
            <a:hlinkClick r:id="" action="ppaction://media"/>
            <a:extLst>
              <a:ext uri="{FF2B5EF4-FFF2-40B4-BE49-F238E27FC236}">
                <a16:creationId xmlns:a16="http://schemas.microsoft.com/office/drawing/2014/main" id="{D65D5317-2174-F9A8-CB7B-F228B534EC0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678400" y="9728200"/>
            <a:ext cx="381000" cy="38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68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4017</Words>
  <Application>Microsoft Office PowerPoint</Application>
  <PresentationFormat>Custom</PresentationFormat>
  <Paragraphs>530</Paragraphs>
  <Slides>15</Slides>
  <Notes>15</Notes>
  <HiddenSlides>0</HiddenSlides>
  <MMClips>15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Sejal N K</cp:lastModifiedBy>
  <cp:revision>2</cp:revision>
  <dcterms:created xsi:type="dcterms:W3CDTF">2026-10-05T17:00:55Z</dcterms:created>
  <dcterms:modified xsi:type="dcterms:W3CDTF">2026-10-06T22:12:45Z</dcterms:modified>
</cp:coreProperties>
</file>