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image-12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identity: a locally-run SSA decision-support console, working today as a research prototype, built for the Sovereign Technology for India challenge, Track 03. Emphasize: one laptop, local AI, a human makes every decision. Built on open-source components and a local open-weight model; the project repository itself is private and available for evaluation. Say clearly it is not an operational collision-warning service. Positioning: defence-relevant Space Domain Awareness and conjunction-assessment decision support — a research/demo prototype, not a weapon, defence or command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stakes: India's satellite fleet underpins daily national life. About 40,000 objects are tracked (ESA Space Environment Report 2025, 1 Apr 2025: 'About 40 000 objects are now tracked... about 11 000 active payloads'), and about 2,700 satellites were launched in 2024 (Satellite Industry Association, State of the Satellite Industry Report 2025: 2,695 satellites; McDowell counts 2,857 payloads), mostly for large constellations. Collisions can cascade. Proximity operations are publicly reported worldwide and merit human review, without inferring intent. Keep the asset-value framing qualitative.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Context, stated neutrally: India already has SSA capability (ISRO IS4OM, NETRA). This prototype explores a complementary, operator-facing decision-support layer that is auditable and runs locally. It is not integrated with those programmes or any government system, and is a research prototype, not an operational system. Commercial landscape: leading commercial SSA services (for example LeoLabs) are delivered as cloud services with proprietary models; free and paid tiers exist (for example Slingshot Beacon).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stages: Perceive (public CelesTrak GP data, offline cache, SGP4), Reason (10 km prototype candidate-screening threshold, not a collision criterion; refined TCA; a simplified analytic collision-probability indicator, NOT an operational covariance-based Pc; proximity dwell detection; local LLM brief checked by a deterministic fact check plus a second pass by the same model, not independent validation), Execute (human approves, acknowledges or dismisses with a reason; the illustrative delta-v estimate is not a maneuver plan or recommendation; persistent decision audit; optional Telegram). Land: decision-support only, no command path to any spacecraft. Prototype role-based access is enforced by the backend: only an OPERATOR (or higher) account can record a decision, and each decision stores the acting user and role. Local accounts only, no MFA or SSO; production would need enterprise identity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slide. The screenshot is the real console running on live CelesTrak data on 2 Oct 2026: LIVE DATA panel, globe with SGP4-propagated tracks, asset list. Metrics are single local runs on the demo laptop on 2 Oct 2026: 103 objects ingested from CelesTrak (11 Indian assets, 80 debris, 12 other active satellites), propagation + screening under 1 s (0.18 s + 0.16 s), 775 automated tests passed (613 backend + 162 frontend, 3 Oct 2026). All decisions are made by a human, by design. Any demo event is a labelled controlled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design, stated plainly: the local LLM drafts a brief from computed numbers; a deterministic fact check plus a second pass of the same model check consistency (not independent validation); every brief is labelled; rejection reasons are prompt context only, with no model weights changed (no training, fine-tuning or RL); if the LLM is down, a deterministic template takes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Comparison, stated conservatively and without ranking. Commercial SSA: cloud services such as LeoLabs (subscription service; documents maneuver and RPO detection and AI/ML); free and paid tiers exist (Slingshot Beacon). External warning feeds: the USSPACECOM free conjunction-assessment service, with CDMs posted to Space-Track for account holders and email notifications (Spaceflight Safety Handbook v1.7). Auditability of competitors was not assessed. Our column is what the prototype actually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Single-run measurements on the demo laptop on 2 Oct 2026: 103 objects ingested from CelesTrak and 1,012 asset/object pairs screened, 0 real events; propagation + screening under 1 s (0.18 s + 0.16 s); full refresh 11 to 35 s across 6 refreshes, network-dependent; 775 automated tests passed (613 backend + 162 frontend, 3 Oct 2026). Risk is a simplified analytic Pc indicator, not an operational covariance-based Pc. Every decision is made by a human and kept in a persistent audit trail. Sustainability and economic impact are qualitative; operational costs are not yet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 alignment: Resilient (works offline after the first data download, with fallbacks), Self-reliant by design (built on open-source components and a local open-weight model, no cloud AI, no license fees; designed so whoever deploys it can run and inspect it locally; orbital data still from CelesTrak today), Sustainable (protecting the orbital commons). Close on Viksit Bharat 2047.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(planning, not commitments): Phase 0 complete (working, tested prototype with analytic Pc indicator; private repository). Phase 1: full catalog, CDM ingestion, covariance, enterprise identity and MFA (beyond today's prototype RBAC), installer. Phase 2: authoritative/indigenous data and fusion if access is granted, governed model evaluation, maneuver-planning research. Phase 3: possible national ops-cell deployment (a planned scaling path, not yet built or measured).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Ecosystem: today only public CelesTrak data; no partner integration exists, and nothing is integrated with ISRO, IS4OM, NETRA, DRDO or any government system. Proposed (not agreed) pathways: ISRO IS4OM/NETRA as a possible future data source for a complementary console, a possible DRDO methodology review (no engagement exists), IN-SPACe and private NGEs as potential users or data partners (e.g. Digantara, whose SCOT SSA satellite launched 14 Jan 2025), and IISc/IIT for covariance realism and a possible teaching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space-safety decisions deserve tools that can be run locally and inspected. ANTARIKSHA-RAKSHA is a working prototype on one laptop with zero software license cost, using a simplified analytic Pc indicator and a human decision at every step. The code is in a private repository, available for evaluation. The ask: mentorship and pilot evaluation, help with hardening, and access to authoritative data. End on the name: 'protection of space'.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hyperlink" Target="https://github.com/SEJUNK/antariksha-raksha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hyperlink" Target="https://github.com/SEJUNK/antariksha-raksha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1830">
                  <a:alpha val="100000"/>
                </a:srgbClr>
              </a:gs>
              <a:gs pos="42000">
                <a:srgbClr val="060B18">
                  <a:alpha val="100000"/>
                </a:srgbClr>
              </a:gs>
              <a:gs pos="100000">
                <a:srgbClr val="04060D">
                  <a:alpha val="100000"/>
                </a:srgbClr>
              </a:gs>
            </a:gsLst>
            <a:path path="circle">
              <a:fillToRect l="78000" t="12000" r="22000" b="88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49000" y="762000"/>
            <a:ext cx="8763000" cy="8763000"/>
          </a:xfrm>
          <a:prstGeom prst="ellipse">
            <a:avLst/>
          </a:prstGeom>
          <a:solidFill>
            <a:srgbClr val="56D8D0">
              <a:alpha val="16000"/>
            </a:srgbClr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762000"/>
            <a:ext cx="8763000" cy="876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80" y="0"/>
            <a:ext cx="9509721" cy="10287000"/>
          </a:xfrm>
          <a:prstGeom prst="rect">
            <a:avLst/>
          </a:prstGeom>
          <a:gradFill rotWithShape="1">
            <a:gsLst>
              <a:gs pos="8000">
                <a:srgbClr val="04060D">
                  <a:alpha val="100000"/>
                </a:srgbClr>
              </a:gs>
              <a:gs pos="42000">
                <a:srgbClr val="04060D">
                  <a:alpha val="55000"/>
                </a:srgbClr>
              </a:gs>
              <a:gs pos="100000">
                <a:srgbClr val="04060D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57250" y="2274292"/>
            <a:ext cx="323850" cy="9525"/>
          </a:xfrm>
          <a:prstGeom prst="rect">
            <a:avLst/>
          </a:prstGeom>
          <a:solidFill>
            <a:srgbClr val="F5B544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14450" y="2186980"/>
            <a:ext cx="1024128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7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CHALLENGE: SOVEREIGN TECHNOLOGY FOR INDIA · TRACK 03 — DEFENSE &amp; STRATEGIC TECH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57250" y="2656880"/>
            <a:ext cx="10988040" cy="215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59"/>
              </a:lnSpc>
              <a:buNone/>
            </a:pPr>
            <a:r>
              <a:rPr lang="en-US" sz="8850" b="1" spc="-265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ANTARIKSHA</a:t>
            </a:r>
            <a:pPr algn="l" indent="0" marL="0">
              <a:lnSpc>
                <a:spcPct val="81559"/>
              </a:lnSpc>
              <a:buNone/>
            </a:pPr>
            <a:r>
              <a:rPr lang="en-US" sz="8850" b="1" spc="-265" kern="0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algn="l" indent="0" marL="0">
              <a:lnSpc>
                <a:spcPct val="81559"/>
              </a:lnSpc>
              <a:buNone/>
            </a:pPr>
            <a:r>
              <a:rPr lang="en-US" sz="8850" b="1" spc="-265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RAKSHA</a:t>
            </a:r>
            <a:endParaRPr lang="en-US" sz="8850" dirty="0"/>
          </a:p>
        </p:txBody>
      </p:sp>
      <p:sp>
        <p:nvSpPr>
          <p:cNvPr id="10" name="Text 7"/>
          <p:cNvSpPr/>
          <p:nvPr/>
        </p:nvSpPr>
        <p:spPr>
          <a:xfrm>
            <a:off x="857250" y="5017493"/>
            <a:ext cx="8044815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2250" dirty="0">
                <a:solidFill>
                  <a:srgbClr val="E6E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locally-run SSA decision-support console for India's satellites.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857250" y="5939433"/>
            <a:ext cx="8437245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protected assets for close approaches and proximity patterns with SGP4, estimates risk with a simplified analytic Pc indicator, and drafts briefs with a local AI model — </a:t>
            </a:r>
            <a:pPr algn="l" indent="0" marL="0">
              <a:lnSpc>
                <a:spcPct val="132692"/>
              </a:lnSpc>
              <a:buNone/>
            </a:pPr>
            <a:r>
              <a:rPr lang="en-US" sz="1725" dirty="0">
                <a:solidFill>
                  <a:srgbClr val="E6E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made by a human, audited.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857250" y="7249120"/>
            <a:ext cx="1178620" cy="361950"/>
          </a:xfrm>
          <a:prstGeom prst="roundRect">
            <a:avLst>
              <a:gd name="adj" fmla="val 50000"/>
            </a:avLst>
          </a:prstGeom>
          <a:solidFill>
            <a:srgbClr val="56D8D0">
              <a:alpha val="6000"/>
            </a:srgbClr>
          </a:solidFill>
          <a:ln w="6350">
            <a:solidFill>
              <a:srgbClr val="56D8D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06475" y="7341195"/>
            <a:ext cx="95637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CDD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AI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31120" y="7249120"/>
            <a:ext cx="1794669" cy="361950"/>
          </a:xfrm>
          <a:prstGeom prst="roundRect">
            <a:avLst>
              <a:gd name="adj" fmla="val 50000"/>
            </a:avLst>
          </a:prstGeom>
          <a:solidFill>
            <a:srgbClr val="56D8D0">
              <a:alpha val="6000"/>
            </a:srgbClr>
          </a:solidFill>
          <a:ln w="6350">
            <a:solidFill>
              <a:srgbClr val="56D8D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280345" y="7341195"/>
            <a:ext cx="157241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CDD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license fees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021038" y="7249120"/>
            <a:ext cx="2322711" cy="361950"/>
          </a:xfrm>
          <a:prstGeom prst="roundRect">
            <a:avLst>
              <a:gd name="adj" fmla="val 50000"/>
            </a:avLst>
          </a:prstGeom>
          <a:solidFill>
            <a:srgbClr val="56D8D0">
              <a:alpha val="6000"/>
            </a:srgbClr>
          </a:solidFill>
          <a:ln w="6350">
            <a:solidFill>
              <a:srgbClr val="56D8D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170263" y="7341195"/>
            <a:ext cx="21004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CDD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after TLE fetch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38999" y="7249120"/>
            <a:ext cx="2392462" cy="361950"/>
          </a:xfrm>
          <a:prstGeom prst="roundRect">
            <a:avLst>
              <a:gd name="adj" fmla="val 50000"/>
            </a:avLst>
          </a:prstGeom>
          <a:solidFill>
            <a:srgbClr val="F5B544">
              <a:alpha val="7000"/>
            </a:srgbClr>
          </a:solidFill>
          <a:ln w="6350">
            <a:solidFill>
              <a:srgbClr val="F5B54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588224" y="7341195"/>
            <a:ext cx="217021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CDD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components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26711" y="7249120"/>
            <a:ext cx="2587129" cy="361950"/>
          </a:xfrm>
          <a:prstGeom prst="roundRect">
            <a:avLst>
              <a:gd name="adj" fmla="val 50000"/>
            </a:avLst>
          </a:prstGeom>
          <a:solidFill>
            <a:srgbClr val="F5B544"/>
          </a:solidFill>
          <a:ln w="6350">
            <a:solidFill>
              <a:srgbClr val="F5B54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075936" y="7341195"/>
            <a:ext cx="236629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0A0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on one laptop — today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57250" y="7965083"/>
            <a:ext cx="85725" cy="85725"/>
          </a:xfrm>
          <a:prstGeom prst="ellipse">
            <a:avLst/>
          </a:prstGeom>
          <a:solidFill>
            <a:srgbClr val="56D8D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57275" y="7915870"/>
            <a:ext cx="17049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prototype ·</a:t>
            </a:r>
            <a:endParaRPr lang="en-US" sz="1125" dirty="0"/>
          </a:p>
        </p:txBody>
      </p:sp>
      <p:sp>
        <p:nvSpPr>
          <p:cNvPr id="24" name="Text 21">
            <a:hlinkClick r:id="rId3" tooltip=""/>
          </p:cNvPr>
          <p:cNvSpPr/>
          <p:nvPr/>
        </p:nvSpPr>
        <p:spPr>
          <a:xfrm>
            <a:off x="2800350" y="7915870"/>
            <a:ext cx="566928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submission repository — code available for evaluation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B61">
                  <a:alpha val="10000"/>
                </a:srgbClr>
              </a:gs>
              <a:gs pos="55000">
                <a:srgbClr val="FF6B61">
                  <a:alpha val="0"/>
                </a:srgbClr>
              </a:gs>
            </a:gsLst>
            <a:path path="circle">
              <a:fillToRect l="88000" t="8000" r="12000" b="92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666750"/>
            <a:ext cx="320295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PROBLEM STATEMENT · 1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02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060450"/>
            <a:ext cx="14668500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740"/>
              </a:lnSpc>
              <a:buNone/>
            </a:pPr>
            <a:r>
              <a:rPr lang="en-US" sz="4350" b="1" spc="-78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most critical infrastructure isn't on the ground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838200" y="2004913"/>
            <a:ext cx="180975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5375" y="2004913"/>
            <a:ext cx="9327469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satellite fleet </a:t>
            </a:r>
            <a:pPr algn="l" indent="0" marL="0">
              <a:lnSpc>
                <a:spcPct val="130263"/>
              </a:lnSpc>
              <a:buNone/>
            </a:pPr>
            <a:r>
              <a:rPr lang="en-US" sz="165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underpins daily national life — NavIC positioning, GSAT defense communications, Cartosat/RISAT border surveillance and disaster response.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830413"/>
            <a:ext cx="180975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5375" y="2830413"/>
            <a:ext cx="9327469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63"/>
              </a:lnSpc>
              <a:buNone/>
            </a:pPr>
            <a:r>
              <a:rPr lang="en-US" sz="165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fly among </a:t>
            </a:r>
            <a:pPr algn="l" indent="0" marL="0">
              <a:lnSpc>
                <a:spcPct val="1302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~40,000 tracked objects </a:t>
            </a:r>
            <a:pPr algn="l" indent="0" marL="0">
              <a:lnSpc>
                <a:spcPct val="130263"/>
              </a:lnSpc>
              <a:buNone/>
            </a:pPr>
            <a:r>
              <a:rPr lang="en-US" sz="165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(ESA, 2025); ~2,700 satellites were launched in 2024 (SIA), mostly for large constellations.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38200" y="3655913"/>
            <a:ext cx="1809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5375" y="3655913"/>
            <a:ext cx="932746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63"/>
              </a:lnSpc>
              <a:buNone/>
            </a:pPr>
            <a:r>
              <a:rPr lang="en-US" sz="165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Collisions can cascade: debris from the 2007 Fengyun-1C ASAT test and the 2009 Iridium–Cosmos collision still occupies orbits used by Indian EO satellites.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38200" y="4475063"/>
            <a:ext cx="1809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5375" y="4475063"/>
            <a:ext cx="932746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63"/>
              </a:lnSpc>
              <a:buNone/>
            </a:pPr>
            <a:r>
              <a:rPr lang="en-US" sz="165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Rendezvous and proximity operations near other spacecraft are publicly reported worldwide — sustained proximity merits human review, without inferring intent.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551220" y="2004913"/>
            <a:ext cx="6898581" cy="1809750"/>
          </a:xfrm>
          <a:prstGeom prst="roundRect">
            <a:avLst>
              <a:gd name="adj" fmla="val 8421"/>
            </a:avLst>
          </a:prstGeom>
          <a:gradFill rotWithShape="1">
            <a:gsLst>
              <a:gs pos="0">
                <a:srgbClr val="FF6B61">
                  <a:alpha val="8000"/>
                </a:srgbClr>
              </a:gs>
              <a:gs pos="100000">
                <a:srgbClr val="FF6B61">
                  <a:alpha val="2000"/>
                </a:srgbClr>
              </a:gs>
            </a:gsLst>
            <a:lin ang="5400000" scaled="0"/>
          </a:gradFill>
          <a:ln w="6350">
            <a:solidFill>
              <a:srgbClr val="FF6B6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843320" y="2277963"/>
            <a:ext cx="694581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8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STAKES PER ASSET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843320" y="2551013"/>
            <a:ext cx="694581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assets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843320" y="3027263"/>
            <a:ext cx="650381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1350" dirty="0">
                <a:solidFill>
                  <a:srgbClr val="C1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satellite is a major national investment — plus navigation, banking-timestamp and cyclone-warning services no rupee figure captures.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551220" y="4005163"/>
            <a:ext cx="6898581" cy="1333500"/>
          </a:xfrm>
          <a:prstGeom prst="roundRect">
            <a:avLst>
              <a:gd name="adj" fmla="val 11429"/>
            </a:avLst>
          </a:prstGeom>
          <a:gradFill rotWithShape="1">
            <a:gsLst>
              <a:gs pos="0">
                <a:srgbClr val="56D8D0">
                  <a:alpha val="7000"/>
                </a:srgbClr>
              </a:gs>
              <a:gs pos="100000">
                <a:srgbClr val="56D8D0">
                  <a:alpha val="2000"/>
                </a:srgbClr>
              </a:gs>
            </a:gsLst>
            <a:lin ang="5400000" scaled="0"/>
          </a:gradFill>
          <a:ln w="6350">
            <a:solidFill>
              <a:srgbClr val="56D8D0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843320" y="4278213"/>
            <a:ext cx="694581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ORBITAL COMMONS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0843320" y="4551263"/>
            <a:ext cx="650381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1350" dirty="0">
                <a:solidFill>
                  <a:srgbClr val="C1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is a </a:t>
            </a:r>
            <a:pPr algn="l" indent="0" marL="0">
              <a:lnSpc>
                <a:spcPct val="13064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natural resource. </a:t>
            </a:r>
            <a:pPr algn="l" indent="0" marL="0">
              <a:lnSpc>
                <a:spcPct val="130645"/>
              </a:lnSpc>
              <a:buNone/>
            </a:pPr>
            <a:r>
              <a:rPr lang="en-US" sz="1350" dirty="0">
                <a:solidFill>
                  <a:srgbClr val="C1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Avoiding debris-generating collisions helps keep orbits usable for future Indian missions.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5B544">
                  <a:alpha val="8000"/>
                </a:srgbClr>
              </a:gs>
              <a:gs pos="55000">
                <a:srgbClr val="F5B544">
                  <a:alpha val="0"/>
                </a:srgbClr>
              </a:gs>
            </a:gsLst>
            <a:path path="circle">
              <a:fillToRect l="12000" t="100000" r="88000" b="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666750"/>
            <a:ext cx="320295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PROBLEM STATEMENT · 2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03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060450"/>
            <a:ext cx="18272760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740"/>
              </a:lnSpc>
              <a:buNone/>
            </a:pPr>
            <a:r>
              <a:rPr lang="en-US" sz="4350" b="1" spc="-78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decision-support gap in space situational awareness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38200" y="2043013"/>
            <a:ext cx="5372100" cy="2362002"/>
          </a:xfrm>
          <a:prstGeom prst="roundRect">
            <a:avLst>
              <a:gd name="adj" fmla="val 6452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30300" y="2354163"/>
            <a:ext cx="526669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8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CONTEXT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30300" y="2646263"/>
            <a:ext cx="4931537" cy="1485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already has SSA capability — </a:t>
            </a:r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ISRO's IS4OM and the NETRA programme </a:t>
            </a:r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sensing and cataloguing. This prototype explores a complementary, operator-facing decision-support layer — not a replacement, and not integrated with them.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57950" y="2043013"/>
            <a:ext cx="5372100" cy="2362002"/>
          </a:xfrm>
          <a:prstGeom prst="roundRect">
            <a:avLst>
              <a:gd name="adj" fmla="val 6452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50050" y="2354163"/>
            <a:ext cx="526669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COMMERCIAL LANDSCAPE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750050" y="2646263"/>
            <a:ext cx="4931537" cy="1196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commercial SSA services are </a:t>
            </a:r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as cloud services with proprietary models </a:t>
            </a:r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 and paid tiers exist).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77700" y="2043013"/>
            <a:ext cx="5372100" cy="2362002"/>
          </a:xfrm>
          <a:prstGeom prst="roundRect">
            <a:avLst>
              <a:gd name="adj" fmla="val 6452"/>
            </a:avLst>
          </a:prstGeom>
          <a:gradFill rotWithShape="1">
            <a:gsLst>
              <a:gs pos="0">
                <a:srgbClr val="56D8D0">
                  <a:alpha val="8000"/>
                </a:srgbClr>
              </a:gs>
              <a:gs pos="100000">
                <a:srgbClr val="56D8D0">
                  <a:alpha val="2000"/>
                </a:srgbClr>
              </a:gs>
            </a:gsLst>
            <a:lin ang="5400000" scaled="0"/>
          </a:gradFill>
          <a:ln w="6350">
            <a:solidFill>
              <a:srgbClr val="56D8D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369801" y="2354163"/>
            <a:ext cx="526669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WHAT INDIA NEEDS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369801" y="2646263"/>
            <a:ext cx="4931537" cy="1196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auditable, affordable, locally-run </a:t>
            </a:r>
            <a:pPr algn="l" indent="0" marL="0">
              <a:lnSpc>
                <a:spcPct val="134118"/>
              </a:lnSpc>
              <a:buNone/>
            </a:pPr>
            <a:r>
              <a:rPr lang="en-US" sz="1500" dirty="0">
                <a:solidFill>
                  <a:srgbClr val="C9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and decision-support layer an authorized operator can run — offline after the first data download — with a human in command of every decision.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8200" y="9036050"/>
            <a:ext cx="166116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8200" y="9290050"/>
            <a:ext cx="400065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what we prototyped.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646613" y="9318625"/>
            <a:ext cx="456404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an operational system.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6D8D0">
                  <a:alpha val="7000"/>
                </a:srgbClr>
              </a:gs>
              <a:gs pos="60000">
                <a:srgbClr val="56D8D0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666750"/>
            <a:ext cx="117445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04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041400"/>
            <a:ext cx="18272760" cy="582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30"/>
              </a:lnSpc>
              <a:buNone/>
            </a:pPr>
            <a:r>
              <a:rPr lang="en-US" sz="4200" b="1" spc="-76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 → Reason → Execute, with a human at the trigger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38200" y="1966416"/>
            <a:ext cx="5384800" cy="7145834"/>
          </a:xfrm>
          <a:prstGeom prst="roundRect">
            <a:avLst>
              <a:gd name="adj" fmla="val 283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4550" y="1972767"/>
            <a:ext cx="5372100" cy="628650"/>
          </a:xfrm>
          <a:prstGeom prst="rect">
            <a:avLst/>
          </a:prstGeom>
          <a:solidFill>
            <a:srgbClr val="56D8D0">
              <a:alpha val="10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44550" y="2595066"/>
            <a:ext cx="5372100" cy="9525"/>
          </a:xfrm>
          <a:prstGeom prst="rect">
            <a:avLst/>
          </a:prstGeom>
          <a:solidFill>
            <a:srgbClr val="56D8D0">
              <a:alpha val="25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2200" y="2201367"/>
            <a:ext cx="2751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05434" y="2144217"/>
            <a:ext cx="142122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92200" y="2849067"/>
            <a:ext cx="5023104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94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orbital data (CelesTrak GP/TLE) for Indian assets, debris, other active satellites.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2200" y="3542407"/>
            <a:ext cx="5364480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94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TLE cache: </a:t>
            </a:r>
            <a:pPr algn="l" indent="0" marL="0">
              <a:lnSpc>
                <a:spcPct val="125294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without network after first fetch.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2200" y="3965277"/>
            <a:ext cx="5364480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94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SGP4 propagation of every orbit on a shared time grid.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51600" y="1966416"/>
            <a:ext cx="5384800" cy="7145834"/>
          </a:xfrm>
          <a:prstGeom prst="roundRect">
            <a:avLst>
              <a:gd name="adj" fmla="val 283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57950" y="1972767"/>
            <a:ext cx="5372100" cy="628650"/>
          </a:xfrm>
          <a:prstGeom prst="rect">
            <a:avLst/>
          </a:prstGeom>
          <a:solidFill>
            <a:srgbClr val="F5B544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57950" y="2595066"/>
            <a:ext cx="5372100" cy="9525"/>
          </a:xfrm>
          <a:prstGeom prst="rect">
            <a:avLst/>
          </a:prstGeom>
          <a:solidFill>
            <a:srgbClr val="F5B544">
              <a:alpha val="28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05600" y="2201367"/>
            <a:ext cx="2751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018834" y="2144217"/>
            <a:ext cx="11518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705600" y="2849067"/>
            <a:ext cx="50231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(10 km) + refined TCA + </a:t>
            </a:r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analytic </a:t>
            </a:r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indicator — NOT an operational covariance-based Pc.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05600" y="3515817"/>
            <a:ext cx="50231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Proximity-pattern dwell detection (25 km watch, approach geometry).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05600" y="4182567"/>
            <a:ext cx="50231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Criticality-weighted priority: Tier 1 strategic → Tier 3 civil.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05600" y="4849317"/>
            <a:ext cx="50231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drafts each brief; a deterministic fact check plus a same-model second pass check it (not independent validation); template fallback if AI is down.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065001" y="1966416"/>
            <a:ext cx="5384800" cy="7145834"/>
          </a:xfrm>
          <a:prstGeom prst="roundRect">
            <a:avLst>
              <a:gd name="adj" fmla="val 2830"/>
            </a:avLst>
          </a:prstGeom>
          <a:gradFill rotWithShape="1">
            <a:gsLst>
              <a:gs pos="0">
                <a:srgbClr val="56D8D0">
                  <a:alpha val="6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6350">
            <a:solidFill>
              <a:srgbClr val="56D8D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2071350" y="1972767"/>
            <a:ext cx="5372100" cy="628650"/>
          </a:xfrm>
          <a:prstGeom prst="rect">
            <a:avLst/>
          </a:prstGeom>
          <a:solidFill>
            <a:srgbClr val="56D8D0">
              <a:alpha val="14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2071350" y="2595066"/>
            <a:ext cx="5372100" cy="9525"/>
          </a:xfrm>
          <a:prstGeom prst="rect">
            <a:avLst/>
          </a:prstGeom>
          <a:solidFill>
            <a:srgbClr val="56D8D0">
              <a:alpha val="35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319000" y="2201367"/>
            <a:ext cx="2751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2632234" y="2144217"/>
            <a:ext cx="13248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6269792" y="2182317"/>
            <a:ext cx="926009" cy="203200"/>
          </a:xfrm>
          <a:prstGeom prst="roundRect">
            <a:avLst>
              <a:gd name="adj" fmla="val 23438"/>
            </a:avLst>
          </a:prstGeom>
          <a:solidFill>
            <a:srgbClr val="56D8D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355517" y="2220417"/>
            <a:ext cx="83075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HUMAN-GATED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319000" y="2849067"/>
            <a:ext cx="502310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sees brief, numbers, separation chart, illustrative Δv estimate (not a maneuver plan or recommendation) — then </a:t>
            </a:r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approves, acknowledges or dismisses with a reason.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19000" y="3840480"/>
            <a:ext cx="5364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reasons feed future prompts (no model training).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319000" y="4242816"/>
            <a:ext cx="502310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RBAC: only OPERATOR+ can decide; audit records user + role. Optional Telegram alerts.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620" y="9359900"/>
            <a:ext cx="1827276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autonomous at the decision point </a:t>
            </a:r>
            <a:pPr algn="ctr" indent="0" marL="0">
              <a:buNone/>
            </a:pPr>
            <a:r>
              <a:rPr lang="en-US" sz="1575" dirty="0">
                <a:solidFill>
                  <a:srgbClr val="AEB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decision-support only: there is no command path to any spacecraft.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66750"/>
            <a:ext cx="191214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WORKING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05 /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04140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spc="-76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Built. Tested. Running on a consumer laptop.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8200" y="1898650"/>
            <a:ext cx="8681442" cy="7308850"/>
          </a:xfrm>
          <a:prstGeom prst="roundRect">
            <a:avLst>
              <a:gd name="adj" fmla="val 2085"/>
            </a:avLst>
          </a:prstGeom>
          <a:ln w="6350">
            <a:solidFill>
              <a:srgbClr val="56D8D0">
                <a:alpha val="28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23" name="Console screenshot" descr="Screenshot of the running ANTARIKSHA-RAKSHA console on live CelesTrak data, 2 Oct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3438528"/>
            <a:ext cx="8407122" cy="4595362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977900" y="2038350"/>
            <a:ext cx="4526280" cy="254000"/>
          </a:xfrm>
          <a:prstGeom prst="roundRect">
            <a:avLst>
              <a:gd name="adj" fmla="val 22500"/>
            </a:avLst>
          </a:prstGeom>
          <a:solidFill>
            <a:srgbClr val="04060D">
              <a:alpha val="70000"/>
            </a:srgbClr>
          </a:solidFill>
          <a:ln w="6350">
            <a:solidFill>
              <a:srgbClr val="56D8D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9025" y="2092325"/>
            <a:ext cx="43434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SCREENSHOT · LIVE DATA · 2 OCT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00642" y="1898650"/>
            <a:ext cx="3698280" cy="1092200"/>
          </a:xfrm>
          <a:prstGeom prst="roundRect">
            <a:avLst>
              <a:gd name="adj" fmla="val 12209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35593" y="1975104"/>
            <a:ext cx="355121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42"/>
              </a:lnSpc>
              <a:buNone/>
            </a:pPr>
            <a:r>
              <a:rPr lang="en-US" sz="3450" b="1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0135593" y="2468880"/>
            <a:ext cx="355121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PROPAGATE + SCREEN</a:t>
            </a:r>
            <a:b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LOCAL RUN · 2 OCT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51322" y="1898650"/>
            <a:ext cx="3698379" cy="1092200"/>
          </a:xfrm>
          <a:prstGeom prst="roundRect">
            <a:avLst>
              <a:gd name="adj" fmla="val 12209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986272" y="1975104"/>
            <a:ext cx="355132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42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3986272" y="2468880"/>
            <a:ext cx="3551327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 INGESTED</a:t>
            </a:r>
            <a:b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CELESTRAK · 2 OCT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00642" y="3143250"/>
            <a:ext cx="3698280" cy="1092200"/>
          </a:xfrm>
          <a:prstGeom prst="roundRect">
            <a:avLst>
              <a:gd name="adj" fmla="val 12209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135593" y="3218688"/>
            <a:ext cx="355121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42"/>
              </a:lnSpc>
              <a:buNone/>
            </a:pPr>
            <a:r>
              <a:rPr lang="en-US" sz="345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775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0135593" y="3712463"/>
            <a:ext cx="355121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TESTS PASSED</a:t>
            </a:r>
            <a:b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80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613 BACKEND + 162 UI · 5 OCT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51322" y="3143250"/>
            <a:ext cx="3698379" cy="1092200"/>
          </a:xfrm>
          <a:prstGeom prst="roundRect">
            <a:avLst>
              <a:gd name="adj" fmla="val 12209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986272" y="3218688"/>
            <a:ext cx="355132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42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3986272" y="3712463"/>
            <a:ext cx="3551327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DECISIONS ARE MADE</a:t>
            </a:r>
            <a:b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108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A HUMAN — BY 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00642" y="4387850"/>
            <a:ext cx="7549059" cy="1784251"/>
          </a:xfrm>
          <a:prstGeom prst="roundRect">
            <a:avLst>
              <a:gd name="adj" fmla="val 7474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135592" y="4584700"/>
            <a:ext cx="7305631" cy="1428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24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3D console: time-lapse globe with SGP4-propagated tracks, priority-ranked event feed, per-event drawer with AI brief and one-click decisions · LIVE / CACHED / DEMO data-mode labels · separation-profile chart, TLE confidence, CSV + Word/PDF incident export · 11-language UI ·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controlled </a:t>
            </a: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scenarios, clearly marked DEMO.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8200" y="9436100"/>
            <a:ext cx="1827276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</a:t>
            </a:r>
            <a:pPr algn="l" indent="0" marL="0">
              <a:buNone/>
            </a:pPr>
            <a:r>
              <a:rPr lang="en-US" sz="1125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FastAPI · SQLite · skyfield/SGP4 · NumPy/SciPy · React · CesiumJS · Ollama (llama3.2) — </a:t>
            </a:r>
            <a:pPr algn="l" indent="0" marL="0">
              <a:buNone/>
            </a:pPr>
            <a:r>
              <a:rPr lang="en-US" sz="1125" dirty="0">
                <a:solidFill>
                  <a:srgbClr val="E6E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software + open-weight model, no paid API keys.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6D8D0">
                  <a:alpha val="7000"/>
                </a:srgbClr>
              </a:gs>
              <a:gs pos="55000">
                <a:srgbClr val="56D8D0">
                  <a:alpha val="0"/>
                </a:srgbClr>
              </a:gs>
            </a:gsLst>
            <a:path path="circle">
              <a:fillToRect l="90000" t="100000" r="10000" b="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666750"/>
            <a:ext cx="425910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TECHNOLOGY DIFFERENTIATION · 1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06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060450"/>
            <a:ext cx="1827276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78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transparent, guard-railed LLM brief pipeline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38200" y="1993900"/>
            <a:ext cx="8191500" cy="3698875"/>
          </a:xfrm>
          <a:prstGeom prst="roundRect">
            <a:avLst>
              <a:gd name="adj" fmla="val 412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9350" y="2286000"/>
            <a:ext cx="8326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Drafter + consistency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9350" y="2667000"/>
            <a:ext cx="77962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LLM writes each brief from the computed numbers; a deterministic fact check and a second pass of the same model check the draft against them — not independent validation.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twice → the human sees the flag, not a hidden failure.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58300" y="1993900"/>
            <a:ext cx="8191500" cy="3698875"/>
          </a:xfrm>
          <a:prstGeom prst="roundRect">
            <a:avLst>
              <a:gd name="adj" fmla="val 412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69450" y="2286000"/>
            <a:ext cx="8326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on every output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69450" y="2667000"/>
            <a:ext cx="779627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brief is chip-labeled: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AI-drafted + consistency status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deterministic template. The operator always knows what produced what they are reading.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8200" y="5921375"/>
            <a:ext cx="8191500" cy="3698875"/>
          </a:xfrm>
          <a:prstGeom prst="roundRect">
            <a:avLst>
              <a:gd name="adj" fmla="val 412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49350" y="6213475"/>
            <a:ext cx="8326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feedback — honestly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9350" y="6594475"/>
            <a:ext cx="77962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rejection reasons are added to future prompts (in-context feedback). We say exactly that —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weights change: no training, fine-tuning or RL.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prompt context, not learning.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58300" y="5921375"/>
            <a:ext cx="8191500" cy="3698875"/>
          </a:xfrm>
          <a:prstGeom prst="roundRect">
            <a:avLst>
              <a:gd name="adj" fmla="val 412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69450" y="6213475"/>
            <a:ext cx="8326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blocks; numbers from code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69450" y="6594475"/>
            <a:ext cx="779627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down → deterministic template brief + degraded-mode banner. Prompts forbid invented numbers and intent speculation; displayed numbers come from the backend —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 language stays factual and neutral.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66750"/>
            <a:ext cx="425910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TECHNOLOGY DIFFERENTIATION · 2 /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07 /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04140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spc="-76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alternatives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8200" y="1822450"/>
            <a:ext cx="16611600" cy="7797800"/>
          </a:xfrm>
          <a:prstGeom prst="roundRect">
            <a:avLst>
              <a:gd name="adj" fmla="val 1954"/>
            </a:avLst>
          </a:prstGeom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4550" y="1828800"/>
            <a:ext cx="4338340" cy="1023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182890" y="1828800"/>
            <a:ext cx="3772396" cy="1023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92440" y="2019300"/>
            <a:ext cx="3466468" cy="680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SSA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55286" y="1828800"/>
            <a:ext cx="3772495" cy="1023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64836" y="2019300"/>
            <a:ext cx="3466570" cy="680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warning feeds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727781" y="1828800"/>
            <a:ext cx="4715570" cy="1023144"/>
          </a:xfrm>
          <a:prstGeom prst="rect">
            <a:avLst/>
          </a:prstGeom>
          <a:solidFill>
            <a:srgbClr val="56D8D0">
              <a:alpha val="14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2727781" y="1828800"/>
            <a:ext cx="9525" cy="102314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962731" y="2019300"/>
            <a:ext cx="4393487" cy="680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ANTARIKSHA-RAKSHA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4550" y="2851944"/>
            <a:ext cx="433834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73150" y="3010694"/>
            <a:ext cx="401129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182890" y="2851944"/>
            <a:ext cx="3772396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92440" y="3010694"/>
            <a:ext cx="3466468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services (e.g., LeoLabs)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8955286" y="2851944"/>
            <a:ext cx="377249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64836" y="3010694"/>
            <a:ext cx="346657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government source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2727781" y="2851944"/>
            <a:ext cx="4715570" cy="965994"/>
          </a:xfrm>
          <a:prstGeom prst="rect">
            <a:avLst/>
          </a:prstGeom>
          <a:solidFill>
            <a:srgbClr val="56D8D0">
              <a:alpha val="5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2727781" y="2851944"/>
            <a:ext cx="4715570" cy="9525"/>
          </a:xfrm>
          <a:prstGeom prst="rect">
            <a:avLst/>
          </a:prstGeom>
          <a:solidFill>
            <a:srgbClr val="56D8D0">
              <a:alpha val="20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2727781" y="2851944"/>
            <a:ext cx="9525" cy="96599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962731" y="3010694"/>
            <a:ext cx="4393487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844550" y="3817938"/>
            <a:ext cx="433834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73150" y="3976688"/>
            <a:ext cx="401129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5182890" y="3817938"/>
            <a:ext cx="3772396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92440" y="3976688"/>
            <a:ext cx="3466468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Cloud; free and paid tiers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8955286" y="3817938"/>
            <a:ext cx="377249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64836" y="3976688"/>
            <a:ext cx="346657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API delivery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12727781" y="3817938"/>
            <a:ext cx="4715570" cy="965994"/>
          </a:xfrm>
          <a:prstGeom prst="rect">
            <a:avLst/>
          </a:prstGeom>
          <a:solidFill>
            <a:srgbClr val="56D8D0">
              <a:alpha val="5000"/>
            </a:srgbClr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2727781" y="3817938"/>
            <a:ext cx="4715570" cy="9525"/>
          </a:xfrm>
          <a:prstGeom prst="rect">
            <a:avLst/>
          </a:prstGeom>
          <a:solidFill>
            <a:srgbClr val="56D8D0">
              <a:alpha val="20000"/>
            </a:srgbClr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2727781" y="3817938"/>
            <a:ext cx="9525" cy="96599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962731" y="3976688"/>
            <a:ext cx="4393487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laptop · offline-capable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844550" y="4783931"/>
            <a:ext cx="433834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73150" y="4942681"/>
            <a:ext cx="401129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5182890" y="4783931"/>
            <a:ext cx="3772396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392440" y="4942681"/>
            <a:ext cx="3466468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and paid tiers (varies)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8955286" y="4783931"/>
            <a:ext cx="377249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164836" y="4942681"/>
            <a:ext cx="346657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fee; access terms apply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12727781" y="4783931"/>
            <a:ext cx="4715570" cy="965994"/>
          </a:xfrm>
          <a:prstGeom prst="rect">
            <a:avLst/>
          </a:prstGeom>
          <a:solidFill>
            <a:srgbClr val="56D8D0">
              <a:alpha val="5000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2727781" y="4783931"/>
            <a:ext cx="4715570" cy="9525"/>
          </a:xfrm>
          <a:prstGeom prst="rect">
            <a:avLst/>
          </a:prstGeom>
          <a:solidFill>
            <a:srgbClr val="56D8D0">
              <a:alpha val="20000"/>
            </a:srgbClr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2727781" y="4783931"/>
            <a:ext cx="9525" cy="96599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962731" y="4942681"/>
            <a:ext cx="4393487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software license cost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844550" y="5749925"/>
            <a:ext cx="433834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73150" y="5908675"/>
            <a:ext cx="401129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TRANSPARENCY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5182890" y="5749925"/>
            <a:ext cx="3772396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392440" y="5908675"/>
            <a:ext cx="3466468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 by vendor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8955286" y="5749925"/>
            <a:ext cx="377249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164836" y="5908675"/>
            <a:ext cx="346657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applicable (data feed)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2727781" y="5749925"/>
            <a:ext cx="4715570" cy="965994"/>
          </a:xfrm>
          <a:prstGeom prst="rect">
            <a:avLst/>
          </a:prstGeom>
          <a:solidFill>
            <a:srgbClr val="56D8D0">
              <a:alpha val="5000"/>
            </a:srgbClr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2727781" y="5749925"/>
            <a:ext cx="4715570" cy="9525"/>
          </a:xfrm>
          <a:prstGeom prst="rect">
            <a:avLst/>
          </a:prstGeom>
          <a:solidFill>
            <a:srgbClr val="56D8D0">
              <a:alpha val="20000"/>
            </a:srgbClr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2727781" y="5749925"/>
            <a:ext cx="9525" cy="96599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2962731" y="5908675"/>
            <a:ext cx="4393487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open-weights LLM, provenance-labeled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844550" y="6715919"/>
            <a:ext cx="433834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073150" y="6874669"/>
            <a:ext cx="401129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CONTROL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5182890" y="6715919"/>
            <a:ext cx="3772396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392440" y="6874669"/>
            <a:ext cx="3466468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8955286" y="6715919"/>
            <a:ext cx="377249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9164836" y="6874669"/>
            <a:ext cx="346657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12727781" y="6715919"/>
            <a:ext cx="4715570" cy="965994"/>
          </a:xfrm>
          <a:prstGeom prst="rect">
            <a:avLst/>
          </a:prstGeom>
          <a:solidFill>
            <a:srgbClr val="56D8D0">
              <a:alpha val="5000"/>
            </a:srgbClr>
          </a:solidFill>
          <a:ln/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2727781" y="6715919"/>
            <a:ext cx="4715570" cy="9525"/>
          </a:xfrm>
          <a:prstGeom prst="rect">
            <a:avLst/>
          </a:prstGeom>
          <a:solidFill>
            <a:srgbClr val="56D8D0">
              <a:alpha val="20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12727781" y="6715919"/>
            <a:ext cx="9525" cy="96599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2962731" y="6874669"/>
            <a:ext cx="4393487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 required — no command path</a:t>
            </a:r>
            <a:endParaRPr lang="en-US" sz="1275" dirty="0"/>
          </a:p>
        </p:txBody>
      </p:sp>
      <p:sp>
        <p:nvSpPr>
          <p:cNvPr id="64" name="Shape 62"/>
          <p:cNvSpPr/>
          <p:nvPr/>
        </p:nvSpPr>
        <p:spPr>
          <a:xfrm>
            <a:off x="844550" y="7681912"/>
            <a:ext cx="433834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073150" y="7840663"/>
            <a:ext cx="401129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RPO / PROXIMITY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5182890" y="7681912"/>
            <a:ext cx="3772396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392440" y="7840663"/>
            <a:ext cx="3466468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Offered by some (e.g., LeoLabs)</a:t>
            </a:r>
            <a:endParaRPr lang="en-US" sz="1275" dirty="0"/>
          </a:p>
        </p:txBody>
      </p:sp>
      <p:sp>
        <p:nvSpPr>
          <p:cNvPr id="68" name="Shape 66"/>
          <p:cNvSpPr/>
          <p:nvPr/>
        </p:nvSpPr>
        <p:spPr>
          <a:xfrm>
            <a:off x="8955286" y="7681912"/>
            <a:ext cx="377249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9164836" y="7840663"/>
            <a:ext cx="346657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Conjunction-focused</a:t>
            </a:r>
            <a:endParaRPr lang="en-US" sz="1275" dirty="0"/>
          </a:p>
        </p:txBody>
      </p:sp>
      <p:sp>
        <p:nvSpPr>
          <p:cNvPr id="70" name="Shape 68"/>
          <p:cNvSpPr/>
          <p:nvPr/>
        </p:nvSpPr>
        <p:spPr>
          <a:xfrm>
            <a:off x="12727781" y="7681912"/>
            <a:ext cx="4715570" cy="965994"/>
          </a:xfrm>
          <a:prstGeom prst="rect">
            <a:avLst/>
          </a:prstGeom>
          <a:solidFill>
            <a:srgbClr val="56D8D0">
              <a:alpha val="5000"/>
            </a:srgbClr>
          </a:solidFill>
          <a:ln/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12727781" y="7681912"/>
            <a:ext cx="4715570" cy="9525"/>
          </a:xfrm>
          <a:prstGeom prst="rect">
            <a:avLst/>
          </a:prstGeom>
          <a:solidFill>
            <a:srgbClr val="56D8D0">
              <a:alpha val="20000"/>
            </a:srgbClr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12727781" y="7681912"/>
            <a:ext cx="9525" cy="96599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2962731" y="7840663"/>
            <a:ext cx="4393487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Dwell-time detection, intent-neutral</a:t>
            </a:r>
            <a:endParaRPr lang="en-US" sz="1275" dirty="0"/>
          </a:p>
        </p:txBody>
      </p:sp>
      <p:sp>
        <p:nvSpPr>
          <p:cNvPr id="74" name="Shape 72"/>
          <p:cNvSpPr/>
          <p:nvPr/>
        </p:nvSpPr>
        <p:spPr>
          <a:xfrm>
            <a:off x="844550" y="8647906"/>
            <a:ext cx="433834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1073150" y="8806656"/>
            <a:ext cx="401129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AUDITABILITY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5182890" y="8647906"/>
            <a:ext cx="3772396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392440" y="8806656"/>
            <a:ext cx="3466468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1275" dirty="0"/>
          </a:p>
        </p:txBody>
      </p:sp>
      <p:sp>
        <p:nvSpPr>
          <p:cNvPr id="78" name="Shape 76"/>
          <p:cNvSpPr/>
          <p:nvPr/>
        </p:nvSpPr>
        <p:spPr>
          <a:xfrm>
            <a:off x="8955286" y="8647906"/>
            <a:ext cx="377249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9164836" y="8806656"/>
            <a:ext cx="3466570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1275" dirty="0"/>
          </a:p>
        </p:txBody>
      </p:sp>
      <p:sp>
        <p:nvSpPr>
          <p:cNvPr id="80" name="Shape 78"/>
          <p:cNvSpPr/>
          <p:nvPr/>
        </p:nvSpPr>
        <p:spPr>
          <a:xfrm>
            <a:off x="12727781" y="8647906"/>
            <a:ext cx="4715570" cy="965994"/>
          </a:xfrm>
          <a:prstGeom prst="rect">
            <a:avLst/>
          </a:prstGeom>
          <a:solidFill>
            <a:srgbClr val="56D8D0">
              <a:alpha val="5000"/>
            </a:srgbClr>
          </a:solidFill>
          <a:ln/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12727781" y="8647906"/>
            <a:ext cx="4715570" cy="9525"/>
          </a:xfrm>
          <a:prstGeom prst="rect">
            <a:avLst/>
          </a:prstGeom>
          <a:solidFill>
            <a:srgbClr val="56D8D0">
              <a:alpha val="20000"/>
            </a:srgbClr>
          </a:solidFill>
          <a:ln/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12727781" y="8647906"/>
            <a:ext cx="9525" cy="965994"/>
          </a:xfrm>
          <a:prstGeom prst="rect">
            <a:avLst/>
          </a:prstGeom>
          <a:solidFill>
            <a:srgbClr val="56D8D0">
              <a:alpha val="30000"/>
            </a:srgbClr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12962731" y="8806656"/>
            <a:ext cx="4393487" cy="69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 · CSV · incident reports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5B544">
                  <a:alpha val="7000"/>
                </a:srgbClr>
              </a:gs>
              <a:gs pos="55000">
                <a:srgbClr val="F5B544">
                  <a:alpha val="0"/>
                </a:srgbClr>
              </a:gs>
            </a:gsLst>
            <a:path path="circle">
              <a:fillToRect l="15000" t="10000" r="85000" b="90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666750"/>
            <a:ext cx="191214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IMPACT METRICS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08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04140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spc="-76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Single-run measurements on the demo laptop (2 Oct 2026)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38200" y="1917700"/>
            <a:ext cx="4010025" cy="1047750"/>
          </a:xfrm>
          <a:prstGeom prst="roundRect">
            <a:avLst>
              <a:gd name="adj" fmla="val 12727"/>
            </a:avLst>
          </a:prstGeom>
          <a:solidFill>
            <a:srgbClr val="56D8D0">
              <a:alpha val="5000"/>
            </a:srgbClr>
          </a:solidFill>
          <a:ln w="6350">
            <a:solidFill>
              <a:srgbClr val="56D8D0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459" y="1975104"/>
            <a:ext cx="41875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749459" y="2450592"/>
            <a:ext cx="418750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PROPAGATE + SCREEN</a:t>
            </a:r>
            <a:b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RUN · 2 OCT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38725" y="1917700"/>
            <a:ext cx="4010025" cy="1047750"/>
          </a:xfrm>
          <a:prstGeom prst="roundRect">
            <a:avLst>
              <a:gd name="adj" fmla="val 12727"/>
            </a:avLst>
          </a:prstGeom>
          <a:solidFill>
            <a:srgbClr val="56D8D0">
              <a:alpha val="5000"/>
            </a:srgbClr>
          </a:solidFill>
          <a:ln w="6350">
            <a:solidFill>
              <a:srgbClr val="56D8D0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49984" y="1975104"/>
            <a:ext cx="41875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4949984" y="2450592"/>
            <a:ext cx="418750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 INGESTED FROM CELESTRAK</a:t>
            </a:r>
            <a:b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OCT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9250" y="1917700"/>
            <a:ext cx="4010025" cy="1047750"/>
          </a:xfrm>
          <a:prstGeom prst="roundRect">
            <a:avLst>
              <a:gd name="adj" fmla="val 12727"/>
            </a:avLst>
          </a:prstGeom>
          <a:solidFill>
            <a:srgbClr val="56D8D0">
              <a:alpha val="5000"/>
            </a:srgbClr>
          </a:solidFill>
          <a:ln w="6350">
            <a:solidFill>
              <a:srgbClr val="56D8D0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50509" y="1975104"/>
            <a:ext cx="41875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775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150509" y="2450592"/>
            <a:ext cx="418750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TESTS PASSED</a:t>
            </a:r>
            <a:b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613 BACKEND + 162 UI · 5 OCT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439775" y="1917700"/>
            <a:ext cx="4010025" cy="1047750"/>
          </a:xfrm>
          <a:prstGeom prst="roundRect">
            <a:avLst>
              <a:gd name="adj" fmla="val 12727"/>
            </a:avLst>
          </a:prstGeom>
          <a:solidFill>
            <a:srgbClr val="56D8D0">
              <a:alpha val="5000"/>
            </a:srgbClr>
          </a:solidFill>
          <a:ln w="6350">
            <a:solidFill>
              <a:srgbClr val="56D8D0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351035" y="1975104"/>
            <a:ext cx="41875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351035" y="2450592"/>
            <a:ext cx="418750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LAPTOP</a:t>
            </a:r>
            <a:b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200" spc="83" kern="0" dirty="0">
                <a:solidFill>
                  <a:srgbClr val="9AA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DATACENTER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8200" y="3213100"/>
            <a:ext cx="5384800" cy="6407150"/>
          </a:xfrm>
          <a:prstGeom prst="roundRect">
            <a:avLst>
              <a:gd name="adj" fmla="val 283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30300" y="3486150"/>
            <a:ext cx="52806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RUNS · DEMO LAPTOP · 2 OCT 2026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130300" y="3778250"/>
            <a:ext cx="4944618" cy="1165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objects ingested from CelesTrak and 1,012 asset/object pairs screened; propagation + screening &lt; 1 s (0.18 s + 0.16 s, single run). Full refresh 11–35 s across 6 refreshes, network-dependent. 775 automated tests passed (613 backend + 162 frontend, 3 Oct 2026). Risk uses a simplified analytic Pc indicator — not an operational covariance-based Pc. Every decision is made by a human and kept in a persistent audit trail. Runs on one laptop — no datacenter.</a:t>
            </a:r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51600" y="3213100"/>
            <a:ext cx="5384800" cy="6407150"/>
          </a:xfrm>
          <a:prstGeom prst="roundRect">
            <a:avLst>
              <a:gd name="adj" fmla="val 283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43700" y="3486150"/>
            <a:ext cx="52806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SUSTAINABILITY IMPACT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743700" y="3778250"/>
            <a:ext cx="4944618" cy="1165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Debris-cascade avoidance is </a:t>
            </a:r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protection of the orbital commons </a:t>
            </a:r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LEO is a finite resource for future Indian missions. Local inference on one laptop avoids a datacenter footprint.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065001" y="3213100"/>
            <a:ext cx="5384800" cy="6407150"/>
          </a:xfrm>
          <a:prstGeom prst="roundRect">
            <a:avLst>
              <a:gd name="adj" fmla="val 2830"/>
            </a:avLst>
          </a:prstGeom>
          <a:gradFill rotWithShape="1">
            <a:gsLst>
              <a:gs pos="0">
                <a:srgbClr val="F5B544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6350">
            <a:solidFill>
              <a:srgbClr val="F5B544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357100" y="3486150"/>
            <a:ext cx="528066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ECONOMIC IMPACT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2357100" y="3778250"/>
            <a:ext cx="4944618" cy="1150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24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Satellites are high-value assets </a:t>
            </a:r>
            <a:pPr algn="l" indent="0" marL="0">
              <a:lnSpc>
                <a:spcPct val="128824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navigation, banking and disaster services are hard to price. The prototype has zero software license cost; operational deployment costs are not yet estimated.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1830">
                  <a:alpha val="100000"/>
                </a:srgbClr>
              </a:gs>
              <a:gs pos="45000">
                <a:srgbClr val="060B18">
                  <a:alpha val="100000"/>
                </a:srgbClr>
              </a:gs>
              <a:gs pos="100000">
                <a:srgbClr val="04060D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666750"/>
            <a:ext cx="202947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THEME ALIGNMENT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09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38200" y="104140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spc="-76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&amp; Resilient India — in orbit and on the ground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38200" y="1936750"/>
            <a:ext cx="5384800" cy="7124700"/>
          </a:xfrm>
          <a:prstGeom prst="roundRect">
            <a:avLst>
              <a:gd name="adj" fmla="val 2830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9350" y="2247900"/>
            <a:ext cx="5238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68" kern="0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9350" y="2730500"/>
            <a:ext cx="490537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is the invisible backbone of payments, navigation, telemedicine, and cyclone warnings. A locally-run decision-support layer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working offline after the first data download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cached data, AI fallback, graceful degradation.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51600" y="1936750"/>
            <a:ext cx="5384800" cy="7124700"/>
          </a:xfrm>
          <a:prstGeom prst="roundRect">
            <a:avLst>
              <a:gd name="adj" fmla="val 2830"/>
            </a:avLst>
          </a:prstGeom>
          <a:gradFill rotWithShape="1">
            <a:gsLst>
              <a:gs pos="0">
                <a:srgbClr val="F5B544">
                  <a:alpha val="6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6350">
            <a:solidFill>
              <a:srgbClr val="F5B544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62750" y="2247900"/>
            <a:ext cx="5238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68" kern="0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SELF-RELIANT BY DESIGN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762750" y="2730500"/>
            <a:ext cx="49053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open-source components and a local open-weight model — no cloud AI, no license fees. Orbital data still comes from CelesTrak today.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so whoever deploys it can run and inspect it locally.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65001" y="1936750"/>
            <a:ext cx="5384800" cy="7124700"/>
          </a:xfrm>
          <a:prstGeom prst="roundRect">
            <a:avLst>
              <a:gd name="adj" fmla="val 2830"/>
            </a:avLst>
          </a:prstGeom>
          <a:gradFill rotWithShape="1">
            <a:gsLst>
              <a:gs pos="0">
                <a:srgbClr val="7FE3B0">
                  <a:alpha val="6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6350">
            <a:solidFill>
              <a:srgbClr val="7FE3B0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376150" y="2247900"/>
            <a:ext cx="5238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68" kern="0" dirty="0">
                <a:solidFill>
                  <a:srgbClr val="7F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76150" y="2730500"/>
            <a:ext cx="49053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LEO from debris cascades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sustainability </a:t>
            </a:r>
            <a:pPr algn="l" indent="0" marL="0">
              <a:lnSpc>
                <a:spcPct val="132353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orbital environment is a natural resource shared with every future Indian mission. The system itself runs locally on one laptop.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20" y="9309100"/>
            <a:ext cx="1827276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6E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Viksit Bharat 2047 will be a spacefaring economy. </a:t>
            </a:r>
            <a:pPr algn="ctr" indent="0" marL="0">
              <a:buNone/>
            </a:pPr>
            <a:r>
              <a:rPr lang="en-US" sz="1950" dirty="0">
                <a:solidFill>
                  <a:srgbClr val="56D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prototype shows a layer it could use </a:t>
            </a:r>
            <a:pPr algn="ctr" indent="0" marL="0">
              <a:buNone/>
            </a:pPr>
            <a:r>
              <a:rPr lang="en-US" sz="1950" dirty="0">
                <a:solidFill>
                  <a:srgbClr val="E6E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built now, on hardware India already has.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66750"/>
            <a:ext cx="273364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SCALABILITY &amp;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10 /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04140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spc="-76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laptop to a national capability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70384" y="2355850"/>
            <a:ext cx="15947132" cy="19050"/>
          </a:xfrm>
          <a:prstGeom prst="rect">
            <a:avLst/>
          </a:prstGeom>
          <a:gradFill rotWithShape="1">
            <a:gsLst>
              <a:gs pos="0">
                <a:srgbClr val="56D8D0">
                  <a:alpha val="100000"/>
                </a:srgbClr>
              </a:gs>
              <a:gs pos="100000">
                <a:srgbClr val="F5B544">
                  <a:alpha val="10000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38200" y="2035175"/>
            <a:ext cx="152400" cy="152400"/>
          </a:xfrm>
          <a:prstGeom prst="ellipse">
            <a:avLst/>
          </a:prstGeom>
          <a:solidFill>
            <a:srgbClr val="56D8D0"/>
          </a:solidFill>
          <a:ln/>
          <a:effectLst>
            <a:outerShdw sx="100000" sy="100000" kx="0" ky="0" algn="bl" rotWithShape="0" blurRad="101600" dist="50800" dir="16200000">
              <a:srgbClr val="56D8D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04900" y="2032000"/>
            <a:ext cx="70028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38200" y="2362200"/>
            <a:ext cx="437959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673350"/>
            <a:ext cx="4100894" cy="1080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64"/>
              </a:lnSpc>
              <a:buNone/>
            </a:pPr>
            <a:r>
              <a:rPr lang="en-US" sz="1425" dirty="0">
                <a:solidFill>
                  <a:srgbClr val="C0C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end-to-end prototype: ingest → screen → analytic Pc indicator → local-AI briefs → human decision → audit → alerts. Tested, demo-ready; private repository.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5048250" y="2035175"/>
            <a:ext cx="152400" cy="152400"/>
          </a:xfrm>
          <a:prstGeom prst="ellipse">
            <a:avLst/>
          </a:prstGeom>
          <a:solidFill>
            <a:srgbClr val="8EA0BD"/>
          </a:solidFill>
          <a:ln/>
          <a:effectLst>
            <a:outerShdw sx="100000" sy="100000" kx="0" ky="0" algn="bl" rotWithShape="0" blurRad="101600" dist="50800" dir="16200000">
              <a:srgbClr val="8EA0BD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4950" y="2032000"/>
            <a:ext cx="15691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A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0–6 MO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048250" y="2362200"/>
            <a:ext cx="437959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8250" y="2673350"/>
            <a:ext cx="4100894" cy="1080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64"/>
              </a:lnSpc>
              <a:buNone/>
            </a:pPr>
            <a:r>
              <a:rPr lang="en-US" sz="1425" dirty="0">
                <a:solidFill>
                  <a:srgbClr val="C0C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catalog (30,000+ objects) · standard CDM ingestion · realistic per-object covariance · enterprise identity + MFA · one-command installer.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258300" y="2035175"/>
            <a:ext cx="152400" cy="152400"/>
          </a:xfrm>
          <a:prstGeom prst="ellipse">
            <a:avLst/>
          </a:prstGeom>
          <a:solidFill>
            <a:srgbClr val="8EA0BD"/>
          </a:solidFill>
          <a:ln/>
          <a:effectLst>
            <a:outerShdw sx="100000" sy="100000" kx="0" ky="0" algn="bl" rotWithShape="0" blurRad="101600" dist="50800" dir="16200000">
              <a:srgbClr val="8EA0BD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25000" y="2032000"/>
            <a:ext cx="166723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A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6–18 MO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258300" y="2362200"/>
            <a:ext cx="437959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58300" y="2673350"/>
            <a:ext cx="4100894" cy="1080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64"/>
              </a:lnSpc>
              <a:buNone/>
            </a:pPr>
            <a:r>
              <a:rPr lang="en-US" sz="1425" dirty="0">
                <a:solidFill>
                  <a:srgbClr val="C0C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/ indigenous data and sensor fusion, if access is granted · governed evaluation of model adaptation · maneuver-planning research.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3468350" y="2035175"/>
            <a:ext cx="152400" cy="152400"/>
          </a:xfrm>
          <a:prstGeom prst="ellipse">
            <a:avLst/>
          </a:prstGeom>
          <a:solidFill>
            <a:srgbClr val="F5B544"/>
          </a:solidFill>
          <a:ln/>
          <a:effectLst>
            <a:outerShdw sx="100000" sy="100000" kx="0" ky="0" algn="bl" rotWithShape="0" blurRad="101600" dist="50800" dir="16200000">
              <a:srgbClr val="F5B544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735050" y="2032000"/>
            <a:ext cx="15691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18+ MO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3468350" y="2362200"/>
            <a:ext cx="437959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nationally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468350" y="2673350"/>
            <a:ext cx="4100894" cy="1080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64"/>
              </a:lnSpc>
              <a:buNone/>
            </a:pPr>
            <a:r>
              <a:rPr lang="en-US" sz="1425" dirty="0">
                <a:solidFill>
                  <a:srgbClr val="C0C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national SSA ops-cell deployment: SQLite → PostgreSQL, horizontal screening workers — planned, not yet built. Partner data-sharing, if agreed.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7620" y="9398000"/>
            <a:ext cx="1827276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paths are planned, not yet built or measured — and the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governance model stays unchanged.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66750"/>
            <a:ext cx="191214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COLLABORATIONS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4356061" y="669925"/>
            <a:ext cx="34031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ANTARIKSHA-RAKSHA · 11 /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041400"/>
            <a:ext cx="18272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4200" b="1" spc="-76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open data, designed for India's space ecosystem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8200" y="1917700"/>
            <a:ext cx="8773120" cy="7702550"/>
          </a:xfrm>
          <a:prstGeom prst="roundRect">
            <a:avLst>
              <a:gd name="adj" fmla="val 1979"/>
            </a:avLst>
          </a:prstGeom>
          <a:gradFill rotWithShape="1">
            <a:gsLst>
              <a:gs pos="0">
                <a:srgbClr val="56D8D0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6350">
            <a:solidFill>
              <a:srgbClr val="56D8D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9350" y="2228850"/>
            <a:ext cx="613470" cy="203200"/>
          </a:xfrm>
          <a:prstGeom prst="roundRect">
            <a:avLst>
              <a:gd name="adj" fmla="val 23438"/>
            </a:avLst>
          </a:prstGeom>
          <a:solidFill>
            <a:srgbClr val="56D8D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4600" y="2266950"/>
            <a:ext cx="49917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A0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9350" y="2603500"/>
            <a:ext cx="89659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CelesTrak / NORAD orbital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9350" y="2965450"/>
            <a:ext cx="8395345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is demonstrated on open sources </a:t>
            </a:r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partner integration exists today</a:t>
            </a:r>
            <a:pPr algn="l" indent="0" marL="0">
              <a:lnSpc>
                <a:spcPct val="130588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architecture does not depend on one to run.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9350" y="8205292"/>
            <a:ext cx="815082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49350" y="8510092"/>
            <a:ext cx="191509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09"/>
              </a:lnSpc>
              <a:buNone/>
            </a:pPr>
            <a:r>
              <a:rPr lang="en-US" sz="975" spc="137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ACADEMIA (PROPOSED)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49350" y="8780661"/>
            <a:ext cx="8395345" cy="566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91"/>
              </a:lnSpc>
              <a:buNone/>
            </a:pPr>
            <a:r>
              <a:rPr lang="en-US" sz="1425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IISc / IIT astrodynamics groups for covariance realism and maneuver optimization — a possible teaching platform for India's future SSA workforce.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820870" y="1917700"/>
            <a:ext cx="7628831" cy="3509764"/>
          </a:xfrm>
          <a:prstGeom prst="roundRect">
            <a:avLst>
              <a:gd name="adj" fmla="val 4342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112971" y="2171700"/>
            <a:ext cx="774909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ISRO · IS4OM / NETRA </a:t>
            </a:r>
            <a:pPr algn="l" indent="0" marL="0">
              <a:buNone/>
            </a:pPr>
            <a:r>
              <a:rPr lang="en-US" sz="975" spc="137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(PROPOSED)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112971" y="2444750"/>
            <a:ext cx="7255969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94"/>
              </a:lnSpc>
              <a:buNone/>
            </a:pPr>
            <a:r>
              <a:rPr lang="en-US" sz="1500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complementary operator-facing decision console that could consume IS4OM / NETRA data in a future deployment; no integration exists today.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820870" y="5637014"/>
            <a:ext cx="3709591" cy="3983236"/>
          </a:xfrm>
          <a:prstGeom prst="roundRect">
            <a:avLst>
              <a:gd name="adj" fmla="val 4108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93921" y="5891014"/>
            <a:ext cx="34798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DRDO </a:t>
            </a:r>
            <a:pPr algn="l" indent="0" marL="0">
              <a:buNone/>
            </a:pPr>
            <a:r>
              <a:rPr lang="en-US" sz="975" spc="137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(PROPOSED)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093921" y="6164064"/>
            <a:ext cx="3258395" cy="809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methodology review for asset-protection studies — no engagement exists.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3740011" y="5637014"/>
            <a:ext cx="3709690" cy="3983236"/>
          </a:xfrm>
          <a:prstGeom prst="roundRect">
            <a:avLst>
              <a:gd name="adj" fmla="val 4108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013061" y="5891014"/>
            <a:ext cx="347994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IN-SPACe &amp; PRIVATE </a:t>
            </a:r>
            <a:pPr algn="l" indent="0" marL="0">
              <a:buNone/>
            </a:pPr>
            <a:r>
              <a:rPr lang="en-US" sz="975" spc="137" kern="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(PROPOSED)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4013061" y="6164064"/>
            <a:ext cx="3258498" cy="1322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screening support for Indian NGEs; commercial SSA sensor providers (e.g. Digantara) as potential data partners. Every new constellation is a potential user.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1830">
                  <a:alpha val="100000"/>
                </a:srgbClr>
              </a:gs>
              <a:gs pos="44000">
                <a:srgbClr val="060B18">
                  <a:alpha val="100000"/>
                </a:srgbClr>
              </a:gs>
              <a:gs pos="100000">
                <a:srgbClr val="04060D">
                  <a:alpha val="100000"/>
                </a:srgbClr>
              </a:gs>
            </a:gsLst>
            <a:path path="circle">
              <a:fillToRect l="78000" t="20000" r="22000" b="80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0" y="1524000"/>
            <a:ext cx="7239000" cy="723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25000">
                <a:srgbClr val="04060D">
                  <a:alpha val="100000"/>
                </a:srgbClr>
              </a:gs>
              <a:gs pos="60000">
                <a:srgbClr val="04060D">
                  <a:alpha val="50000"/>
                </a:srgbClr>
              </a:gs>
              <a:gs pos="100000">
                <a:srgbClr val="04060D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57250" y="2861171"/>
            <a:ext cx="1100137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◤ THE ASK · 12 / 12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3273921"/>
            <a:ext cx="10301288" cy="1266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93"/>
              </a:lnSpc>
              <a:buNone/>
            </a:pPr>
            <a:r>
              <a:rPr lang="en-US" sz="4650" b="1" spc="-93" kern="0" dirty="0">
                <a:solidFill>
                  <a:srgbClr val="EE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Space-safety decisions deserve tools that can be run locally and inspected.</a:t>
            </a:r>
            <a:endParaRPr lang="en-US" sz="4650" dirty="0"/>
          </a:p>
        </p:txBody>
      </p:sp>
      <p:sp>
        <p:nvSpPr>
          <p:cNvPr id="8" name="Text 5"/>
          <p:cNvSpPr/>
          <p:nvPr/>
        </p:nvSpPr>
        <p:spPr>
          <a:xfrm>
            <a:off x="857250" y="4749899"/>
            <a:ext cx="9810750" cy="105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15"/>
              </a:lnSpc>
              <a:buNone/>
            </a:pPr>
            <a:r>
              <a:rPr lang="en-US" sz="1725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ANTARIKSHA-RAKSHA is a working prototype that </a:t>
            </a:r>
            <a:pPr algn="l" indent="0" marL="0">
              <a:lnSpc>
                <a:spcPct val="137115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runs </a:t>
            </a:r>
            <a:pPr algn="l" indent="0" marL="0">
              <a:lnSpc>
                <a:spcPct val="137115"/>
              </a:lnSpc>
              <a:buNone/>
            </a:pPr>
            <a:r>
              <a:rPr lang="en-US" sz="1725" dirty="0">
                <a:solidFill>
                  <a:srgbClr val="C4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SGP4 orbital mechanics, a simplified analytic Pc indicator, transparent local AI and a human decision at every step, on one laptop, with zero software license cost.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857250" y="6130429"/>
            <a:ext cx="2963069" cy="476250"/>
          </a:xfrm>
          <a:prstGeom prst="roundRect">
            <a:avLst>
              <a:gd name="adj" fmla="val 20000"/>
            </a:avLst>
          </a:prstGeom>
          <a:solidFill>
            <a:srgbClr val="56D8D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66800" y="6263779"/>
            <a:ext cx="26328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&amp; pilot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953669" y="6130429"/>
            <a:ext cx="1871266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169569" y="6270129"/>
            <a:ext cx="1515666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958285" y="6130429"/>
            <a:ext cx="2795588" cy="47625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74185" y="6270129"/>
            <a:ext cx="244765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data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57250" y="6987679"/>
            <a:ext cx="10001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7250" y="7222629"/>
            <a:ext cx="171001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ANTARIKSHA RAKSHA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45159" y="7222629"/>
            <a:ext cx="245368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E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'protection of space' ·</a:t>
            </a:r>
            <a:endParaRPr lang="en-US" sz="1200" dirty="0"/>
          </a:p>
        </p:txBody>
      </p:sp>
      <p:sp>
        <p:nvSpPr>
          <p:cNvPr id="18" name="Text 15">
            <a:hlinkClick r:id="rId3" tooltip=""/>
          </p:cNvPr>
          <p:cNvSpPr/>
          <p:nvPr/>
        </p:nvSpPr>
        <p:spPr>
          <a:xfrm>
            <a:off x="5147469" y="7222629"/>
            <a:ext cx="58521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submission repository — code available for evaluation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2026-08-11T16:11:20Z</dcterms:created>
  <dcterms:modified xsi:type="dcterms:W3CDTF">2026-08-11T16:11:20Z</dcterms:modified>
</cp:coreProperties>
</file>